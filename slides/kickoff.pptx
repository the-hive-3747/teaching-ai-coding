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screen while people sit down. No talking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second line slowly. The whole talk hangs on it. Make the split clear: our robot was ours, coded by us, typed by us. The mentor robot was the experiment.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for a show of hands: "How many teams have exactly one person who can write Java?" Then: "How many of those people are also the coach?" Let it land. This is the pain the method solves. If you want, say which of us is the one programmer on The Hive.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this as a story, not a list. Be precise about who did what, because coaches will ask: Ben described the architecture on night one and built the TeleOp out over the first two days — the shooter startup sequence, the pulsed feed, the LEDs. The first autonomous was Asim's design, called out at the robot while Ben typed, and from there it was a pair — Asim deciding what to change, Ben typing — plus eight prompts Asim typed himself: tank drive, the strafe fix, the spitting-balls pair, a whole experimental autonomous with three rounds of tuning. The point for the room: the person who understands the robot drives the prompt, whoever's hands are on the keys. Two things make the experiment honest, and say both: Ben CAN write Java, so choosing to describe instead of type was a choice; Asim can't, and made most of the changes anyway. The quotes are verbatim, typos and all. The screenshot is the 'spitting balls out' prompt exactly as typed, with Gemini's answer. If there's time, play docs/video/scrimmage-match3-auto.mp4 from the laptop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it up and let it sit for a few seconds. Then: the person who understands the robot drives the prompt, whoever's hands are on the keys.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that's ours. The right column is from the mentor transcript (docs/verbatim-transcript.md); the left column is yours to fill from your own week — be concrete and be fair to both. The honest comparison is not 'AI was faster': it's WHERE THE BOTTLENECK WAS. On our robot every change went through whoever could type Java. On the mentor robot the bottleneck moved to describing precisely — and that's a skill the mechanical people already had. That's the thing we want every Utah team to hear.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new layers of programming tools were called a crutch by the generation before — in the sources we found there's no named 1954 skeptic, only Backus remembering them, so say 'most', not 'every'. Each layer took over the typing; none took over deciding what to build, testing it, or reading what came out. Brooks said it in 1987. Fowler's honest limit (2025): this layer is non-deterministic — the same prompt doesn't give the same code twice — so reading and testing matter MORE than before, not less. Then tell the fake-gamepad story: Gemini drove our mentors' autonomous through a simulated gamepad because nobody said an autonomous was coming. It worked. A human reading the code caught it. That's the whole slide in one bug. Sources are in docs/research-ai-skills-case.md, slide 1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before they do. These are three of the strongest negative results, including the vendor's own, and all three fit our position. PNAS 2025: about 1,000 high-school students, math, randomized; plain ChatGPT made practice 48% better and the unassisted exam 17% worse; a hints-only tutor 'largely mitigated' the harm. METR 2025: 16 expert open-source maintainers on their own repos, 246 real tasks; with AI they were 19% slower and believed they'd been 20% faster — the group that gains least couldn't even perceive it. Anthropic Jan 2026: their own tool, their own study, vendor-authored and not peer-reviewed, found harm against their own interest — 52 mostly-junior engineers learning a new library, AI group 50% vs 67% on comprehension, only about 2 minutes faster; 'delegation' hurt, asking conceptual questions didn't. What separates the harm studies from the no-harm studies is HOW the tool was used — delegate and auto-accept vs ask, read the diff, explain it. That is our rule on the next slide. If someone brings up MIT 'Your Brain on ChatGPT': essays, 18 people, criticized stats — don't lean on it either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onboarding checklist, verbatim. Read the whole quote out loud; it is the skeptics' own position, already in our program. Before a Hive programmer is cleared, the mentor checks off, in order, 14 of the 15 chapters of Learn Java for FTC (section 9, analog sensors, is skipped), each read-and-code plus the exercise, typed into our own simulator with a real test harness — then 40 FTCSIM exercises. Then, and only then, AI as a season tool. Say 'we think' on the link between this and the studies: nobody has tested the sequence; it is our reading of them. College Board already requires the same thing for AP CS: students must be prepared to explain their code in detail. And at FTC judging the students answer — an adult may attend but may not interact or coach — so a team that can't explain its code loses the Control Award whether or not AI wrote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Podium — it's twenty minutes from here, it's an INTERN posting, and it names the tools. All four postings were verified live on Oct 3, 2026; re-open the links the morning of the talk, postings expire. Podium's senior posting uses our exact phrase: a 'genuine force multiplier, not a novelty.' Affirm's line is the sharpest — the job is now 'the reviewer's seat' (note: that posting is for a remote role based in Poland; Affirm is a US company). 1Password is the whole talk in one employer: use it daily, and interview without it. The pay numbers are vendor data and uncontrolled correlation — say 'job ads advertise', never 'you will earn' — and NEVER say 'Lightcast 56%'; that number has no source. Shopify is quoted via press, not the memo itself. Don't use Microsoft's '66% won't hire without AI skills' — 2024, self-reported, by the company selling Copilot.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Concede the first number completely — it's payroll data, the best in the room: software developers aged 22–25 are down nearly 20% since late 2022 (Stanford 'Canaries', Nov 2025; the gap widened to 19% by Aug 2026), and the decline is where AI AUTOMATES work rather than augments it. Be precise about what it does NOT show: it does not show that having AI skills protects any individual kid. That half is our argument, so say 'we think'. The NACE numbers are a small self-reported employer survey (185 employers, sponsored by Jobscan) — lead with 16.5%, the harder number. The Kent Beck tweet is April 18, 2023, verbatim. This-season loss is an argument from one adult mentor experiment plus studies of professional developers, not evidence on students — say that too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Coaches worry about this. Say it plainly: you still have to understand what a motor is, which way it spins, what a state machine does. You just don't have to type the Java. Be honest that this hasn't been run with students yet — the mentors ran it on the mentor robot, and we're the first team trying to turn it into something students do. That's why there's a Reader role later. Drop this slide if the demo runs 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loop is the whole workshop. Every checkpoint in the guide is one trip around it. The skill you build is DESCRIBE and REFINE: being specific about names, directions, timing and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out that 'test' comes after every step. The single biggest mistake is asking for everything at once. Small steps mean when something breaks, you know which description caused it. There's a guide page and a video per checkpoint — show the repo URL.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out. Names: exactly as in the Robot Controller config — 'front_left_drive', not 'the front left motor'. If Gemini has to guess any of the five, it will, and the guess is where the bug comes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vague one and ask the room what Gemini would have to guess. Then the specific one: everything it would have guessed is now stated. The third one is verbatim from the Sep 19 session — no code words at all, it describes a sequence — and that's why the fix was a few lines in Intake.java. This is the slide for the mechanical kids in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Android Studio. One of you drives the laptop, one narrates, one handles the robot. 1) Show the Gemini panel with the robot description already there. 2) Type the mecanum drive prompt live and send it; narrate what you asked for while it generates. 3) Show the generated OpMode — point at the hardware names, they match the config. 4) Build, deploy, drive. 5) Type the real refinement: "hey, in the latest push, holding both joysticks left made the robot strafe right, and vice versa. please fix" — deploy, drive again. 6) Stop there: "That's the whole method. Everything else is more trips around the loop." If it breaks, that's the method too: say what you see, paste the error into the panel, let the room watch the refine step. Don't apologize — a live fix is a better demo than a clean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italic rows and the fake-gamepad row happened on the mentor robot. The compile-error and over-30-seconds rows are the ones you'll hit first that the mentors got lucky on — their delayed auto adds up to 30.7 s on paper and the field timer let it finish. The pattern: when it's wrong, the description was missing something. Say the missing thing. The fake-gamepad row is the one Ben cares most about: the auto worked, but it was tied to the TeleOp button map because nobody said an auto was coming.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Reader role is the answer to 'aren't they just cheating.' If a student can explain what the state machine does and why the timings are what they are, they learned it. Tell the room which of these roles each of you would take on The Hive. The Describer on the mentor robot was Asim, the mechanical mentor — he can't write Java, and he made most of the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hardware list is the one thing to do BEFORE opening Gemini. For anyone installing tonight: during the first Gradle sync, Android Studio pops up three things. Accept the Daemon JVM toolchain migration. DECLINE the Gradle/AGP upgrade — it breaks the FTC project. On Windows, accept the Defender exclusion or builds crawl. Checkpoint 0 in the guide has all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Q&amp;A slot, so say where people can find you afterward.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bg1"/>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pic>
        <p:nvPicPr>
          <p:cNvPr id="2" name="Image 0" descr="/home/claude/teaching-ai-coding/docs/images/hive-mark.png">    </p:cNvPr>
          <p:cNvPicPr>
            <a:picLocks noChangeAspect="1"/>
          </p:cNvPicPr>
          <p:nvPr/>
        </p:nvPicPr>
        <p:blipFill>
          <a:blip r:embed="rId1"/>
          <a:stretch>
            <a:fillRect/>
          </a:stretch>
        </p:blipFill>
        <p:spPr>
          <a:xfrm>
            <a:off x="457200" y="6263640"/>
            <a:ext cx="384048" cy="393192"/>
          </a:xfrm>
          <a:prstGeom prst="rect">
            <a:avLst/>
          </a:prstGeom>
        </p:spPr>
      </p:pic>
      <p:sp>
        <p:nvSpPr>
          <p:cNvPr id="3" name="Text 0"/>
          <p:cNvSpPr/>
          <p:nvPr/>
        </p:nvSpPr>
        <p:spPr>
          <a:xfrm>
            <a:off x="914400" y="6263640"/>
            <a:ext cx="8229600" cy="393192"/>
          </a:xfrm>
          <a:prstGeom prst="rect">
            <a:avLst/>
          </a:prstGeom>
          <a:noFill/>
          <a:ln/>
        </p:spPr>
        <p:txBody>
          <a:bodyPr wrap="square" lIns="0" tIns="0" rIns="0" bIns="0" rtlCol="0" anchor="ctr"/>
          <a:lstStyle/>
          <a:p>
            <a:pPr indent="0" marL="0">
              <a:buNone/>
            </a:pPr>
            <a:r>
              <a:rPr lang="en-US" sz="1000" dirty="0">
                <a:solidFill>
                  <a:schemeClr val="tx2"/>
                </a:solidFill>
              </a:rPr>
              <a:t>The Hive · FTC 3747 · github.com/The-Hive-3747/Teaching-AI-Coding</a:t>
            </a:r>
            <a:endParaRPr lang="en-US" sz="1000" dirty="0"/>
          </a:p>
        </p:txBody>
      </p:sp>
      <p:sp>
        <p:nvSpPr>
          <p:cNvPr id="4" name="Text 1"/>
          <p:cNvSpPr/>
          <p:nvPr>
            <p:ph idx="102" type="title" hasCustomPrompt="1"/>
          </p:nvPr>
        </p:nvSpPr>
        <p:spPr>
          <a:xfrm>
            <a:off x="457200" y="365760"/>
            <a:ext cx="11274552" cy="822960"/>
          </a:xfrm>
          <a:prstGeom prst="rect">
            <a:avLst/>
          </a:prstGeom>
          <a:noFill/>
          <a:ln/>
        </p:spPr>
        <p:txBody>
          <a:bodyPr wrap="square" rtlCol="0"/>
          <a:lstStyle>
            <a:lvl1pPr algn="l" indent="0" marL="0">
              <a:buNone/>
              <a:defRPr lang="en-US" sz="3200" b="1" dirty="0">
                <a:solidFill>
                  <a:schemeClr val="accent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robot photo" descr="/home/claude/teaching-ai-coding/docs/images/match-closeup-green-leds.jpg">    </p:cNvPr>
          <p:cNvPicPr>
            <a:picLocks noChangeAspect="1"/>
          </p:cNvPicPr>
          <p:nvPr/>
        </p:nvPicPr>
        <p:blipFill>
          <a:blip r:embed="rId1">
            <a:alphaModFix amt="85000"/>
          </a:blip>
          <a:srcRect l="0" r="0" t="0" b="0"/>
          <a:stretch/>
        </p:blipFill>
        <p:spPr>
          <a:xfrm>
            <a:off x="6400800" y="0"/>
            <a:ext cx="5788152" cy="6858000"/>
          </a:xfrm>
          <a:prstGeom prst="rect">
            <a:avLst/>
          </a:prstGeom>
        </p:spPr>
      </p:pic>
      <p:pic>
        <p:nvPicPr>
          <p:cNvPr id="3" name="logo mark" descr="/home/claude/teaching-ai-coding/docs/images/hive-mark.png">    </p:cNvPr>
          <p:cNvPicPr>
            <a:picLocks noChangeAspect="1"/>
          </p:cNvPicPr>
          <p:nvPr/>
        </p:nvPicPr>
        <p:blipFill>
          <a:blip r:embed="rId2"/>
          <a:stretch>
            <a:fillRect/>
          </a:stretch>
        </p:blipFill>
        <p:spPr>
          <a:xfrm>
            <a:off x="640080" y="548640"/>
            <a:ext cx="1005840" cy="1033272"/>
          </a:xfrm>
          <a:prstGeom prst="rect">
            <a:avLst/>
          </a:prstGeom>
        </p:spPr>
      </p:pic>
      <p:sp>
        <p:nvSpPr>
          <p:cNvPr id="4" name="title"/>
          <p:cNvSpPr txBox="1"/>
          <p:nvPr/>
        </p:nvSpPr>
        <p:spPr>
          <a:xfrm>
            <a:off x="640080" y="1828800"/>
            <a:ext cx="5669280" cy="2651760"/>
          </a:xfrm>
          <a:prstGeom prst="rect">
            <a:avLst/>
          </a:prstGeom>
          <a:noFill/>
          <a:ln/>
        </p:spPr>
        <p:txBody>
          <a:bodyPr wrap="square" lIns="0" tIns="0" rIns="0" bIns="0" rtlCol="0" anchor="t"/>
          <a:lstStyle/>
          <a:p>
            <a:pPr indent="0" marL="0">
              <a:buNone/>
            </a:pPr>
            <a:r>
              <a:rPr lang="en-US" sz="4400" b="1" dirty="0">
                <a:solidFill>
                  <a:schemeClr val="accent1"/>
                </a:solidFill>
              </a:rPr>
              <a:t>Describe your robot.</a:t>
            </a:r>
            <a:endParaRPr lang="en-US" sz="4400" dirty="0"/>
          </a:p>
          <a:p>
            <a:pPr indent="0" marL="0">
              <a:buNone/>
            </a:pPr>
            <a:r>
              <a:rPr lang="en-US" sz="4400" b="1" dirty="0">
                <a:solidFill>
                  <a:schemeClr val="accent1"/>
                </a:solidFill>
              </a:rPr>
              <a:t>Let AI write the code.</a:t>
            </a:r>
            <a:endParaRPr lang="en-US" sz="4400" dirty="0"/>
          </a:p>
          <a:p>
            <a:pPr indent="0" marL="0">
              <a:buNone/>
            </a:pPr>
            <a:r>
              <a:rPr lang="en-US" sz="4400" b="1" dirty="0">
                <a:solidFill>
                  <a:schemeClr val="accent1"/>
                </a:solidFill>
              </a:rPr>
              <a:t>Test. Repeat.</a:t>
            </a:r>
            <a:endParaRPr lang="en-US" sz="4400" dirty="0"/>
          </a:p>
        </p:txBody>
      </p:sp>
      <p:sp>
        <p:nvSpPr>
          <p:cNvPr id="5" name="subtitle"/>
          <p:cNvSpPr txBox="1"/>
          <p:nvPr/>
        </p:nvSpPr>
        <p:spPr>
          <a:xfrm>
            <a:off x="640080" y="4572000"/>
            <a:ext cx="5486400" cy="1188720"/>
          </a:xfrm>
          <a:prstGeom prst="rect">
            <a:avLst/>
          </a:prstGeom>
          <a:noFill/>
          <a:ln/>
        </p:spPr>
        <p:txBody>
          <a:bodyPr wrap="square" lIns="0" tIns="0" rIns="0" bIns="0" rtlCol="0" anchor="ctr"/>
          <a:lstStyle/>
          <a:p>
            <a:pPr indent="0" marL="0">
              <a:buNone/>
            </a:pPr>
            <a:r>
              <a:rPr lang="en-US" sz="1600" dirty="0">
                <a:solidFill>
                  <a:schemeClr val="tx1"/>
                </a:solidFill>
              </a:rPr>
              <a:t>What The Hive learned watching our mentors code a robot in one week with Gemini in Android Studio — and how your team can do it too.</a:t>
            </a:r>
            <a:endParaRPr lang="en-US" sz="1600" dirty="0"/>
          </a:p>
        </p:txBody>
      </p:sp>
      <p:sp>
        <p:nvSpPr>
          <p:cNvPr id="6" name="footer"/>
          <p:cNvSpPr txBox="1"/>
          <p:nvPr/>
        </p:nvSpPr>
        <p:spPr>
          <a:xfrm>
            <a:off x="640080" y="5943600"/>
            <a:ext cx="7315200" cy="365760"/>
          </a:xfrm>
          <a:prstGeom prst="rect">
            <a:avLst/>
          </a:prstGeom>
          <a:noFill/>
          <a:ln/>
        </p:spPr>
        <p:txBody>
          <a:bodyPr wrap="square" lIns="0" tIns="0" rIns="0" bIns="0" rtlCol="0" anchor="ctr"/>
          <a:lstStyle/>
          <a:p>
            <a:pPr indent="0" marL="0">
              <a:buNone/>
            </a:pPr>
            <a:r>
              <a:rPr lang="en-US" sz="1400" dirty="0">
                <a:solidFill>
                  <a:schemeClr val="tx2"/>
                </a:solidFill>
              </a:rPr>
              <a:t>The Hive · FTC 3747 · Beehive Academy</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Who we are, and what this is</a:t>
            </a:r>
            <a:endParaRPr lang="en-US" sz="3200" dirty="0"/>
          </a:p>
        </p:txBody>
      </p:sp>
      <p:sp>
        <p:nvSpPr>
          <p:cNvPr id="4" name="hex 1"/>
          <p:cNvSpPr/>
          <p:nvPr/>
        </p:nvSpPr>
        <p:spPr>
          <a:xfrm>
            <a:off x="457200" y="1554480"/>
            <a:ext cx="731520" cy="731520"/>
          </a:xfrm>
          <a:prstGeom prst="hexagon">
            <a:avLst/>
          </a:prstGeom>
          <a:solidFill>
            <a:schemeClr val="bg1"/>
          </a:solidFill>
          <a:ln w="25400">
            <a:solidFill>
              <a:schemeClr val="accent1"/>
            </a:solidFill>
            <a:prstDash val="solid"/>
          </a:ln>
        </p:spPr>
      </p:sp>
      <p:sp>
        <p:nvSpPr>
          <p:cNvPr id="5" name="hex label 1"/>
          <p:cNvSpPr txBox="1"/>
          <p:nvPr/>
        </p:nvSpPr>
        <p:spPr>
          <a:xfrm>
            <a:off x="457200" y="1554480"/>
            <a:ext cx="731520" cy="731520"/>
          </a:xfrm>
          <a:prstGeom prst="rect">
            <a:avLst/>
          </a:prstGeom>
          <a:noFill/>
          <a:ln/>
        </p:spPr>
        <p:txBody>
          <a:bodyPr wrap="square" lIns="0" tIns="0" rIns="0" bIns="0" rtlCol="0" anchor="ctr"/>
          <a:lstStyle/>
          <a:p>
            <a:pPr algn="ctr" indent="0" marL="0">
              <a:buNone/>
            </a:pPr>
            <a:r>
              <a:rPr lang="en-US" sz="1800" b="1" dirty="0">
                <a:solidFill>
                  <a:schemeClr val="accent1"/>
                </a:solidFill>
              </a:rPr>
              <a:t>1</a:t>
            </a:r>
            <a:endParaRPr lang="en-US" sz="1800" dirty="0"/>
          </a:p>
        </p:txBody>
      </p:sp>
      <p:sp>
        <p:nvSpPr>
          <p:cNvPr id="6" name="line 1"/>
          <p:cNvSpPr txBox="1"/>
          <p:nvPr/>
        </p:nvSpPr>
        <p:spPr>
          <a:xfrm>
            <a:off x="1463040" y="1554480"/>
            <a:ext cx="6309360" cy="1097280"/>
          </a:xfrm>
          <a:prstGeom prst="rect">
            <a:avLst/>
          </a:prstGeom>
          <a:noFill/>
          <a:ln/>
        </p:spPr>
        <p:txBody>
          <a:bodyPr wrap="square" lIns="0" tIns="0" rIns="0" bIns="0" rtlCol="0" anchor="ctr"/>
          <a:lstStyle/>
          <a:p>
            <a:pPr indent="0" marL="0">
              <a:buNone/>
            </a:pPr>
            <a:r>
              <a:rPr lang="en-US" sz="1800" dirty="0">
                <a:solidFill>
                  <a:schemeClr val="tx1"/>
                </a:solidFill>
              </a:rPr>
              <a:t>We're The Hive, FTC 3747. At Robot in One Week we built and coded our robot by hand — the normal way.</a:t>
            </a:r>
            <a:endParaRPr lang="en-US" sz="1800" dirty="0"/>
          </a:p>
        </p:txBody>
      </p:sp>
      <p:sp>
        <p:nvSpPr>
          <p:cNvPr id="7" name="hex 2"/>
          <p:cNvSpPr/>
          <p:nvPr/>
        </p:nvSpPr>
        <p:spPr>
          <a:xfrm>
            <a:off x="457200" y="2880360"/>
            <a:ext cx="731520" cy="731520"/>
          </a:xfrm>
          <a:prstGeom prst="hexagon">
            <a:avLst/>
          </a:prstGeom>
          <a:solidFill>
            <a:schemeClr val="bg1"/>
          </a:solidFill>
          <a:ln w="25400">
            <a:solidFill>
              <a:schemeClr val="accent1"/>
            </a:solidFill>
            <a:prstDash val="solid"/>
          </a:ln>
        </p:spPr>
      </p:sp>
      <p:sp>
        <p:nvSpPr>
          <p:cNvPr id="8" name="hex label 2"/>
          <p:cNvSpPr txBox="1"/>
          <p:nvPr/>
        </p:nvSpPr>
        <p:spPr>
          <a:xfrm>
            <a:off x="457200" y="2880360"/>
            <a:ext cx="731520" cy="731520"/>
          </a:xfrm>
          <a:prstGeom prst="rect">
            <a:avLst/>
          </a:prstGeom>
          <a:noFill/>
          <a:ln/>
        </p:spPr>
        <p:txBody>
          <a:bodyPr wrap="square" lIns="0" tIns="0" rIns="0" bIns="0" rtlCol="0" anchor="ctr"/>
          <a:lstStyle/>
          <a:p>
            <a:pPr algn="ctr" indent="0" marL="0">
              <a:buNone/>
            </a:pPr>
            <a:r>
              <a:rPr lang="en-US" sz="1800" b="1" dirty="0">
                <a:solidFill>
                  <a:schemeClr val="accent1"/>
                </a:solidFill>
              </a:rPr>
              <a:t>2</a:t>
            </a:r>
            <a:endParaRPr lang="en-US" sz="1800" dirty="0"/>
          </a:p>
        </p:txBody>
      </p:sp>
      <p:sp>
        <p:nvSpPr>
          <p:cNvPr id="9" name="line 2"/>
          <p:cNvSpPr txBox="1"/>
          <p:nvPr/>
        </p:nvSpPr>
        <p:spPr>
          <a:xfrm>
            <a:off x="1463040" y="2880360"/>
            <a:ext cx="6309360" cy="1097280"/>
          </a:xfrm>
          <a:prstGeom prst="rect">
            <a:avLst/>
          </a:prstGeom>
          <a:noFill/>
          <a:ln/>
        </p:spPr>
        <p:txBody>
          <a:bodyPr wrap="square" lIns="0" tIns="0" rIns="0" bIns="0" rtlCol="0" anchor="ctr"/>
          <a:lstStyle/>
          <a:p>
            <a:pPr indent="0" marL="0">
              <a:buNone/>
            </a:pPr>
            <a:r>
              <a:rPr lang="en-US" sz="1800" dirty="0">
                <a:solidFill>
                  <a:schemeClr val="tx1"/>
                </a:solidFill>
              </a:rPr>
              <a:t>Our mentors had their own robot for the mentor competition. They ran an experiment on it: no hand-written Java. Everything described to Gemini.</a:t>
            </a:r>
            <a:endParaRPr lang="en-US" sz="1800" dirty="0"/>
          </a:p>
        </p:txBody>
      </p:sp>
      <p:sp>
        <p:nvSpPr>
          <p:cNvPr id="10" name="hex 3"/>
          <p:cNvSpPr/>
          <p:nvPr/>
        </p:nvSpPr>
        <p:spPr>
          <a:xfrm>
            <a:off x="457200" y="4206240"/>
            <a:ext cx="731520" cy="731520"/>
          </a:xfrm>
          <a:prstGeom prst="hexagon">
            <a:avLst/>
          </a:prstGeom>
          <a:solidFill>
            <a:schemeClr val="bg1"/>
          </a:solidFill>
          <a:ln w="25400">
            <a:solidFill>
              <a:schemeClr val="accent1"/>
            </a:solidFill>
            <a:prstDash val="solid"/>
          </a:ln>
        </p:spPr>
      </p:sp>
      <p:sp>
        <p:nvSpPr>
          <p:cNvPr id="11" name="hex label 3"/>
          <p:cNvSpPr txBox="1"/>
          <p:nvPr/>
        </p:nvSpPr>
        <p:spPr>
          <a:xfrm>
            <a:off x="457200" y="4206240"/>
            <a:ext cx="731520" cy="731520"/>
          </a:xfrm>
          <a:prstGeom prst="rect">
            <a:avLst/>
          </a:prstGeom>
          <a:noFill/>
          <a:ln/>
        </p:spPr>
        <p:txBody>
          <a:bodyPr wrap="square" lIns="0" tIns="0" rIns="0" bIns="0" rtlCol="0" anchor="ctr"/>
          <a:lstStyle/>
          <a:p>
            <a:pPr algn="ctr" indent="0" marL="0">
              <a:buNone/>
            </a:pPr>
            <a:r>
              <a:rPr lang="en-US" sz="1800" b="1" dirty="0">
                <a:solidFill>
                  <a:schemeClr val="accent1"/>
                </a:solidFill>
              </a:rPr>
              <a:t>3</a:t>
            </a:r>
            <a:endParaRPr lang="en-US" sz="1800" dirty="0"/>
          </a:p>
        </p:txBody>
      </p:sp>
      <p:sp>
        <p:nvSpPr>
          <p:cNvPr id="12" name="line 3"/>
          <p:cNvSpPr txBox="1"/>
          <p:nvPr/>
        </p:nvSpPr>
        <p:spPr>
          <a:xfrm>
            <a:off x="1463040" y="4206240"/>
            <a:ext cx="6309360" cy="1097280"/>
          </a:xfrm>
          <a:prstGeom prst="rect">
            <a:avLst/>
          </a:prstGeom>
          <a:noFill/>
          <a:ln/>
        </p:spPr>
        <p:txBody>
          <a:bodyPr wrap="square" lIns="0" tIns="0" rIns="0" bIns="0" rtlCol="0" anchor="ctr"/>
          <a:lstStyle/>
          <a:p>
            <a:pPr indent="0" marL="0">
              <a:buNone/>
            </a:pPr>
            <a:r>
              <a:rPr lang="en-US" sz="1800" dirty="0">
                <a:solidFill>
                  <a:schemeClr val="tx1"/>
                </a:solidFill>
              </a:rPr>
              <a:t>We watched both happen. This is what we learned, and what you can use.</a:t>
            </a:r>
            <a:endParaRPr lang="en-US" sz="1800" dirty="0"/>
          </a:p>
        </p:txBody>
      </p:sp>
      <p:pic>
        <p:nvPicPr>
          <p:cNvPr id="13" name="shooting photo" descr="/home/claude/teaching-ai-coding/docs/images/match-shooting-at-goal.jpg">    </p:cNvPr>
          <p:cNvPicPr>
            <a:picLocks noChangeAspect="1"/>
          </p:cNvPicPr>
          <p:nvPr/>
        </p:nvPicPr>
        <p:blipFill>
          <a:blip r:embed="rId1"/>
          <a:stretch>
            <a:fillRect/>
          </a:stretch>
        </p:blipFill>
        <p:spPr>
          <a:xfrm>
            <a:off x="8321040" y="1371600"/>
            <a:ext cx="2377440" cy="4389120"/>
          </a:xfrm>
          <a:prstGeom prst="rect">
            <a:avLst/>
          </a:prstGeom>
        </p:spPr>
      </p:pic>
      <p:sp>
        <p:nvSpPr>
          <p:cNvPr id="14" name="caption"/>
          <p:cNvSpPr txBox="1"/>
          <p:nvPr/>
        </p:nvSpPr>
        <p:spPr>
          <a:xfrm>
            <a:off x="8321040" y="5806440"/>
            <a:ext cx="2926080" cy="274320"/>
          </a:xfrm>
          <a:prstGeom prst="rect">
            <a:avLst/>
          </a:prstGeom>
          <a:noFill/>
          <a:ln/>
        </p:spPr>
        <p:txBody>
          <a:bodyPr wrap="square" lIns="0" tIns="0" rIns="0" bIns="0" rtlCol="0" anchor="ctr"/>
          <a:lstStyle/>
          <a:p>
            <a:pPr indent="0" marL="0">
              <a:buNone/>
            </a:pPr>
            <a:r>
              <a:rPr lang="en-US" sz="1000" dirty="0">
                <a:solidFill>
                  <a:schemeClr val="tx2"/>
                </a:solidFill>
              </a:rPr>
              <a:t>The mentor robot in a match</a:t>
            </a:r>
            <a:endParaRPr lang="en-US" sz="10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The problem every team has</a:t>
            </a:r>
            <a:endParaRPr lang="en-US" sz="3200" dirty="0"/>
          </a:p>
        </p:txBody>
      </p:sp>
      <p:sp>
        <p:nvSpPr>
          <p:cNvPr id="4" name="card 0"/>
          <p:cNvSpPr/>
          <p:nvPr/>
        </p:nvSpPr>
        <p:spPr>
          <a:xfrm>
            <a:off x="457200" y="1554480"/>
            <a:ext cx="3566160" cy="4206240"/>
          </a:xfrm>
          <a:prstGeom prst="roundRect">
            <a:avLst>
              <a:gd name="adj" fmla="val 3077"/>
            </a:avLst>
          </a:prstGeom>
          <a:solidFill>
            <a:schemeClr val="bg2"/>
          </a:solidFill>
          <a:ln w="12700">
            <a:solidFill>
              <a:schemeClr val="bg2"/>
            </a:solidFill>
            <a:prstDash val="solid"/>
          </a:ln>
        </p:spPr>
      </p:sp>
      <p:sp>
        <p:nvSpPr>
          <p:cNvPr id="5" name="hex 1"/>
          <p:cNvSpPr/>
          <p:nvPr/>
        </p:nvSpPr>
        <p:spPr>
          <a:xfrm>
            <a:off x="731520" y="1828800"/>
            <a:ext cx="914400" cy="914400"/>
          </a:xfrm>
          <a:prstGeom prst="hexagon">
            <a:avLst/>
          </a:prstGeom>
          <a:solidFill>
            <a:schemeClr val="bg1"/>
          </a:solidFill>
          <a:ln w="25400">
            <a:solidFill>
              <a:schemeClr val="accent1"/>
            </a:solidFill>
            <a:prstDash val="solid"/>
          </a:ln>
        </p:spPr>
      </p:sp>
      <p:sp>
        <p:nvSpPr>
          <p:cNvPr id="6" name="hex label 1"/>
          <p:cNvSpPr txBox="1"/>
          <p:nvPr/>
        </p:nvSpPr>
        <p:spPr>
          <a:xfrm>
            <a:off x="731520" y="1828800"/>
            <a:ext cx="914400" cy="914400"/>
          </a:xfrm>
          <a:prstGeom prst="rect">
            <a:avLst/>
          </a:prstGeom>
          <a:noFill/>
          <a:ln/>
        </p:spPr>
        <p:txBody>
          <a:bodyPr wrap="square" lIns="0" tIns="0" rIns="0" bIns="0" rtlCol="0" anchor="ctr"/>
          <a:lstStyle/>
          <a:p>
            <a:pPr algn="ctr" indent="0" marL="0">
              <a:buNone/>
            </a:pPr>
            <a:r>
              <a:rPr lang="en-US" sz="2400" b="1" dirty="0">
                <a:solidFill>
                  <a:schemeClr val="accent1"/>
                </a:solidFill>
              </a:rPr>
              <a:t>1</a:t>
            </a:r>
            <a:endParaRPr lang="en-US" sz="2400" dirty="0"/>
          </a:p>
        </p:txBody>
      </p:sp>
      <p:sp>
        <p:nvSpPr>
          <p:cNvPr id="7" name="head 0"/>
          <p:cNvSpPr txBox="1"/>
          <p:nvPr/>
        </p:nvSpPr>
        <p:spPr>
          <a:xfrm>
            <a:off x="731520" y="3017520"/>
            <a:ext cx="3017520" cy="1371600"/>
          </a:xfrm>
          <a:prstGeom prst="rect">
            <a:avLst/>
          </a:prstGeom>
          <a:noFill/>
          <a:ln/>
        </p:spPr>
        <p:txBody>
          <a:bodyPr wrap="square" lIns="0" tIns="0" rIns="0" bIns="0" rtlCol="0" anchor="t"/>
          <a:lstStyle/>
          <a:p>
            <a:pPr indent="0" marL="0">
              <a:buNone/>
            </a:pPr>
            <a:r>
              <a:rPr lang="en-US" sz="2200" b="1" dirty="0">
                <a:solidFill>
                  <a:schemeClr val="tx1"/>
                </a:solidFill>
              </a:rPr>
              <a:t>Most teams have 1 programmer.</a:t>
            </a:r>
            <a:endParaRPr lang="en-US" sz="2200" dirty="0"/>
          </a:p>
        </p:txBody>
      </p:sp>
      <p:sp>
        <p:nvSpPr>
          <p:cNvPr id="8" name="sub 0"/>
          <p:cNvSpPr txBox="1"/>
          <p:nvPr/>
        </p:nvSpPr>
        <p:spPr>
          <a:xfrm>
            <a:off x="731520" y="4480560"/>
            <a:ext cx="3017520" cy="1005840"/>
          </a:xfrm>
          <a:prstGeom prst="rect">
            <a:avLst/>
          </a:prstGeom>
          <a:noFill/>
          <a:ln/>
        </p:spPr>
        <p:txBody>
          <a:bodyPr wrap="square" lIns="0" tIns="0" rIns="0" bIns="0" rtlCol="0" anchor="t"/>
          <a:lstStyle/>
          <a:p>
            <a:pPr indent="0" marL="0">
              <a:buNone/>
            </a:pPr>
            <a:r>
              <a:rPr lang="en-US" sz="1800" dirty="0">
                <a:solidFill>
                  <a:schemeClr val="tx2"/>
                </a:solidFill>
              </a:rPr>
              <a:t>Sometimes 0.</a:t>
            </a:r>
            <a:endParaRPr lang="en-US" sz="1800" dirty="0"/>
          </a:p>
        </p:txBody>
      </p:sp>
      <p:sp>
        <p:nvSpPr>
          <p:cNvPr id="9" name="card 1"/>
          <p:cNvSpPr/>
          <p:nvPr/>
        </p:nvSpPr>
        <p:spPr>
          <a:xfrm>
            <a:off x="4297680" y="1554480"/>
            <a:ext cx="3566160" cy="4206240"/>
          </a:xfrm>
          <a:prstGeom prst="roundRect">
            <a:avLst>
              <a:gd name="adj" fmla="val 3077"/>
            </a:avLst>
          </a:prstGeom>
          <a:solidFill>
            <a:schemeClr val="bg2"/>
          </a:solidFill>
          <a:ln w="12700">
            <a:solidFill>
              <a:schemeClr val="bg2"/>
            </a:solidFill>
            <a:prstDash val="solid"/>
          </a:ln>
        </p:spPr>
      </p:sp>
      <p:sp>
        <p:nvSpPr>
          <p:cNvPr id="10" name="hex ⏳"/>
          <p:cNvSpPr/>
          <p:nvPr/>
        </p:nvSpPr>
        <p:spPr>
          <a:xfrm>
            <a:off x="4572000" y="1828800"/>
            <a:ext cx="914400" cy="914400"/>
          </a:xfrm>
          <a:prstGeom prst="hexagon">
            <a:avLst/>
          </a:prstGeom>
          <a:solidFill>
            <a:schemeClr val="bg1"/>
          </a:solidFill>
          <a:ln w="25400">
            <a:solidFill>
              <a:schemeClr val="accent1"/>
            </a:solidFill>
            <a:prstDash val="solid"/>
          </a:ln>
        </p:spPr>
      </p:sp>
      <p:sp>
        <p:nvSpPr>
          <p:cNvPr id="11" name="hex label ⏳"/>
          <p:cNvSpPr txBox="1"/>
          <p:nvPr/>
        </p:nvSpPr>
        <p:spPr>
          <a:xfrm>
            <a:off x="4572000" y="1828800"/>
            <a:ext cx="914400" cy="914400"/>
          </a:xfrm>
          <a:prstGeom prst="rect">
            <a:avLst/>
          </a:prstGeom>
          <a:noFill/>
          <a:ln/>
        </p:spPr>
        <p:txBody>
          <a:bodyPr wrap="square" lIns="0" tIns="0" rIns="0" bIns="0" rtlCol="0" anchor="ctr"/>
          <a:lstStyle/>
          <a:p>
            <a:pPr algn="ctr" indent="0" marL="0">
              <a:buNone/>
            </a:pPr>
            <a:r>
              <a:rPr lang="en-US" sz="2400" b="1" dirty="0">
                <a:solidFill>
                  <a:schemeClr val="accent1"/>
                </a:solidFill>
              </a:rPr>
              <a:t>⏳</a:t>
            </a:r>
            <a:endParaRPr lang="en-US" sz="2400" dirty="0"/>
          </a:p>
        </p:txBody>
      </p:sp>
      <p:sp>
        <p:nvSpPr>
          <p:cNvPr id="12" name="head 1"/>
          <p:cNvSpPr txBox="1"/>
          <p:nvPr/>
        </p:nvSpPr>
        <p:spPr>
          <a:xfrm>
            <a:off x="4572000" y="3017520"/>
            <a:ext cx="3017520" cy="1371600"/>
          </a:xfrm>
          <a:prstGeom prst="rect">
            <a:avLst/>
          </a:prstGeom>
          <a:noFill/>
          <a:ln/>
        </p:spPr>
        <p:txBody>
          <a:bodyPr wrap="square" lIns="0" tIns="0" rIns="0" bIns="0" rtlCol="0" anchor="t"/>
          <a:lstStyle/>
          <a:p>
            <a:pPr indent="0" marL="0">
              <a:buNone/>
            </a:pPr>
            <a:r>
              <a:rPr lang="en-US" sz="2200" b="1" dirty="0">
                <a:solidFill>
                  <a:schemeClr val="tx1"/>
                </a:solidFill>
              </a:rPr>
              <a:t>Every mechanical change waits</a:t>
            </a:r>
            <a:endParaRPr lang="en-US" sz="2200" dirty="0"/>
          </a:p>
        </p:txBody>
      </p:sp>
      <p:sp>
        <p:nvSpPr>
          <p:cNvPr id="13" name="sub 1"/>
          <p:cNvSpPr txBox="1"/>
          <p:nvPr/>
        </p:nvSpPr>
        <p:spPr>
          <a:xfrm>
            <a:off x="4572000" y="4480560"/>
            <a:ext cx="3017520" cy="1005840"/>
          </a:xfrm>
          <a:prstGeom prst="rect">
            <a:avLst/>
          </a:prstGeom>
          <a:noFill/>
          <a:ln/>
        </p:spPr>
        <p:txBody>
          <a:bodyPr wrap="square" lIns="0" tIns="0" rIns="0" bIns="0" rtlCol="0" anchor="t"/>
          <a:lstStyle/>
          <a:p>
            <a:pPr indent="0" marL="0">
              <a:buNone/>
            </a:pPr>
            <a:r>
              <a:rPr lang="en-US" sz="1800" dirty="0">
                <a:solidFill>
                  <a:schemeClr val="tx2"/>
                </a:solidFill>
              </a:rPr>
              <a:t>on that one person.</a:t>
            </a:r>
            <a:endParaRPr lang="en-US" sz="1800" dirty="0"/>
          </a:p>
        </p:txBody>
      </p:sp>
      <p:sp>
        <p:nvSpPr>
          <p:cNvPr id="14" name="card 2"/>
          <p:cNvSpPr/>
          <p:nvPr/>
        </p:nvSpPr>
        <p:spPr>
          <a:xfrm>
            <a:off x="8138160" y="1554480"/>
            <a:ext cx="3566160" cy="4206240"/>
          </a:xfrm>
          <a:prstGeom prst="roundRect">
            <a:avLst>
              <a:gd name="adj" fmla="val 3077"/>
            </a:avLst>
          </a:prstGeom>
          <a:solidFill>
            <a:schemeClr val="bg2"/>
          </a:solidFill>
          <a:ln w="12700">
            <a:solidFill>
              <a:schemeClr val="bg2"/>
            </a:solidFill>
            <a:prstDash val="solid"/>
          </a:ln>
        </p:spPr>
      </p:sp>
      <p:sp>
        <p:nvSpPr>
          <p:cNvPr id="15" name="hex ?"/>
          <p:cNvSpPr/>
          <p:nvPr/>
        </p:nvSpPr>
        <p:spPr>
          <a:xfrm>
            <a:off x="8412480" y="1828800"/>
            <a:ext cx="914400" cy="914400"/>
          </a:xfrm>
          <a:prstGeom prst="hexagon">
            <a:avLst/>
          </a:prstGeom>
          <a:solidFill>
            <a:schemeClr val="bg1"/>
          </a:solidFill>
          <a:ln w="25400">
            <a:solidFill>
              <a:schemeClr val="accent1"/>
            </a:solidFill>
            <a:prstDash val="solid"/>
          </a:ln>
        </p:spPr>
      </p:sp>
      <p:sp>
        <p:nvSpPr>
          <p:cNvPr id="16" name="hex label ?"/>
          <p:cNvSpPr txBox="1"/>
          <p:nvPr/>
        </p:nvSpPr>
        <p:spPr>
          <a:xfrm>
            <a:off x="8412480" y="1828800"/>
            <a:ext cx="914400" cy="914400"/>
          </a:xfrm>
          <a:prstGeom prst="rect">
            <a:avLst/>
          </a:prstGeom>
          <a:noFill/>
          <a:ln/>
        </p:spPr>
        <p:txBody>
          <a:bodyPr wrap="square" lIns="0" tIns="0" rIns="0" bIns="0" rtlCol="0" anchor="ctr"/>
          <a:lstStyle/>
          <a:p>
            <a:pPr algn="ctr" indent="0" marL="0">
              <a:buNone/>
            </a:pPr>
            <a:r>
              <a:rPr lang="en-US" sz="2400" b="1" dirty="0">
                <a:solidFill>
                  <a:schemeClr val="accent1"/>
                </a:solidFill>
              </a:rPr>
              <a:t>?</a:t>
            </a:r>
            <a:endParaRPr lang="en-US" sz="2400" dirty="0"/>
          </a:p>
        </p:txBody>
      </p:sp>
      <p:sp>
        <p:nvSpPr>
          <p:cNvPr id="17" name="head 2"/>
          <p:cNvSpPr txBox="1"/>
          <p:nvPr/>
        </p:nvSpPr>
        <p:spPr>
          <a:xfrm>
            <a:off x="8412480" y="3017520"/>
            <a:ext cx="3017520" cy="1371600"/>
          </a:xfrm>
          <a:prstGeom prst="rect">
            <a:avLst/>
          </a:prstGeom>
          <a:noFill/>
          <a:ln/>
        </p:spPr>
        <p:txBody>
          <a:bodyPr wrap="square" lIns="0" tIns="0" rIns="0" bIns="0" rtlCol="0" anchor="t"/>
          <a:lstStyle/>
          <a:p>
            <a:pPr indent="0" marL="0">
              <a:buNone/>
            </a:pPr>
            <a:r>
              <a:rPr lang="en-US" sz="2200" b="1" dirty="0">
                <a:solidFill>
                  <a:schemeClr val="tx1"/>
                </a:solidFill>
              </a:rPr>
              <a:t>The mechanical people know what the robot should do.</a:t>
            </a:r>
            <a:endParaRPr lang="en-US" sz="2200" dirty="0"/>
          </a:p>
        </p:txBody>
      </p:sp>
      <p:sp>
        <p:nvSpPr>
          <p:cNvPr id="18" name="sub 2"/>
          <p:cNvSpPr txBox="1"/>
          <p:nvPr/>
        </p:nvSpPr>
        <p:spPr>
          <a:xfrm>
            <a:off x="8412480" y="4480560"/>
            <a:ext cx="3017520" cy="1005840"/>
          </a:xfrm>
          <a:prstGeom prst="rect">
            <a:avLst/>
          </a:prstGeom>
          <a:noFill/>
          <a:ln/>
        </p:spPr>
        <p:txBody>
          <a:bodyPr wrap="square" lIns="0" tIns="0" rIns="0" bIns="0" rtlCol="0" anchor="t"/>
          <a:lstStyle/>
          <a:p>
            <a:pPr indent="0" marL="0">
              <a:buNone/>
            </a:pPr>
            <a:r>
              <a:rPr lang="en-US" sz="1800" dirty="0">
                <a:solidFill>
                  <a:schemeClr val="tx2"/>
                </a:solidFill>
              </a:rPr>
              <a:t>They just can't type it in Java.</a:t>
            </a:r>
            <a:endParaRPr lang="en-US" sz="18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What the mentors did — the week</a:t>
            </a:r>
            <a:endParaRPr lang="en-US" sz="3200" dirty="0"/>
          </a:p>
        </p:txBody>
      </p:sp>
      <p:sp>
        <p:nvSpPr>
          <p:cNvPr id="4" name="timeline"/>
          <p:cNvSpPr/>
          <p:nvPr/>
        </p:nvSpPr>
        <p:spPr>
          <a:xfrm>
            <a:off x="713232" y="1508760"/>
            <a:ext cx="0" cy="4242816"/>
          </a:xfrm>
          <a:prstGeom prst="line">
            <a:avLst/>
          </a:prstGeom>
          <a:noFill/>
          <a:ln w="19050">
            <a:solidFill>
              <a:schemeClr val="accent1"/>
            </a:solidFill>
            <a:prstDash val="solid"/>
          </a:ln>
        </p:spPr>
      </p:sp>
      <p:sp>
        <p:nvSpPr>
          <p:cNvPr id="5" name="dot 0"/>
          <p:cNvSpPr/>
          <p:nvPr/>
        </p:nvSpPr>
        <p:spPr>
          <a:xfrm>
            <a:off x="594360" y="1389888"/>
            <a:ext cx="237744" cy="237744"/>
          </a:xfrm>
          <a:prstGeom prst="hexagon">
            <a:avLst/>
          </a:prstGeom>
          <a:solidFill>
            <a:schemeClr val="accent1"/>
          </a:solidFill>
          <a:ln w="12700">
            <a:solidFill>
              <a:schemeClr val="accent1"/>
            </a:solidFill>
            <a:prstDash val="solid"/>
          </a:ln>
        </p:spPr>
      </p:sp>
      <p:sp>
        <p:nvSpPr>
          <p:cNvPr id="6" name="time 0"/>
          <p:cNvSpPr txBox="1"/>
          <p:nvPr/>
        </p:nvSpPr>
        <p:spPr>
          <a:xfrm>
            <a:off x="960120" y="1371600"/>
            <a:ext cx="1325880" cy="274320"/>
          </a:xfrm>
          <a:prstGeom prst="rect">
            <a:avLst/>
          </a:prstGeom>
          <a:noFill/>
          <a:ln/>
        </p:spPr>
        <p:txBody>
          <a:bodyPr wrap="square" lIns="0" tIns="0" rIns="0" bIns="0" rtlCol="0" anchor="t"/>
          <a:lstStyle/>
          <a:p>
            <a:pPr indent="0" marL="0">
              <a:buNone/>
            </a:pPr>
            <a:r>
              <a:rPr lang="en-US" sz="1100" b="1" dirty="0">
                <a:solidFill>
                  <a:schemeClr val="accent1"/>
                </a:solidFill>
              </a:rPr>
              <a:t>Sep 17, 10:26 PM</a:t>
            </a:r>
            <a:endParaRPr lang="en-US" sz="1100" dirty="0"/>
          </a:p>
        </p:txBody>
      </p:sp>
      <p:sp>
        <p:nvSpPr>
          <p:cNvPr id="7" name="event 0"/>
          <p:cNvSpPr txBox="1"/>
          <p:nvPr/>
        </p:nvSpPr>
        <p:spPr>
          <a:xfrm>
            <a:off x="2286000" y="1371600"/>
            <a:ext cx="4206240" cy="530352"/>
          </a:xfrm>
          <a:prstGeom prst="rect">
            <a:avLst/>
          </a:prstGeom>
          <a:noFill/>
          <a:ln/>
        </p:spPr>
        <p:txBody>
          <a:bodyPr wrap="square" lIns="0" tIns="0" rIns="0" bIns="0" rtlCol="0" anchor="t"/>
          <a:lstStyle/>
          <a:p>
            <a:pPr indent="0" marL="0">
              <a:buNone/>
            </a:pPr>
            <a:r>
              <a:rPr lang="en-US" sz="1100" dirty="0">
                <a:solidFill>
                  <a:schemeClr val="tx2"/>
                </a:solidFill>
              </a:rPr>
              <a:t>Ben (coordinator) describes the whole robot → working TeleOp that night, subsystem classes</a:t>
            </a:r>
            <a:endParaRPr lang="en-US" sz="1100" dirty="0"/>
          </a:p>
        </p:txBody>
      </p:sp>
      <p:sp>
        <p:nvSpPr>
          <p:cNvPr id="8" name="dot 1"/>
          <p:cNvSpPr/>
          <p:nvPr/>
        </p:nvSpPr>
        <p:spPr>
          <a:xfrm>
            <a:off x="594360" y="1920240"/>
            <a:ext cx="237744" cy="237744"/>
          </a:xfrm>
          <a:prstGeom prst="hexagon">
            <a:avLst/>
          </a:prstGeom>
          <a:solidFill>
            <a:schemeClr val="accent1"/>
          </a:solidFill>
          <a:ln w="12700">
            <a:solidFill>
              <a:schemeClr val="accent1"/>
            </a:solidFill>
            <a:prstDash val="solid"/>
          </a:ln>
        </p:spPr>
      </p:sp>
      <p:sp>
        <p:nvSpPr>
          <p:cNvPr id="9" name="time 1"/>
          <p:cNvSpPr txBox="1"/>
          <p:nvPr/>
        </p:nvSpPr>
        <p:spPr>
          <a:xfrm>
            <a:off x="960120" y="1901952"/>
            <a:ext cx="1325880" cy="274320"/>
          </a:xfrm>
          <a:prstGeom prst="rect">
            <a:avLst/>
          </a:prstGeom>
          <a:noFill/>
          <a:ln/>
        </p:spPr>
        <p:txBody>
          <a:bodyPr wrap="square" lIns="0" tIns="0" rIns="0" bIns="0" rtlCol="0" anchor="t"/>
          <a:lstStyle/>
          <a:p>
            <a:pPr indent="0" marL="0">
              <a:buNone/>
            </a:pPr>
            <a:r>
              <a:rPr lang="en-US" sz="1100" b="1" dirty="0">
                <a:solidFill>
                  <a:schemeClr val="accent1"/>
                </a:solidFill>
              </a:rPr>
              <a:t>Sep 18, ~9:50 PM</a:t>
            </a:r>
            <a:endParaRPr lang="en-US" sz="1100" dirty="0"/>
          </a:p>
        </p:txBody>
      </p:sp>
      <p:sp>
        <p:nvSpPr>
          <p:cNvPr id="10" name="event 1"/>
          <p:cNvSpPr txBox="1"/>
          <p:nvPr/>
        </p:nvSpPr>
        <p:spPr>
          <a:xfrm>
            <a:off x="2286000" y="1901952"/>
            <a:ext cx="4206240" cy="530352"/>
          </a:xfrm>
          <a:prstGeom prst="rect">
            <a:avLst/>
          </a:prstGeom>
          <a:noFill/>
          <a:ln/>
        </p:spPr>
        <p:txBody>
          <a:bodyPr wrap="square" lIns="0" tIns="0" rIns="0" bIns="0" rtlCol="0" anchor="t"/>
          <a:lstStyle/>
          <a:p>
            <a:pPr indent="0" marL="0">
              <a:buNone/>
            </a:pPr>
            <a:r>
              <a:rPr lang="en-US" sz="1100" dirty="0">
                <a:solidFill>
                  <a:schemeClr val="tx2"/>
                </a:solidFill>
              </a:rPr>
              <a:t>First autonomous state machines, Shoot First / Shoot Delayed — Asim's design, called out at the robot, typed by Ben</a:t>
            </a:r>
            <a:endParaRPr lang="en-US" sz="1100" dirty="0"/>
          </a:p>
        </p:txBody>
      </p:sp>
      <p:sp>
        <p:nvSpPr>
          <p:cNvPr id="11" name="dot 2"/>
          <p:cNvSpPr/>
          <p:nvPr/>
        </p:nvSpPr>
        <p:spPr>
          <a:xfrm>
            <a:off x="594360" y="2450592"/>
            <a:ext cx="237744" cy="237744"/>
          </a:xfrm>
          <a:prstGeom prst="hexagon">
            <a:avLst/>
          </a:prstGeom>
          <a:solidFill>
            <a:schemeClr val="accent1"/>
          </a:solidFill>
          <a:ln w="12700">
            <a:solidFill>
              <a:schemeClr val="accent1"/>
            </a:solidFill>
            <a:prstDash val="solid"/>
          </a:ln>
        </p:spPr>
      </p:sp>
      <p:sp>
        <p:nvSpPr>
          <p:cNvPr id="12" name="time 2"/>
          <p:cNvSpPr txBox="1"/>
          <p:nvPr/>
        </p:nvSpPr>
        <p:spPr>
          <a:xfrm>
            <a:off x="960120" y="2432304"/>
            <a:ext cx="1325880" cy="274320"/>
          </a:xfrm>
          <a:prstGeom prst="rect">
            <a:avLst/>
          </a:prstGeom>
          <a:noFill/>
          <a:ln/>
        </p:spPr>
        <p:txBody>
          <a:bodyPr wrap="square" lIns="0" tIns="0" rIns="0" bIns="0" rtlCol="0" anchor="t"/>
          <a:lstStyle/>
          <a:p>
            <a:pPr indent="0" marL="0">
              <a:buNone/>
            </a:pPr>
            <a:r>
              <a:rPr lang="en-US" sz="1100" b="1" dirty="0">
                <a:solidFill>
                  <a:schemeClr val="accent1"/>
                </a:solidFill>
              </a:rPr>
              <a:t>Sep 19, 8:29 AM</a:t>
            </a:r>
            <a:endParaRPr lang="en-US" sz="1100" dirty="0"/>
          </a:p>
        </p:txBody>
      </p:sp>
      <p:sp>
        <p:nvSpPr>
          <p:cNvPr id="13" name="event 2"/>
          <p:cNvSpPr txBox="1"/>
          <p:nvPr/>
        </p:nvSpPr>
        <p:spPr>
          <a:xfrm>
            <a:off x="2286000" y="2432304"/>
            <a:ext cx="4206240" cy="530352"/>
          </a:xfrm>
          <a:prstGeom prst="rect">
            <a:avLst/>
          </a:prstGeom>
          <a:noFill/>
          <a:ln/>
        </p:spPr>
        <p:txBody>
          <a:bodyPr wrap="square" lIns="0" tIns="0" rIns="0" bIns="0" rtlCol="0" anchor="t"/>
          <a:lstStyle/>
          <a:p>
            <a:pPr indent="0" marL="0">
              <a:buNone/>
            </a:pPr>
            <a:r>
              <a:rPr lang="en-US" sz="1100" dirty="0">
                <a:solidFill>
                  <a:schemeClr val="tx2"/>
                </a:solidFill>
              </a:rPr>
              <a:t>Asim (mechanical), at the keyboard: “holding both joysticks left made the robot strafe right, and vice versa. please fix”</a:t>
            </a:r>
            <a:endParaRPr lang="en-US" sz="1100" dirty="0"/>
          </a:p>
        </p:txBody>
      </p:sp>
      <p:sp>
        <p:nvSpPr>
          <p:cNvPr id="14" name="dot 3"/>
          <p:cNvSpPr/>
          <p:nvPr/>
        </p:nvSpPr>
        <p:spPr>
          <a:xfrm>
            <a:off x="594360" y="2980944"/>
            <a:ext cx="237744" cy="237744"/>
          </a:xfrm>
          <a:prstGeom prst="hexagon">
            <a:avLst/>
          </a:prstGeom>
          <a:solidFill>
            <a:schemeClr val="accent1"/>
          </a:solidFill>
          <a:ln w="12700">
            <a:solidFill>
              <a:schemeClr val="accent1"/>
            </a:solidFill>
            <a:prstDash val="solid"/>
          </a:ln>
        </p:spPr>
      </p:sp>
      <p:sp>
        <p:nvSpPr>
          <p:cNvPr id="15" name="time 3"/>
          <p:cNvSpPr txBox="1"/>
          <p:nvPr/>
        </p:nvSpPr>
        <p:spPr>
          <a:xfrm>
            <a:off x="960120" y="2962656"/>
            <a:ext cx="1325880" cy="274320"/>
          </a:xfrm>
          <a:prstGeom prst="rect">
            <a:avLst/>
          </a:prstGeom>
          <a:noFill/>
          <a:ln/>
        </p:spPr>
        <p:txBody>
          <a:bodyPr wrap="square" lIns="0" tIns="0" rIns="0" bIns="0" rtlCol="0" anchor="t"/>
          <a:lstStyle/>
          <a:p>
            <a:pPr indent="0" marL="0">
              <a:buNone/>
            </a:pPr>
            <a:r>
              <a:rPr lang="en-US" sz="1100" b="1" dirty="0">
                <a:solidFill>
                  <a:schemeClr val="accent1"/>
                </a:solidFill>
              </a:rPr>
              <a:t>8:36 AM</a:t>
            </a:r>
            <a:endParaRPr lang="en-US" sz="1100" dirty="0"/>
          </a:p>
        </p:txBody>
      </p:sp>
      <p:sp>
        <p:nvSpPr>
          <p:cNvPr id="16" name="event 3"/>
          <p:cNvSpPr txBox="1"/>
          <p:nvPr/>
        </p:nvSpPr>
        <p:spPr>
          <a:xfrm>
            <a:off x="2286000" y="2962656"/>
            <a:ext cx="4206240" cy="530352"/>
          </a:xfrm>
          <a:prstGeom prst="rect">
            <a:avLst/>
          </a:prstGeom>
          <a:noFill/>
          <a:ln/>
        </p:spPr>
        <p:txBody>
          <a:bodyPr wrap="square" lIns="0" tIns="0" rIns="0" bIns="0" rtlCol="0" anchor="t"/>
          <a:lstStyle/>
          <a:p>
            <a:pPr indent="0" marL="0">
              <a:buNone/>
            </a:pPr>
            <a:r>
              <a:rPr lang="en-US" sz="1100" i="1" dirty="0">
                <a:solidFill>
                  <a:schemeClr val="tx1"/>
                </a:solidFill>
              </a:rPr>
              <a:t>“it is spitting balls out, so i would like to shorten it” — reverse bump 200 → 100 ms</a:t>
            </a:r>
            <a:endParaRPr lang="en-US" sz="1100" dirty="0"/>
          </a:p>
        </p:txBody>
      </p:sp>
      <p:sp>
        <p:nvSpPr>
          <p:cNvPr id="17" name="dot 4"/>
          <p:cNvSpPr/>
          <p:nvPr/>
        </p:nvSpPr>
        <p:spPr>
          <a:xfrm>
            <a:off x="594360" y="3511296"/>
            <a:ext cx="237744" cy="237744"/>
          </a:xfrm>
          <a:prstGeom prst="hexagon">
            <a:avLst/>
          </a:prstGeom>
          <a:solidFill>
            <a:schemeClr val="accent1"/>
          </a:solidFill>
          <a:ln w="12700">
            <a:solidFill>
              <a:schemeClr val="accent1"/>
            </a:solidFill>
            <a:prstDash val="solid"/>
          </a:ln>
        </p:spPr>
      </p:sp>
      <p:sp>
        <p:nvSpPr>
          <p:cNvPr id="18" name="time 4"/>
          <p:cNvSpPr txBox="1"/>
          <p:nvPr/>
        </p:nvSpPr>
        <p:spPr>
          <a:xfrm>
            <a:off x="960120" y="3493008"/>
            <a:ext cx="1325880" cy="274320"/>
          </a:xfrm>
          <a:prstGeom prst="rect">
            <a:avLst/>
          </a:prstGeom>
          <a:noFill/>
          <a:ln/>
        </p:spPr>
        <p:txBody>
          <a:bodyPr wrap="square" lIns="0" tIns="0" rIns="0" bIns="0" rtlCol="0" anchor="t"/>
          <a:lstStyle/>
          <a:p>
            <a:pPr indent="0" marL="0">
              <a:buNone/>
            </a:pPr>
            <a:r>
              <a:rPr lang="en-US" sz="1100" b="1" dirty="0">
                <a:solidFill>
                  <a:schemeClr val="accent1"/>
                </a:solidFill>
              </a:rPr>
              <a:t>8:40 AM</a:t>
            </a:r>
            <a:endParaRPr lang="en-US" sz="1100" dirty="0"/>
          </a:p>
        </p:txBody>
      </p:sp>
      <p:sp>
        <p:nvSpPr>
          <p:cNvPr id="19" name="event 4"/>
          <p:cNvSpPr txBox="1"/>
          <p:nvPr/>
        </p:nvSpPr>
        <p:spPr>
          <a:xfrm>
            <a:off x="2286000" y="3493008"/>
            <a:ext cx="4206240" cy="530352"/>
          </a:xfrm>
          <a:prstGeom prst="rect">
            <a:avLst/>
          </a:prstGeom>
          <a:noFill/>
          <a:ln/>
        </p:spPr>
        <p:txBody>
          <a:bodyPr wrap="square" lIns="0" tIns="0" rIns="0" bIns="0" rtlCol="0" anchor="t"/>
          <a:lstStyle/>
          <a:p>
            <a:pPr indent="0" marL="0">
              <a:buNone/>
            </a:pPr>
            <a:r>
              <a:rPr lang="en-US" sz="1100" i="1" dirty="0">
                <a:solidFill>
                  <a:schemeClr val="tx1"/>
                </a:solidFill>
              </a:rPr>
              <a:t>“we get points for not touching the wall. Can we add a backup after the turn and drive forward?”</a:t>
            </a:r>
            <a:endParaRPr lang="en-US" sz="1100" dirty="0"/>
          </a:p>
        </p:txBody>
      </p:sp>
      <p:sp>
        <p:nvSpPr>
          <p:cNvPr id="20" name="dot 5"/>
          <p:cNvSpPr/>
          <p:nvPr/>
        </p:nvSpPr>
        <p:spPr>
          <a:xfrm>
            <a:off x="594360" y="4041648"/>
            <a:ext cx="237744" cy="237744"/>
          </a:xfrm>
          <a:prstGeom prst="hexagon">
            <a:avLst/>
          </a:prstGeom>
          <a:solidFill>
            <a:schemeClr val="accent1"/>
          </a:solidFill>
          <a:ln w="12700">
            <a:solidFill>
              <a:schemeClr val="accent1"/>
            </a:solidFill>
            <a:prstDash val="solid"/>
          </a:ln>
        </p:spPr>
      </p:sp>
      <p:sp>
        <p:nvSpPr>
          <p:cNvPr id="21" name="time 5"/>
          <p:cNvSpPr txBox="1"/>
          <p:nvPr/>
        </p:nvSpPr>
        <p:spPr>
          <a:xfrm>
            <a:off x="960120" y="4023360"/>
            <a:ext cx="1325880" cy="274320"/>
          </a:xfrm>
          <a:prstGeom prst="rect">
            <a:avLst/>
          </a:prstGeom>
          <a:noFill/>
          <a:ln/>
        </p:spPr>
        <p:txBody>
          <a:bodyPr wrap="square" lIns="0" tIns="0" rIns="0" bIns="0" rtlCol="0" anchor="t"/>
          <a:lstStyle/>
          <a:p>
            <a:pPr indent="0" marL="0">
              <a:buNone/>
            </a:pPr>
            <a:r>
              <a:rPr lang="en-US" sz="1100" b="1" dirty="0">
                <a:solidFill>
                  <a:schemeClr val="accent1"/>
                </a:solidFill>
              </a:rPr>
              <a:t>11:35 AM</a:t>
            </a:r>
            <a:endParaRPr lang="en-US" sz="1100" dirty="0"/>
          </a:p>
        </p:txBody>
      </p:sp>
      <p:sp>
        <p:nvSpPr>
          <p:cNvPr id="22" name="event 5"/>
          <p:cNvSpPr txBox="1"/>
          <p:nvPr/>
        </p:nvSpPr>
        <p:spPr>
          <a:xfrm>
            <a:off x="2286000" y="4023360"/>
            <a:ext cx="4206240" cy="530352"/>
          </a:xfrm>
          <a:prstGeom prst="rect">
            <a:avLst/>
          </a:prstGeom>
          <a:noFill/>
          <a:ln/>
        </p:spPr>
        <p:txBody>
          <a:bodyPr wrap="square" lIns="0" tIns="0" rIns="0" bIns="0" rtlCol="0" anchor="t"/>
          <a:lstStyle/>
          <a:p>
            <a:pPr indent="0" marL="0">
              <a:buNone/>
            </a:pPr>
            <a:r>
              <a:rPr lang="en-US" sz="1100" i="1" dirty="0">
                <a:solidFill>
                  <a:schemeClr val="tx1"/>
                </a:solidFill>
              </a:rPr>
              <a:t>“I thought gamepad 1 dpad was slow mode, not tuning the flywheel.”</a:t>
            </a:r>
            <a:endParaRPr lang="en-US" sz="1100" dirty="0"/>
          </a:p>
        </p:txBody>
      </p:sp>
      <p:sp>
        <p:nvSpPr>
          <p:cNvPr id="23" name="dot 6"/>
          <p:cNvSpPr/>
          <p:nvPr/>
        </p:nvSpPr>
        <p:spPr>
          <a:xfrm>
            <a:off x="594360" y="4572000"/>
            <a:ext cx="237744" cy="237744"/>
          </a:xfrm>
          <a:prstGeom prst="hexagon">
            <a:avLst/>
          </a:prstGeom>
          <a:solidFill>
            <a:schemeClr val="accent1"/>
          </a:solidFill>
          <a:ln w="12700">
            <a:solidFill>
              <a:schemeClr val="accent1"/>
            </a:solidFill>
            <a:prstDash val="solid"/>
          </a:ln>
        </p:spPr>
      </p:sp>
      <p:sp>
        <p:nvSpPr>
          <p:cNvPr id="24" name="time 6"/>
          <p:cNvSpPr txBox="1"/>
          <p:nvPr/>
        </p:nvSpPr>
        <p:spPr>
          <a:xfrm>
            <a:off x="960120" y="4553712"/>
            <a:ext cx="1325880" cy="274320"/>
          </a:xfrm>
          <a:prstGeom prst="rect">
            <a:avLst/>
          </a:prstGeom>
          <a:noFill/>
          <a:ln/>
        </p:spPr>
        <p:txBody>
          <a:bodyPr wrap="square" lIns="0" tIns="0" rIns="0" bIns="0" rtlCol="0" anchor="t"/>
          <a:lstStyle/>
          <a:p>
            <a:pPr indent="0" marL="0">
              <a:buNone/>
            </a:pPr>
            <a:r>
              <a:rPr lang="en-US" sz="1100" b="1" dirty="0">
                <a:solidFill>
                  <a:schemeClr val="accent1"/>
                </a:solidFill>
              </a:rPr>
              <a:t>11:37 AM</a:t>
            </a:r>
            <a:endParaRPr lang="en-US" sz="1100" dirty="0"/>
          </a:p>
        </p:txBody>
      </p:sp>
      <p:sp>
        <p:nvSpPr>
          <p:cNvPr id="25" name="event 6"/>
          <p:cNvSpPr txBox="1"/>
          <p:nvPr/>
        </p:nvSpPr>
        <p:spPr>
          <a:xfrm>
            <a:off x="2286000" y="4553712"/>
            <a:ext cx="4206240" cy="530352"/>
          </a:xfrm>
          <a:prstGeom prst="rect">
            <a:avLst/>
          </a:prstGeom>
          <a:noFill/>
          <a:ln/>
        </p:spPr>
        <p:txBody>
          <a:bodyPr wrap="square" lIns="0" tIns="0" rIns="0" bIns="0" rtlCol="0" anchor="t"/>
          <a:lstStyle/>
          <a:p>
            <a:pPr indent="0" marL="0">
              <a:buNone/>
            </a:pPr>
            <a:r>
              <a:rPr lang="en-US" sz="1100" i="1" dirty="0">
                <a:solidFill>
                  <a:schemeClr val="tx1"/>
                </a:solidFill>
              </a:rPr>
              <a:t>“I don't want the intake to resume. I want the intake to stop (whether it was stopped or running).”</a:t>
            </a:r>
            <a:endParaRPr lang="en-US" sz="1100" dirty="0"/>
          </a:p>
        </p:txBody>
      </p:sp>
      <p:sp>
        <p:nvSpPr>
          <p:cNvPr id="26" name="dot 7"/>
          <p:cNvSpPr/>
          <p:nvPr/>
        </p:nvSpPr>
        <p:spPr>
          <a:xfrm>
            <a:off x="594360" y="5102352"/>
            <a:ext cx="237744" cy="237744"/>
          </a:xfrm>
          <a:prstGeom prst="hexagon">
            <a:avLst/>
          </a:prstGeom>
          <a:solidFill>
            <a:schemeClr val="accent1"/>
          </a:solidFill>
          <a:ln w="12700">
            <a:solidFill>
              <a:schemeClr val="accent1"/>
            </a:solidFill>
            <a:prstDash val="solid"/>
          </a:ln>
        </p:spPr>
      </p:sp>
      <p:sp>
        <p:nvSpPr>
          <p:cNvPr id="27" name="time 7"/>
          <p:cNvSpPr txBox="1"/>
          <p:nvPr/>
        </p:nvSpPr>
        <p:spPr>
          <a:xfrm>
            <a:off x="960120" y="5084064"/>
            <a:ext cx="1325880" cy="274320"/>
          </a:xfrm>
          <a:prstGeom prst="rect">
            <a:avLst/>
          </a:prstGeom>
          <a:noFill/>
          <a:ln/>
        </p:spPr>
        <p:txBody>
          <a:bodyPr wrap="square" lIns="0" tIns="0" rIns="0" bIns="0" rtlCol="0" anchor="t"/>
          <a:lstStyle/>
          <a:p>
            <a:pPr indent="0" marL="0">
              <a:buNone/>
            </a:pPr>
            <a:r>
              <a:rPr lang="en-US" sz="1100" b="1" dirty="0">
                <a:solidFill>
                  <a:schemeClr val="accent1"/>
                </a:solidFill>
              </a:rPr>
              <a:t>2:57 PM</a:t>
            </a:r>
            <a:endParaRPr lang="en-US" sz="1100" dirty="0"/>
          </a:p>
        </p:txBody>
      </p:sp>
      <p:sp>
        <p:nvSpPr>
          <p:cNvPr id="28" name="event 7"/>
          <p:cNvSpPr txBox="1"/>
          <p:nvPr/>
        </p:nvSpPr>
        <p:spPr>
          <a:xfrm>
            <a:off x="2286000" y="5084064"/>
            <a:ext cx="4206240" cy="530352"/>
          </a:xfrm>
          <a:prstGeom prst="rect">
            <a:avLst/>
          </a:prstGeom>
          <a:noFill/>
          <a:ln/>
        </p:spPr>
        <p:txBody>
          <a:bodyPr wrap="square" lIns="0" tIns="0" rIns="0" bIns="0" rtlCol="0" anchor="t"/>
          <a:lstStyle/>
          <a:p>
            <a:pPr indent="0" marL="0">
              <a:buNone/>
            </a:pPr>
            <a:r>
              <a:rPr lang="en-US" sz="1100" i="1" dirty="0">
                <a:solidFill>
                  <a:schemeClr val="tx1"/>
                </a:solidFill>
              </a:rPr>
              <a:t>“Let's set the default speed to 0.95” — default changed from 1.0</a:t>
            </a:r>
            <a:endParaRPr lang="en-US" sz="1100" dirty="0"/>
          </a:p>
        </p:txBody>
      </p:sp>
      <p:sp>
        <p:nvSpPr>
          <p:cNvPr id="29" name="dot 8"/>
          <p:cNvSpPr/>
          <p:nvPr/>
        </p:nvSpPr>
        <p:spPr>
          <a:xfrm>
            <a:off x="594360" y="5632704"/>
            <a:ext cx="237744" cy="237744"/>
          </a:xfrm>
          <a:prstGeom prst="hexagon">
            <a:avLst/>
          </a:prstGeom>
          <a:solidFill>
            <a:schemeClr val="accent1"/>
          </a:solidFill>
          <a:ln w="12700">
            <a:solidFill>
              <a:schemeClr val="accent1"/>
            </a:solidFill>
            <a:prstDash val="solid"/>
          </a:ln>
        </p:spPr>
      </p:sp>
      <p:sp>
        <p:nvSpPr>
          <p:cNvPr id="30" name="time 8"/>
          <p:cNvSpPr txBox="1"/>
          <p:nvPr/>
        </p:nvSpPr>
        <p:spPr>
          <a:xfrm>
            <a:off x="960120" y="5614416"/>
            <a:ext cx="1325880" cy="274320"/>
          </a:xfrm>
          <a:prstGeom prst="rect">
            <a:avLst/>
          </a:prstGeom>
          <a:noFill/>
          <a:ln/>
        </p:spPr>
        <p:txBody>
          <a:bodyPr wrap="square" lIns="0" tIns="0" rIns="0" bIns="0" rtlCol="0" anchor="t"/>
          <a:lstStyle/>
          <a:p>
            <a:pPr indent="0" marL="0">
              <a:buNone/>
            </a:pPr>
            <a:r>
              <a:rPr lang="en-US" sz="1100" b="1" dirty="0">
                <a:solidFill>
                  <a:schemeClr val="accent1"/>
                </a:solidFill>
              </a:rPr>
              <a:t>Scrimmage</a:t>
            </a:r>
            <a:endParaRPr lang="en-US" sz="1100" dirty="0"/>
          </a:p>
        </p:txBody>
      </p:sp>
      <p:sp>
        <p:nvSpPr>
          <p:cNvPr id="31" name="event 8"/>
          <p:cNvSpPr txBox="1"/>
          <p:nvPr/>
        </p:nvSpPr>
        <p:spPr>
          <a:xfrm>
            <a:off x="2286000" y="5614416"/>
            <a:ext cx="4206240" cy="530352"/>
          </a:xfrm>
          <a:prstGeom prst="rect">
            <a:avLst/>
          </a:prstGeom>
          <a:noFill/>
          <a:ln/>
        </p:spPr>
        <p:txBody>
          <a:bodyPr wrap="square" lIns="0" tIns="0" rIns="0" bIns="0" rtlCol="0" anchor="t"/>
          <a:lstStyle/>
          <a:p>
            <a:pPr indent="0" marL="0">
              <a:buNone/>
            </a:pPr>
            <a:r>
              <a:rPr lang="en-US" sz="1100" dirty="0">
                <a:solidFill>
                  <a:schemeClr val="tx2"/>
                </a:solidFill>
              </a:rPr>
              <a:t>Autonomous scored; TeleOp drove.</a:t>
            </a:r>
            <a:endParaRPr lang="en-US" sz="1100" dirty="0"/>
          </a:p>
        </p:txBody>
      </p:sp>
      <p:pic>
        <p:nvPicPr>
          <p:cNvPr id="32" name="spitting balls screenshot" descr="/home/claude/teaching-ai-coding/docs/images/android-studio-spitting-balls-prompt.png">    </p:cNvPr>
          <p:cNvPicPr>
            <a:picLocks noChangeAspect="1"/>
          </p:cNvPicPr>
          <p:nvPr/>
        </p:nvPicPr>
        <p:blipFill>
          <a:blip r:embed="rId1"/>
          <a:stretch>
            <a:fillRect/>
          </a:stretch>
        </p:blipFill>
        <p:spPr>
          <a:xfrm>
            <a:off x="6766560" y="1371600"/>
            <a:ext cx="4965192" cy="2944368"/>
          </a:xfrm>
          <a:prstGeom prst="rect">
            <a:avLst/>
          </a:prstGeom>
        </p:spPr>
      </p:pic>
      <p:sp>
        <p:nvSpPr>
          <p:cNvPr id="33" name="screenshot caption"/>
          <p:cNvSpPr txBox="1"/>
          <p:nvPr/>
        </p:nvSpPr>
        <p:spPr>
          <a:xfrm>
            <a:off x="6766560" y="4389120"/>
            <a:ext cx="4965192" cy="731520"/>
          </a:xfrm>
          <a:prstGeom prst="rect">
            <a:avLst/>
          </a:prstGeom>
          <a:noFill/>
          <a:ln/>
        </p:spPr>
        <p:txBody>
          <a:bodyPr wrap="square" lIns="0" tIns="0" rIns="0" bIns="0" rtlCol="0" anchor="t"/>
          <a:lstStyle/>
          <a:p>
            <a:pPr indent="0" marL="0">
              <a:buNone/>
            </a:pPr>
            <a:r>
              <a:rPr lang="en-US" sz="1100" dirty="0">
                <a:solidFill>
                  <a:schemeClr val="tx2"/>
                </a:solidFill>
              </a:rPr>
              <a:t>Sep 19, 8:36 AM, as typed — and Gemini's reply: it reports the numbers (200 ms at −0.5, 300 ms pause), offers two options, then changes both at once. The next prompt put the power back.</a:t>
            </a:r>
            <a:endParaRPr lang="en-US" sz="1100" dirty="0"/>
          </a:p>
        </p:txBody>
      </p:sp>
      <p:sp>
        <p:nvSpPr>
          <p:cNvPr id="34" name="stat"/>
          <p:cNvSpPr txBox="1"/>
          <p:nvPr/>
        </p:nvSpPr>
        <p:spPr>
          <a:xfrm>
            <a:off x="6766560" y="5212080"/>
            <a:ext cx="4965192" cy="731520"/>
          </a:xfrm>
          <a:prstGeom prst="rect">
            <a:avLst/>
          </a:prstGeom>
          <a:noFill/>
          <a:ln/>
        </p:spPr>
        <p:txBody>
          <a:bodyPr wrap="square" lIns="0" tIns="0" rIns="0" bIns="0" rtlCol="0" anchor="t"/>
          <a:lstStyle/>
          <a:p>
            <a:pPr indent="0" marL="0">
              <a:buNone/>
            </a:pPr>
            <a:r>
              <a:rPr lang="en-US" sz="2000" b="1" dirty="0">
                <a:solidFill>
                  <a:schemeClr val="accent1"/>
                </a:solidFill>
              </a:rPr>
              <a:t>67 prompts over three days. 0 lines of Java typed.</a:t>
            </a:r>
            <a:endParaRPr lang="en-US" sz="20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hex decoration"/>
          <p:cNvSpPr/>
          <p:nvPr/>
        </p:nvSpPr>
        <p:spPr>
          <a:xfrm>
            <a:off x="-2743200" y="1097280"/>
            <a:ext cx="4572000" cy="4754880"/>
          </a:xfrm>
          <a:prstGeom prst="hexagon">
            <a:avLst/>
          </a:prstGeom>
          <a:solidFill>
            <a:srgbClr val="000000">
              <a:alpha val="0"/>
            </a:srgbClr>
          </a:solidFill>
          <a:ln w="25400">
            <a:solidFill>
              <a:schemeClr val="accent1"/>
            </a:solidFill>
            <a:prstDash val="solid"/>
          </a:ln>
        </p:spPr>
      </p:sp>
      <p:sp>
        <p:nvSpPr>
          <p:cNvPr id="3" name="quote"/>
          <p:cNvSpPr txBox="1"/>
          <p:nvPr/>
        </p:nvSpPr>
        <p:spPr>
          <a:xfrm>
            <a:off x="2377440" y="1280160"/>
            <a:ext cx="9052560" cy="3657600"/>
          </a:xfrm>
          <a:prstGeom prst="rect">
            <a:avLst/>
          </a:prstGeom>
          <a:noFill/>
          <a:ln/>
        </p:spPr>
        <p:txBody>
          <a:bodyPr wrap="square" lIns="0" tIns="0" rIns="0" bIns="0" rtlCol="0" anchor="ctr"/>
          <a:lstStyle/>
          <a:p>
            <a:pPr indent="0" marL="0">
              <a:buNone/>
            </a:pPr>
            <a:r>
              <a:rPr lang="en-US" sz="2800" dirty="0">
                <a:solidFill>
                  <a:schemeClr val="tx1"/>
                </a:solidFill>
              </a:rPr>
              <a:t>“I've written Java for twenty-five years. I didn't type a line of it. After the first build, the changes came from the mechanical mentors — sometimes typed by them, sometimes called out from over the robot while I typed. They don't write Java.”</a:t>
            </a:r>
            <a:endParaRPr lang="en-US" sz="2800" dirty="0"/>
          </a:p>
        </p:txBody>
      </p:sp>
      <p:sp>
        <p:nvSpPr>
          <p:cNvPr id="4" name="attribution"/>
          <p:cNvSpPr txBox="1"/>
          <p:nvPr/>
        </p:nvSpPr>
        <p:spPr>
          <a:xfrm>
            <a:off x="2377440" y="5029200"/>
            <a:ext cx="9144000" cy="457200"/>
          </a:xfrm>
          <a:prstGeom prst="rect">
            <a:avLst/>
          </a:prstGeom>
          <a:noFill/>
          <a:ln/>
        </p:spPr>
        <p:txBody>
          <a:bodyPr wrap="square" lIns="0" tIns="0" rIns="0" bIns="0" rtlCol="0" anchor="ctr"/>
          <a:lstStyle/>
          <a:p>
            <a:pPr indent="0" marL="0">
              <a:buNone/>
            </a:pPr>
            <a:r>
              <a:rPr lang="en-US" sz="1800" dirty="0">
                <a:solidFill>
                  <a:schemeClr val="accent1"/>
                </a:solidFill>
              </a:rPr>
              <a:t>— Ben, our coordinator</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Hand-coding vs. architecting with AI</a:t>
            </a:r>
            <a:endParaRPr lang="en-US" sz="3200" dirty="0"/>
          </a:p>
        </p:txBody>
      </p:sp>
      <p:sp>
        <p:nvSpPr>
          <p:cNvPr id="4" name="col1 head"/>
          <p:cNvSpPr txBox="1"/>
          <p:nvPr/>
        </p:nvSpPr>
        <p:spPr>
          <a:xfrm>
            <a:off x="457200" y="1280160"/>
            <a:ext cx="5394960" cy="457200"/>
          </a:xfrm>
          <a:prstGeom prst="rect">
            <a:avLst/>
          </a:prstGeom>
          <a:noFill/>
          <a:ln/>
        </p:spPr>
        <p:txBody>
          <a:bodyPr wrap="square" lIns="0" tIns="0" rIns="0" bIns="0" rtlCol="0" anchor="t"/>
          <a:lstStyle/>
          <a:p>
            <a:pPr indent="0" marL="0">
              <a:buNone/>
            </a:pPr>
            <a:r>
              <a:rPr lang="en-US" sz="2000" b="1" dirty="0">
                <a:solidFill>
                  <a:schemeClr val="tx1"/>
                </a:solidFill>
              </a:rPr>
              <a:t>Our robot — hand-coded by us</a:t>
            </a:r>
            <a:endParaRPr lang="en-US" sz="2000" dirty="0"/>
          </a:p>
        </p:txBody>
      </p:sp>
      <p:sp>
        <p:nvSpPr>
          <p:cNvPr id="5" name="col2 head"/>
          <p:cNvSpPr txBox="1"/>
          <p:nvPr/>
        </p:nvSpPr>
        <p:spPr>
          <a:xfrm>
            <a:off x="6309360" y="1280160"/>
            <a:ext cx="5394960" cy="457200"/>
          </a:xfrm>
          <a:prstGeom prst="rect">
            <a:avLst/>
          </a:prstGeom>
          <a:noFill/>
          <a:ln/>
        </p:spPr>
        <p:txBody>
          <a:bodyPr wrap="square" lIns="0" tIns="0" rIns="0" bIns="0" rtlCol="0" anchor="t"/>
          <a:lstStyle/>
          <a:p>
            <a:pPr indent="0" marL="0">
              <a:buNone/>
            </a:pPr>
            <a:r>
              <a:rPr lang="en-US" sz="2000" b="1" dirty="0">
                <a:solidFill>
                  <a:schemeClr val="accent1"/>
                </a:solidFill>
              </a:rPr>
              <a:t>Mentor robot — described to Gemini</a:t>
            </a:r>
            <a:endParaRPr lang="en-US" sz="2000" dirty="0"/>
          </a:p>
        </p:txBody>
      </p:sp>
      <p:sp>
        <p:nvSpPr>
          <p:cNvPr id="6" name="l0"/>
          <p:cNvSpPr/>
          <p:nvPr/>
        </p:nvSpPr>
        <p:spPr>
          <a:xfrm>
            <a:off x="457200" y="1828800"/>
            <a:ext cx="5394960" cy="658368"/>
          </a:xfrm>
          <a:prstGeom prst="roundRect">
            <a:avLst>
              <a:gd name="adj" fmla="val 16667"/>
            </a:avLst>
          </a:prstGeom>
          <a:solidFill>
            <a:schemeClr val="bg2"/>
          </a:solidFill>
          <a:ln w="12700">
            <a:solidFill>
              <a:schemeClr val="bg2"/>
            </a:solidFill>
            <a:prstDash val="solid"/>
          </a:ln>
        </p:spPr>
      </p:sp>
      <p:sp>
        <p:nvSpPr>
          <p:cNvPr id="7" name="r0"/>
          <p:cNvSpPr/>
          <p:nvPr/>
        </p:nvSpPr>
        <p:spPr>
          <a:xfrm>
            <a:off x="6309360" y="1828800"/>
            <a:ext cx="5394960" cy="658368"/>
          </a:xfrm>
          <a:prstGeom prst="roundRect">
            <a:avLst>
              <a:gd name="adj" fmla="val 16667"/>
            </a:avLst>
          </a:prstGeom>
          <a:solidFill>
            <a:schemeClr val="bg2"/>
          </a:solidFill>
          <a:ln w="12700">
            <a:solidFill>
              <a:schemeClr val="bg2"/>
            </a:solidFill>
            <a:prstDash val="solid"/>
          </a:ln>
        </p:spPr>
      </p:sp>
      <p:sp>
        <p:nvSpPr>
          <p:cNvPr id="8" name="lt0"/>
          <p:cNvSpPr txBox="1"/>
          <p:nvPr/>
        </p:nvSpPr>
        <p:spPr>
          <a:xfrm>
            <a:off x="640080" y="1828800"/>
            <a:ext cx="5029200" cy="658368"/>
          </a:xfrm>
          <a:prstGeom prst="rect">
            <a:avLst/>
          </a:prstGeom>
          <a:noFill/>
          <a:ln/>
        </p:spPr>
        <p:txBody>
          <a:bodyPr wrap="square" lIns="0" tIns="0" rIns="0" bIns="0" rtlCol="0" anchor="ctr"/>
          <a:lstStyle/>
          <a:p>
            <a:pPr indent="0" marL="0">
              <a:buNone/>
            </a:pPr>
            <a:r>
              <a:rPr lang="en-US" sz="1300" i="1" dirty="0">
                <a:solidFill>
                  <a:schemeClr val="tx2"/>
                </a:solidFill>
              </a:rPr>
              <a:t>[THE HIVE: how many of us could write the code?]</a:t>
            </a:r>
            <a:endParaRPr lang="en-US" sz="1300" dirty="0"/>
          </a:p>
        </p:txBody>
      </p:sp>
      <p:sp>
        <p:nvSpPr>
          <p:cNvPr id="9" name="rt0"/>
          <p:cNvSpPr txBox="1"/>
          <p:nvPr/>
        </p:nvSpPr>
        <p:spPr>
          <a:xfrm>
            <a:off x="6492240" y="1828800"/>
            <a:ext cx="5029200" cy="658368"/>
          </a:xfrm>
          <a:prstGeom prst="rect">
            <a:avLst/>
          </a:prstGeom>
          <a:noFill/>
          <a:ln/>
        </p:spPr>
        <p:txBody>
          <a:bodyPr wrap="square" lIns="0" tIns="0" rIns="0" bIns="0" rtlCol="0" anchor="ctr"/>
          <a:lstStyle/>
          <a:p>
            <a:pPr indent="0" marL="0">
              <a:buNone/>
            </a:pPr>
            <a:r>
              <a:rPr lang="en-US" sz="1300" dirty="0">
                <a:solidFill>
                  <a:schemeClr val="tx1"/>
                </a:solidFill>
              </a:rPr>
              <a:t>2 people wrote prompts — one writes Java, one doesn't</a:t>
            </a:r>
            <a:endParaRPr lang="en-US" sz="1300" dirty="0"/>
          </a:p>
        </p:txBody>
      </p:sp>
      <p:sp>
        <p:nvSpPr>
          <p:cNvPr id="10" name="l1"/>
          <p:cNvSpPr/>
          <p:nvPr/>
        </p:nvSpPr>
        <p:spPr>
          <a:xfrm>
            <a:off x="457200" y="2578608"/>
            <a:ext cx="5394960" cy="658368"/>
          </a:xfrm>
          <a:prstGeom prst="roundRect">
            <a:avLst>
              <a:gd name="adj" fmla="val 16667"/>
            </a:avLst>
          </a:prstGeom>
          <a:solidFill>
            <a:schemeClr val="bg2"/>
          </a:solidFill>
          <a:ln w="12700">
            <a:solidFill>
              <a:schemeClr val="bg2"/>
            </a:solidFill>
            <a:prstDash val="solid"/>
          </a:ln>
        </p:spPr>
      </p:sp>
      <p:sp>
        <p:nvSpPr>
          <p:cNvPr id="11" name="r1"/>
          <p:cNvSpPr/>
          <p:nvPr/>
        </p:nvSpPr>
        <p:spPr>
          <a:xfrm>
            <a:off x="6309360" y="2578608"/>
            <a:ext cx="5394960" cy="658368"/>
          </a:xfrm>
          <a:prstGeom prst="roundRect">
            <a:avLst>
              <a:gd name="adj" fmla="val 16667"/>
            </a:avLst>
          </a:prstGeom>
          <a:solidFill>
            <a:schemeClr val="bg2"/>
          </a:solidFill>
          <a:ln w="12700">
            <a:solidFill>
              <a:schemeClr val="bg2"/>
            </a:solidFill>
            <a:prstDash val="solid"/>
          </a:ln>
        </p:spPr>
      </p:sp>
      <p:sp>
        <p:nvSpPr>
          <p:cNvPr id="12" name="lt1"/>
          <p:cNvSpPr txBox="1"/>
          <p:nvPr/>
        </p:nvSpPr>
        <p:spPr>
          <a:xfrm>
            <a:off x="640080" y="2578608"/>
            <a:ext cx="5029200" cy="658368"/>
          </a:xfrm>
          <a:prstGeom prst="rect">
            <a:avLst/>
          </a:prstGeom>
          <a:noFill/>
          <a:ln/>
        </p:spPr>
        <p:txBody>
          <a:bodyPr wrap="square" lIns="0" tIns="0" rIns="0" bIns="0" rtlCol="0" anchor="ctr"/>
          <a:lstStyle/>
          <a:p>
            <a:pPr indent="0" marL="0">
              <a:buNone/>
            </a:pPr>
            <a:r>
              <a:rPr lang="en-US" sz="1300" i="1" dirty="0">
                <a:solidFill>
                  <a:schemeClr val="tx2"/>
                </a:solidFill>
              </a:rPr>
              <a:t>[THE HIVE: hours spent coding during the week]</a:t>
            </a:r>
            <a:endParaRPr lang="en-US" sz="1300" dirty="0"/>
          </a:p>
        </p:txBody>
      </p:sp>
      <p:sp>
        <p:nvSpPr>
          <p:cNvPr id="13" name="rt1"/>
          <p:cNvSpPr txBox="1"/>
          <p:nvPr/>
        </p:nvSpPr>
        <p:spPr>
          <a:xfrm>
            <a:off x="6492240" y="2578608"/>
            <a:ext cx="5029200" cy="658368"/>
          </a:xfrm>
          <a:prstGeom prst="rect">
            <a:avLst/>
          </a:prstGeom>
          <a:noFill/>
          <a:ln/>
        </p:spPr>
        <p:txBody>
          <a:bodyPr wrap="square" lIns="0" tIns="0" rIns="0" bIns="0" rtlCol="0" anchor="ctr"/>
          <a:lstStyle/>
          <a:p>
            <a:pPr indent="0" marL="0">
              <a:buNone/>
            </a:pPr>
            <a:r>
              <a:rPr lang="en-US" sz="1300" dirty="0">
                <a:solidFill>
                  <a:schemeClr val="tx1"/>
                </a:solidFill>
              </a:rPr>
              <a:t>67 prompts over three days; working TeleOp on night one</a:t>
            </a:r>
            <a:endParaRPr lang="en-US" sz="1300" dirty="0"/>
          </a:p>
        </p:txBody>
      </p:sp>
      <p:sp>
        <p:nvSpPr>
          <p:cNvPr id="14" name="l2"/>
          <p:cNvSpPr/>
          <p:nvPr/>
        </p:nvSpPr>
        <p:spPr>
          <a:xfrm>
            <a:off x="457200" y="3328416"/>
            <a:ext cx="5394960" cy="658368"/>
          </a:xfrm>
          <a:prstGeom prst="roundRect">
            <a:avLst>
              <a:gd name="adj" fmla="val 16667"/>
            </a:avLst>
          </a:prstGeom>
          <a:solidFill>
            <a:schemeClr val="bg2"/>
          </a:solidFill>
          <a:ln w="12700">
            <a:solidFill>
              <a:schemeClr val="bg2"/>
            </a:solidFill>
            <a:prstDash val="solid"/>
          </a:ln>
        </p:spPr>
      </p:sp>
      <p:sp>
        <p:nvSpPr>
          <p:cNvPr id="15" name="r2"/>
          <p:cNvSpPr/>
          <p:nvPr/>
        </p:nvSpPr>
        <p:spPr>
          <a:xfrm>
            <a:off x="6309360" y="3328416"/>
            <a:ext cx="5394960" cy="658368"/>
          </a:xfrm>
          <a:prstGeom prst="roundRect">
            <a:avLst>
              <a:gd name="adj" fmla="val 16667"/>
            </a:avLst>
          </a:prstGeom>
          <a:solidFill>
            <a:schemeClr val="bg2"/>
          </a:solidFill>
          <a:ln w="12700">
            <a:solidFill>
              <a:schemeClr val="bg2"/>
            </a:solidFill>
            <a:prstDash val="solid"/>
          </a:ln>
        </p:spPr>
      </p:sp>
      <p:sp>
        <p:nvSpPr>
          <p:cNvPr id="16" name="lt2"/>
          <p:cNvSpPr txBox="1"/>
          <p:nvPr/>
        </p:nvSpPr>
        <p:spPr>
          <a:xfrm>
            <a:off x="640080" y="3328416"/>
            <a:ext cx="5029200" cy="658368"/>
          </a:xfrm>
          <a:prstGeom prst="rect">
            <a:avLst/>
          </a:prstGeom>
          <a:noFill/>
          <a:ln/>
        </p:spPr>
        <p:txBody>
          <a:bodyPr wrap="square" lIns="0" tIns="0" rIns="0" bIns="0" rtlCol="0" anchor="ctr"/>
          <a:lstStyle/>
          <a:p>
            <a:pPr indent="0" marL="0">
              <a:buNone/>
            </a:pPr>
            <a:r>
              <a:rPr lang="en-US" sz="1300" i="1" dirty="0">
                <a:solidFill>
                  <a:schemeClr val="tx2"/>
                </a:solidFill>
              </a:rPr>
              <a:t>[THE HIVE: what broke, and who could fix it]</a:t>
            </a:r>
            <a:endParaRPr lang="en-US" sz="1300" dirty="0"/>
          </a:p>
        </p:txBody>
      </p:sp>
      <p:sp>
        <p:nvSpPr>
          <p:cNvPr id="17" name="rt2"/>
          <p:cNvSpPr txBox="1"/>
          <p:nvPr/>
        </p:nvSpPr>
        <p:spPr>
          <a:xfrm>
            <a:off x="6492240" y="3328416"/>
            <a:ext cx="5029200" cy="658368"/>
          </a:xfrm>
          <a:prstGeom prst="rect">
            <a:avLst/>
          </a:prstGeom>
          <a:noFill/>
          <a:ln/>
        </p:spPr>
        <p:txBody>
          <a:bodyPr wrap="square" lIns="0" tIns="0" rIns="0" bIns="0" rtlCol="0" anchor="ctr"/>
          <a:lstStyle/>
          <a:p>
            <a:pPr indent="0" marL="0">
              <a:buNone/>
            </a:pPr>
            <a:r>
              <a:rPr lang="en-US" sz="1300" dirty="0">
                <a:solidFill>
                  <a:schemeClr val="tx1"/>
                </a:solidFill>
              </a:rPr>
              <a:t>Mechanical mentor fixed strafe, flywheel bump and controls — in English, no Java</a:t>
            </a:r>
            <a:endParaRPr lang="en-US" sz="1300" dirty="0"/>
          </a:p>
        </p:txBody>
      </p:sp>
      <p:sp>
        <p:nvSpPr>
          <p:cNvPr id="18" name="l3"/>
          <p:cNvSpPr/>
          <p:nvPr/>
        </p:nvSpPr>
        <p:spPr>
          <a:xfrm>
            <a:off x="457200" y="4078224"/>
            <a:ext cx="5394960" cy="658368"/>
          </a:xfrm>
          <a:prstGeom prst="roundRect">
            <a:avLst>
              <a:gd name="adj" fmla="val 16667"/>
            </a:avLst>
          </a:prstGeom>
          <a:solidFill>
            <a:schemeClr val="bg2"/>
          </a:solidFill>
          <a:ln w="12700">
            <a:solidFill>
              <a:schemeClr val="bg2"/>
            </a:solidFill>
            <a:prstDash val="solid"/>
          </a:ln>
        </p:spPr>
      </p:sp>
      <p:sp>
        <p:nvSpPr>
          <p:cNvPr id="19" name="r3"/>
          <p:cNvSpPr/>
          <p:nvPr/>
        </p:nvSpPr>
        <p:spPr>
          <a:xfrm>
            <a:off x="6309360" y="4078224"/>
            <a:ext cx="5394960" cy="658368"/>
          </a:xfrm>
          <a:prstGeom prst="roundRect">
            <a:avLst>
              <a:gd name="adj" fmla="val 16667"/>
            </a:avLst>
          </a:prstGeom>
          <a:solidFill>
            <a:schemeClr val="bg2"/>
          </a:solidFill>
          <a:ln w="12700">
            <a:solidFill>
              <a:schemeClr val="bg2"/>
            </a:solidFill>
            <a:prstDash val="solid"/>
          </a:ln>
        </p:spPr>
      </p:sp>
      <p:sp>
        <p:nvSpPr>
          <p:cNvPr id="20" name="lt3"/>
          <p:cNvSpPr txBox="1"/>
          <p:nvPr/>
        </p:nvSpPr>
        <p:spPr>
          <a:xfrm>
            <a:off x="640080" y="4078224"/>
            <a:ext cx="5029200" cy="658368"/>
          </a:xfrm>
          <a:prstGeom prst="rect">
            <a:avLst/>
          </a:prstGeom>
          <a:noFill/>
          <a:ln/>
        </p:spPr>
        <p:txBody>
          <a:bodyPr wrap="square" lIns="0" tIns="0" rIns="0" bIns="0" rtlCol="0" anchor="ctr"/>
          <a:lstStyle/>
          <a:p>
            <a:pPr indent="0" marL="0">
              <a:buNone/>
            </a:pPr>
            <a:r>
              <a:rPr lang="en-US" sz="1300" i="1" dirty="0">
                <a:solidFill>
                  <a:schemeClr val="tx2"/>
                </a:solidFill>
              </a:rPr>
              <a:t>[THE HIVE: how a mechanical change reached the code]</a:t>
            </a:r>
            <a:endParaRPr lang="en-US" sz="1300" dirty="0"/>
          </a:p>
        </p:txBody>
      </p:sp>
      <p:sp>
        <p:nvSpPr>
          <p:cNvPr id="21" name="rt3"/>
          <p:cNvSpPr txBox="1"/>
          <p:nvPr/>
        </p:nvSpPr>
        <p:spPr>
          <a:xfrm>
            <a:off x="6492240" y="4078224"/>
            <a:ext cx="5029200" cy="658368"/>
          </a:xfrm>
          <a:prstGeom prst="rect">
            <a:avLst/>
          </a:prstGeom>
          <a:noFill/>
          <a:ln/>
        </p:spPr>
        <p:txBody>
          <a:bodyPr wrap="square" lIns="0" tIns="0" rIns="0" bIns="0" rtlCol="0" anchor="ctr"/>
          <a:lstStyle/>
          <a:p>
            <a:pPr indent="0" marL="0">
              <a:buNone/>
            </a:pPr>
            <a:r>
              <a:rPr lang="en-US" sz="1300" dirty="0">
                <a:solidFill>
                  <a:schemeClr val="tx1"/>
                </a:solidFill>
              </a:rPr>
              <a:t>Firewheel transfer servos came out Sep 18 (reported 7:50 PM); code reworked that night by describing the new design</a:t>
            </a:r>
            <a:endParaRPr lang="en-US" sz="1300" dirty="0"/>
          </a:p>
        </p:txBody>
      </p:sp>
      <p:sp>
        <p:nvSpPr>
          <p:cNvPr id="22" name="l4"/>
          <p:cNvSpPr/>
          <p:nvPr/>
        </p:nvSpPr>
        <p:spPr>
          <a:xfrm>
            <a:off x="457200" y="4828032"/>
            <a:ext cx="5394960" cy="658368"/>
          </a:xfrm>
          <a:prstGeom prst="roundRect">
            <a:avLst>
              <a:gd name="adj" fmla="val 16667"/>
            </a:avLst>
          </a:prstGeom>
          <a:solidFill>
            <a:schemeClr val="bg2"/>
          </a:solidFill>
          <a:ln w="12700">
            <a:solidFill>
              <a:schemeClr val="bg2"/>
            </a:solidFill>
            <a:prstDash val="solid"/>
          </a:ln>
        </p:spPr>
      </p:sp>
      <p:sp>
        <p:nvSpPr>
          <p:cNvPr id="23" name="r4"/>
          <p:cNvSpPr/>
          <p:nvPr/>
        </p:nvSpPr>
        <p:spPr>
          <a:xfrm>
            <a:off x="6309360" y="4828032"/>
            <a:ext cx="5394960" cy="658368"/>
          </a:xfrm>
          <a:prstGeom prst="roundRect">
            <a:avLst>
              <a:gd name="adj" fmla="val 16667"/>
            </a:avLst>
          </a:prstGeom>
          <a:solidFill>
            <a:schemeClr val="bg2"/>
          </a:solidFill>
          <a:ln w="12700">
            <a:solidFill>
              <a:schemeClr val="bg2"/>
            </a:solidFill>
            <a:prstDash val="solid"/>
          </a:ln>
        </p:spPr>
      </p:sp>
      <p:sp>
        <p:nvSpPr>
          <p:cNvPr id="24" name="lt4"/>
          <p:cNvSpPr txBox="1"/>
          <p:nvPr/>
        </p:nvSpPr>
        <p:spPr>
          <a:xfrm>
            <a:off x="640080" y="4828032"/>
            <a:ext cx="5029200" cy="658368"/>
          </a:xfrm>
          <a:prstGeom prst="rect">
            <a:avLst/>
          </a:prstGeom>
          <a:noFill/>
          <a:ln/>
        </p:spPr>
        <p:txBody>
          <a:bodyPr wrap="square" lIns="0" tIns="0" rIns="0" bIns="0" rtlCol="0" anchor="ctr"/>
          <a:lstStyle/>
          <a:p>
            <a:pPr indent="0" marL="0">
              <a:buNone/>
            </a:pPr>
            <a:r>
              <a:rPr lang="en-US" sz="1300" i="1" dirty="0">
                <a:solidFill>
                  <a:schemeClr val="tx2"/>
                </a:solidFill>
              </a:rPr>
              <a:t>[THE HIVE: what we understood about our code]</a:t>
            </a:r>
            <a:endParaRPr lang="en-US" sz="1300" dirty="0"/>
          </a:p>
        </p:txBody>
      </p:sp>
      <p:sp>
        <p:nvSpPr>
          <p:cNvPr id="25" name="rt4"/>
          <p:cNvSpPr txBox="1"/>
          <p:nvPr/>
        </p:nvSpPr>
        <p:spPr>
          <a:xfrm>
            <a:off x="6492240" y="4828032"/>
            <a:ext cx="5029200" cy="658368"/>
          </a:xfrm>
          <a:prstGeom prst="rect">
            <a:avLst/>
          </a:prstGeom>
          <a:noFill/>
          <a:ln/>
        </p:spPr>
        <p:txBody>
          <a:bodyPr wrap="square" lIns="0" tIns="0" rIns="0" bIns="0" rtlCol="0" anchor="ctr"/>
          <a:lstStyle/>
          <a:p>
            <a:pPr indent="0" marL="0">
              <a:buNone/>
            </a:pPr>
            <a:r>
              <a:rPr lang="en-US" sz="1300" dirty="0">
                <a:solidFill>
                  <a:schemeClr val="tx1"/>
                </a:solidFill>
              </a:rPr>
              <a:t>Someone still has to read what Gemini wrote — the Reader role</a:t>
            </a:r>
            <a:endParaRPr lang="en-US" sz="1300" dirty="0"/>
          </a:p>
        </p:txBody>
      </p:sp>
      <p:sp>
        <p:nvSpPr>
          <p:cNvPr id="26" name="takeaway"/>
          <p:cNvSpPr txBox="1"/>
          <p:nvPr/>
        </p:nvSpPr>
        <p:spPr>
          <a:xfrm>
            <a:off x="457200" y="5715000"/>
            <a:ext cx="11247120" cy="411480"/>
          </a:xfrm>
          <a:prstGeom prst="rect">
            <a:avLst/>
          </a:prstGeom>
          <a:noFill/>
          <a:ln/>
        </p:spPr>
        <p:txBody>
          <a:bodyPr wrap="square" lIns="0" tIns="0" rIns="0" bIns="0" rtlCol="0" anchor="t"/>
          <a:lstStyle/>
          <a:p>
            <a:pPr indent="0" marL="0">
              <a:buNone/>
            </a:pPr>
            <a:r>
              <a:rPr lang="en-US" sz="1500" b="1" dirty="0">
                <a:solidFill>
                  <a:schemeClr val="accent1"/>
                </a:solidFill>
              </a:rPr>
              <a:t>The bottleneck moved: from “who can type Java” to “who can describe the robot precisely.”</a:t>
            </a:r>
            <a:endParaRPr lang="en-US" sz="15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Seventy years of “that's not real programming”</a:t>
            </a:r>
            <a:endParaRPr lang="en-US" sz="3200" dirty="0"/>
          </a:p>
        </p:txBody>
      </p:sp>
      <p:sp>
        <p:nvSpPr>
          <p:cNvPr id="4" name="year 1954"/>
          <p:cNvSpPr txBox="1"/>
          <p:nvPr/>
        </p:nvSpPr>
        <p:spPr>
          <a:xfrm>
            <a:off x="457200" y="1325880"/>
            <a:ext cx="822960" cy="713232"/>
          </a:xfrm>
          <a:prstGeom prst="rect">
            <a:avLst/>
          </a:prstGeom>
          <a:noFill/>
          <a:ln/>
        </p:spPr>
        <p:txBody>
          <a:bodyPr wrap="square" lIns="0" tIns="0" rIns="0" bIns="0" rtlCol="0" anchor="ctr"/>
          <a:lstStyle/>
          <a:p>
            <a:pPr indent="0" marL="0">
              <a:buNone/>
            </a:pPr>
            <a:r>
              <a:rPr lang="en-US" sz="2200" b="1" dirty="0">
                <a:solidFill>
                  <a:schemeClr val="accent1"/>
                </a:solidFill>
              </a:rPr>
              <a:t>1954</a:t>
            </a:r>
            <a:endParaRPr lang="en-US" sz="2200" dirty="0"/>
          </a:p>
        </p:txBody>
      </p:sp>
      <p:sp>
        <p:nvSpPr>
          <p:cNvPr id="5" name="layer 1954"/>
          <p:cNvSpPr txBox="1"/>
          <p:nvPr/>
        </p:nvSpPr>
        <p:spPr>
          <a:xfrm>
            <a:off x="1325880" y="1325880"/>
            <a:ext cx="1600200" cy="713232"/>
          </a:xfrm>
          <a:prstGeom prst="rect">
            <a:avLst/>
          </a:prstGeom>
          <a:noFill/>
          <a:ln/>
        </p:spPr>
        <p:txBody>
          <a:bodyPr wrap="square" lIns="0" tIns="0" rIns="0" bIns="0" rtlCol="0" anchor="ctr"/>
          <a:lstStyle/>
          <a:p>
            <a:pPr indent="0" marL="0">
              <a:buNone/>
            </a:pPr>
            <a:r>
              <a:rPr lang="en-US" sz="1500" b="1" dirty="0">
                <a:solidFill>
                  <a:schemeClr val="tx1"/>
                </a:solidFill>
              </a:rPr>
              <a:t>FORTRAN</a:t>
            </a:r>
            <a:endParaRPr lang="en-US" sz="1500" dirty="0"/>
          </a:p>
        </p:txBody>
      </p:sp>
      <p:sp>
        <p:nvSpPr>
          <p:cNvPr id="6" name="quote 1954"/>
          <p:cNvSpPr txBox="1"/>
          <p:nvPr/>
        </p:nvSpPr>
        <p:spPr>
          <a:xfrm>
            <a:off x="3017520" y="1325880"/>
            <a:ext cx="8686800" cy="713232"/>
          </a:xfrm>
          <a:prstGeom prst="rect">
            <a:avLst/>
          </a:prstGeom>
          <a:noFill/>
          <a:ln/>
        </p:spPr>
        <p:txBody>
          <a:bodyPr wrap="square" lIns="0" tIns="0" rIns="0" bIns="0" rtlCol="0" anchor="ctr"/>
          <a:lstStyle/>
          <a:p>
            <a:pPr indent="0" marL="0">
              <a:buNone/>
            </a:pPr>
            <a:r>
              <a:rPr lang="en-US" sz="1500" i="1" dirty="0">
                <a:solidFill>
                  <a:schemeClr val="tx2"/>
                </a:solidFill>
              </a:rPr>
              <a:t>“the strength of the skepticism about ‘automatic programming’… as it existed in 1954” — John Backus, who led the FORTRAN team, writing in 1978</a:t>
            </a:r>
            <a:endParaRPr lang="en-US" sz="1500" dirty="0"/>
          </a:p>
        </p:txBody>
      </p:sp>
      <p:sp>
        <p:nvSpPr>
          <p:cNvPr id="7" name="year 1983"/>
          <p:cNvSpPr txBox="1"/>
          <p:nvPr/>
        </p:nvSpPr>
        <p:spPr>
          <a:xfrm>
            <a:off x="457200" y="2112264"/>
            <a:ext cx="822960" cy="713232"/>
          </a:xfrm>
          <a:prstGeom prst="rect">
            <a:avLst/>
          </a:prstGeom>
          <a:noFill/>
          <a:ln/>
        </p:spPr>
        <p:txBody>
          <a:bodyPr wrap="square" lIns="0" tIns="0" rIns="0" bIns="0" rtlCol="0" anchor="ctr"/>
          <a:lstStyle/>
          <a:p>
            <a:pPr indent="0" marL="0">
              <a:buNone/>
            </a:pPr>
            <a:r>
              <a:rPr lang="en-US" sz="2200" b="1" dirty="0">
                <a:solidFill>
                  <a:schemeClr val="accent1"/>
                </a:solidFill>
              </a:rPr>
              <a:t>1983</a:t>
            </a:r>
            <a:endParaRPr lang="en-US" sz="2200" dirty="0"/>
          </a:p>
        </p:txBody>
      </p:sp>
      <p:sp>
        <p:nvSpPr>
          <p:cNvPr id="8" name="layer 1983"/>
          <p:cNvSpPr txBox="1"/>
          <p:nvPr/>
        </p:nvSpPr>
        <p:spPr>
          <a:xfrm>
            <a:off x="1325880" y="2112264"/>
            <a:ext cx="1600200" cy="713232"/>
          </a:xfrm>
          <a:prstGeom prst="rect">
            <a:avLst/>
          </a:prstGeom>
          <a:noFill/>
          <a:ln/>
        </p:spPr>
        <p:txBody>
          <a:bodyPr wrap="square" lIns="0" tIns="0" rIns="0" bIns="0" rtlCol="0" anchor="ctr"/>
          <a:lstStyle/>
          <a:p>
            <a:pPr indent="0" marL="0">
              <a:buNone/>
            </a:pPr>
            <a:r>
              <a:rPr lang="en-US" sz="1500" b="1" dirty="0">
                <a:solidFill>
                  <a:schemeClr val="tx1"/>
                </a:solidFill>
              </a:rPr>
              <a:t>Pascal</a:t>
            </a:r>
            <a:endParaRPr lang="en-US" sz="1500" dirty="0"/>
          </a:p>
        </p:txBody>
      </p:sp>
      <p:sp>
        <p:nvSpPr>
          <p:cNvPr id="9" name="quote 1983"/>
          <p:cNvSpPr txBox="1"/>
          <p:nvPr/>
        </p:nvSpPr>
        <p:spPr>
          <a:xfrm>
            <a:off x="3017520" y="2112264"/>
            <a:ext cx="8686800" cy="713232"/>
          </a:xfrm>
          <a:prstGeom prst="rect">
            <a:avLst/>
          </a:prstGeom>
          <a:noFill/>
          <a:ln/>
        </p:spPr>
        <p:txBody>
          <a:bodyPr wrap="square" lIns="0" tIns="0" rIns="0" bIns="0" rtlCol="0" anchor="ctr"/>
          <a:lstStyle/>
          <a:p>
            <a:pPr indent="0" marL="0">
              <a:buNone/>
            </a:pPr>
            <a:r>
              <a:rPr lang="en-US" sz="1500" i="1" dirty="0">
                <a:solidFill>
                  <a:schemeClr val="tx2"/>
                </a:solidFill>
              </a:rPr>
              <a:t>“Real Programmers use FORTRAN. Quiche Eaters use PASCAL.” — Ed Post</a:t>
            </a:r>
            <a:endParaRPr lang="en-US" sz="1500" dirty="0"/>
          </a:p>
        </p:txBody>
      </p:sp>
      <p:sp>
        <p:nvSpPr>
          <p:cNvPr id="10" name="year 2005"/>
          <p:cNvSpPr txBox="1"/>
          <p:nvPr/>
        </p:nvSpPr>
        <p:spPr>
          <a:xfrm>
            <a:off x="457200" y="2898648"/>
            <a:ext cx="822960" cy="713232"/>
          </a:xfrm>
          <a:prstGeom prst="rect">
            <a:avLst/>
          </a:prstGeom>
          <a:noFill/>
          <a:ln/>
        </p:spPr>
        <p:txBody>
          <a:bodyPr wrap="square" lIns="0" tIns="0" rIns="0" bIns="0" rtlCol="0" anchor="ctr"/>
          <a:lstStyle/>
          <a:p>
            <a:pPr indent="0" marL="0">
              <a:buNone/>
            </a:pPr>
            <a:r>
              <a:rPr lang="en-US" sz="2200" b="1" dirty="0">
                <a:solidFill>
                  <a:schemeClr val="accent1"/>
                </a:solidFill>
              </a:rPr>
              <a:t>2005</a:t>
            </a:r>
            <a:endParaRPr lang="en-US" sz="2200" dirty="0"/>
          </a:p>
        </p:txBody>
      </p:sp>
      <p:sp>
        <p:nvSpPr>
          <p:cNvPr id="11" name="layer 2005"/>
          <p:cNvSpPr txBox="1"/>
          <p:nvPr/>
        </p:nvSpPr>
        <p:spPr>
          <a:xfrm>
            <a:off x="1325880" y="2898648"/>
            <a:ext cx="1600200" cy="713232"/>
          </a:xfrm>
          <a:prstGeom prst="rect">
            <a:avLst/>
          </a:prstGeom>
          <a:noFill/>
          <a:ln/>
        </p:spPr>
        <p:txBody>
          <a:bodyPr wrap="square" lIns="0" tIns="0" rIns="0" bIns="0" rtlCol="0" anchor="ctr"/>
          <a:lstStyle/>
          <a:p>
            <a:pPr indent="0" marL="0">
              <a:buNone/>
            </a:pPr>
            <a:r>
              <a:rPr lang="en-US" sz="1500" b="1" dirty="0">
                <a:solidFill>
                  <a:schemeClr val="tx1"/>
                </a:solidFill>
              </a:rPr>
              <a:t>IDE autocomplete</a:t>
            </a:r>
            <a:endParaRPr lang="en-US" sz="1500" dirty="0"/>
          </a:p>
        </p:txBody>
      </p:sp>
      <p:sp>
        <p:nvSpPr>
          <p:cNvPr id="12" name="quote 2005"/>
          <p:cNvSpPr txBox="1"/>
          <p:nvPr/>
        </p:nvSpPr>
        <p:spPr>
          <a:xfrm>
            <a:off x="3017520" y="2898648"/>
            <a:ext cx="8686800" cy="713232"/>
          </a:xfrm>
          <a:prstGeom prst="rect">
            <a:avLst/>
          </a:prstGeom>
          <a:noFill/>
          <a:ln/>
        </p:spPr>
        <p:txBody>
          <a:bodyPr wrap="square" lIns="0" tIns="0" rIns="0" bIns="0" rtlCol="0" anchor="ctr"/>
          <a:lstStyle/>
          <a:p>
            <a:pPr indent="0" marL="0">
              <a:buNone/>
            </a:pPr>
            <a:r>
              <a:rPr lang="en-US" sz="1500" i="1" dirty="0">
                <a:solidFill>
                  <a:schemeClr val="tx2"/>
                </a:solidFill>
              </a:rPr>
              <a:t>“And I think it's making us dumber.” — Charles Petzold, on IntelliSense</a:t>
            </a:r>
            <a:endParaRPr lang="en-US" sz="1500" dirty="0"/>
          </a:p>
        </p:txBody>
      </p:sp>
      <p:sp>
        <p:nvSpPr>
          <p:cNvPr id="13" name="year 2017"/>
          <p:cNvSpPr txBox="1"/>
          <p:nvPr/>
        </p:nvSpPr>
        <p:spPr>
          <a:xfrm>
            <a:off x="457200" y="3685032"/>
            <a:ext cx="822960" cy="713232"/>
          </a:xfrm>
          <a:prstGeom prst="rect">
            <a:avLst/>
          </a:prstGeom>
          <a:noFill/>
          <a:ln/>
        </p:spPr>
        <p:txBody>
          <a:bodyPr wrap="square" lIns="0" tIns="0" rIns="0" bIns="0" rtlCol="0" anchor="ctr"/>
          <a:lstStyle/>
          <a:p>
            <a:pPr indent="0" marL="0">
              <a:buNone/>
            </a:pPr>
            <a:r>
              <a:rPr lang="en-US" sz="2200" b="1" dirty="0">
                <a:solidFill>
                  <a:schemeClr val="accent1"/>
                </a:solidFill>
              </a:rPr>
              <a:t>2017</a:t>
            </a:r>
            <a:endParaRPr lang="en-US" sz="2200" dirty="0"/>
          </a:p>
        </p:txBody>
      </p:sp>
      <p:sp>
        <p:nvSpPr>
          <p:cNvPr id="14" name="layer 2017"/>
          <p:cNvSpPr txBox="1"/>
          <p:nvPr/>
        </p:nvSpPr>
        <p:spPr>
          <a:xfrm>
            <a:off x="1325880" y="3685032"/>
            <a:ext cx="1600200" cy="713232"/>
          </a:xfrm>
          <a:prstGeom prst="rect">
            <a:avLst/>
          </a:prstGeom>
          <a:noFill/>
          <a:ln/>
        </p:spPr>
        <p:txBody>
          <a:bodyPr wrap="square" lIns="0" tIns="0" rIns="0" bIns="0" rtlCol="0" anchor="ctr"/>
          <a:lstStyle/>
          <a:p>
            <a:pPr indent="0" marL="0">
              <a:buNone/>
            </a:pPr>
            <a:r>
              <a:rPr lang="en-US" sz="1500" b="1" dirty="0">
                <a:solidFill>
                  <a:schemeClr val="tx1"/>
                </a:solidFill>
              </a:rPr>
              <a:t>Stack Overflow</a:t>
            </a:r>
            <a:endParaRPr lang="en-US" sz="1500" dirty="0"/>
          </a:p>
        </p:txBody>
      </p:sp>
      <p:sp>
        <p:nvSpPr>
          <p:cNvPr id="15" name="quote 2017"/>
          <p:cNvSpPr txBox="1"/>
          <p:nvPr/>
        </p:nvSpPr>
        <p:spPr>
          <a:xfrm>
            <a:off x="3017520" y="3685032"/>
            <a:ext cx="8686800" cy="713232"/>
          </a:xfrm>
          <a:prstGeom prst="rect">
            <a:avLst/>
          </a:prstGeom>
          <a:noFill/>
          <a:ln/>
        </p:spPr>
        <p:txBody>
          <a:bodyPr wrap="square" lIns="0" tIns="0" rIns="0" bIns="0" rtlCol="0" anchor="ctr"/>
          <a:lstStyle/>
          <a:p>
            <a:pPr indent="0" marL="0">
              <a:buNone/>
            </a:pPr>
            <a:r>
              <a:rPr lang="en-US" sz="1500" dirty="0">
                <a:solidFill>
                  <a:schemeClr val="tx2"/>
                </a:solidFill>
              </a:rPr>
              <a:t>15.4% of 1.3 M Android apps contained security-related code copied from Stack Overflow; 97.9% of those had an insecure snippet — Fischer et al., IEEE S&amp;P</a:t>
            </a:r>
            <a:endParaRPr lang="en-US" sz="1500" dirty="0"/>
          </a:p>
        </p:txBody>
      </p:sp>
      <p:sp>
        <p:nvSpPr>
          <p:cNvPr id="16" name="year 2026"/>
          <p:cNvSpPr txBox="1"/>
          <p:nvPr/>
        </p:nvSpPr>
        <p:spPr>
          <a:xfrm>
            <a:off x="457200" y="4471416"/>
            <a:ext cx="822960" cy="713232"/>
          </a:xfrm>
          <a:prstGeom prst="rect">
            <a:avLst/>
          </a:prstGeom>
          <a:noFill/>
          <a:ln/>
        </p:spPr>
        <p:txBody>
          <a:bodyPr wrap="square" lIns="0" tIns="0" rIns="0" bIns="0" rtlCol="0" anchor="ctr"/>
          <a:lstStyle/>
          <a:p>
            <a:pPr indent="0" marL="0">
              <a:buNone/>
            </a:pPr>
            <a:r>
              <a:rPr lang="en-US" sz="2200" b="1" dirty="0">
                <a:solidFill>
                  <a:schemeClr val="accent1"/>
                </a:solidFill>
              </a:rPr>
              <a:t>2026</a:t>
            </a:r>
            <a:endParaRPr lang="en-US" sz="2200" dirty="0"/>
          </a:p>
        </p:txBody>
      </p:sp>
      <p:sp>
        <p:nvSpPr>
          <p:cNvPr id="17" name="layer 2026"/>
          <p:cNvSpPr txBox="1"/>
          <p:nvPr/>
        </p:nvSpPr>
        <p:spPr>
          <a:xfrm>
            <a:off x="1325880" y="4471416"/>
            <a:ext cx="1600200" cy="713232"/>
          </a:xfrm>
          <a:prstGeom prst="rect">
            <a:avLst/>
          </a:prstGeom>
          <a:noFill/>
          <a:ln/>
        </p:spPr>
        <p:txBody>
          <a:bodyPr wrap="square" lIns="0" tIns="0" rIns="0" bIns="0" rtlCol="0" anchor="ctr"/>
          <a:lstStyle/>
          <a:p>
            <a:pPr indent="0" marL="0">
              <a:buNone/>
            </a:pPr>
            <a:r>
              <a:rPr lang="en-US" sz="1500" b="1" dirty="0">
                <a:solidFill>
                  <a:schemeClr val="tx1"/>
                </a:solidFill>
              </a:rPr>
              <a:t>AI coding</a:t>
            </a:r>
            <a:endParaRPr lang="en-US" sz="1500" dirty="0"/>
          </a:p>
        </p:txBody>
      </p:sp>
      <p:sp>
        <p:nvSpPr>
          <p:cNvPr id="18" name="quote 2026"/>
          <p:cNvSpPr txBox="1"/>
          <p:nvPr/>
        </p:nvSpPr>
        <p:spPr>
          <a:xfrm>
            <a:off x="3017520" y="4471416"/>
            <a:ext cx="8686800" cy="713232"/>
          </a:xfrm>
          <a:prstGeom prst="rect">
            <a:avLst/>
          </a:prstGeom>
          <a:noFill/>
          <a:ln/>
        </p:spPr>
        <p:txBody>
          <a:bodyPr wrap="square" lIns="0" tIns="0" rIns="0" bIns="0" rtlCol="0" anchor="ctr"/>
          <a:lstStyle/>
          <a:p>
            <a:pPr indent="0" marL="0">
              <a:buNone/>
            </a:pPr>
            <a:r>
              <a:rPr lang="en-US" sz="1500" dirty="0">
                <a:solidFill>
                  <a:schemeClr val="tx2"/>
                </a:solidFill>
              </a:rPr>
              <a:t>Gemini drove our mentors' autonomous through a fake gamepad. It worked. A human reading the code caught it.</a:t>
            </a:r>
            <a:endParaRPr lang="en-US" sz="1500" dirty="0"/>
          </a:p>
        </p:txBody>
      </p:sp>
      <p:sp>
        <p:nvSpPr>
          <p:cNvPr id="19" name="takeaway"/>
          <p:cNvSpPr txBox="1"/>
          <p:nvPr/>
        </p:nvSpPr>
        <p:spPr>
          <a:xfrm>
            <a:off x="457200" y="5212080"/>
            <a:ext cx="11247120" cy="822960"/>
          </a:xfrm>
          <a:prstGeom prst="rect">
            <a:avLst/>
          </a:prstGeom>
          <a:noFill/>
          <a:ln/>
        </p:spPr>
        <p:txBody>
          <a:bodyPr wrap="square" lIns="0" tIns="0" rIns="0" bIns="0" rtlCol="0" anchor="t"/>
          <a:lstStyle/>
          <a:p>
            <a:pPr indent="0" marL="0">
              <a:buNone/>
            </a:pPr>
            <a:r>
              <a:rPr lang="en-US" sz="1400" b="1" dirty="0">
                <a:solidFill>
                  <a:schemeClr val="accent1"/>
                </a:solidFill>
              </a:rPr>
              <a:t>Every layer took the typing. None took the architecture, the testing, or the reading. — “the hard part of building software [is] the specification, design, and testing of this conceptual construct, not the labor of representing it.” Fred Brooks, 1987</a:t>
            </a:r>
            <a:endParaRPr lang="en-US" sz="14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What the skeptics get right</a:t>
            </a:r>
            <a:endParaRPr lang="en-US" sz="3200" dirty="0"/>
          </a:p>
        </p:txBody>
      </p:sp>
      <p:sp>
        <p:nvSpPr>
          <p:cNvPr id="4" name="study 0"/>
          <p:cNvSpPr/>
          <p:nvPr/>
        </p:nvSpPr>
        <p:spPr>
          <a:xfrm>
            <a:off x="457200" y="1325880"/>
            <a:ext cx="3566160" cy="3703320"/>
          </a:xfrm>
          <a:prstGeom prst="roundRect">
            <a:avLst>
              <a:gd name="adj" fmla="val 3077"/>
            </a:avLst>
          </a:prstGeom>
          <a:solidFill>
            <a:schemeClr val="bg2"/>
          </a:solidFill>
          <a:ln w="12700">
            <a:solidFill>
              <a:schemeClr val="bg2"/>
            </a:solidFill>
            <a:prstDash val="solid"/>
          </a:ln>
        </p:spPr>
      </p:sp>
      <p:sp>
        <p:nvSpPr>
          <p:cNvPr id="5" name="big 0"/>
          <p:cNvSpPr txBox="1"/>
          <p:nvPr/>
        </p:nvSpPr>
        <p:spPr>
          <a:xfrm>
            <a:off x="731520" y="1463040"/>
            <a:ext cx="3017520" cy="822960"/>
          </a:xfrm>
          <a:prstGeom prst="rect">
            <a:avLst/>
          </a:prstGeom>
          <a:noFill/>
          <a:ln/>
        </p:spPr>
        <p:txBody>
          <a:bodyPr wrap="square" lIns="0" tIns="0" rIns="0" bIns="0" rtlCol="0" anchor="ctr"/>
          <a:lstStyle/>
          <a:p>
            <a:pPr indent="0" marL="0">
              <a:buNone/>
            </a:pPr>
            <a:r>
              <a:rPr lang="en-US" sz="3600" b="1" dirty="0">
                <a:solidFill>
                  <a:schemeClr val="accent4"/>
                </a:solidFill>
              </a:rPr>
              <a:t>−17%</a:t>
            </a:r>
            <a:endParaRPr lang="en-US" sz="3600" dirty="0"/>
          </a:p>
        </p:txBody>
      </p:sp>
      <p:sp>
        <p:nvSpPr>
          <p:cNvPr id="6" name="lbl 0"/>
          <p:cNvSpPr txBox="1"/>
          <p:nvPr/>
        </p:nvSpPr>
        <p:spPr>
          <a:xfrm>
            <a:off x="731520" y="2286000"/>
            <a:ext cx="3017520" cy="365760"/>
          </a:xfrm>
          <a:prstGeom prst="rect">
            <a:avLst/>
          </a:prstGeom>
          <a:noFill/>
          <a:ln/>
        </p:spPr>
        <p:txBody>
          <a:bodyPr wrap="square" lIns="0" tIns="0" rIns="0" bIns="0" rtlCol="0" anchor="t"/>
          <a:lstStyle/>
          <a:p>
            <a:pPr indent="0" marL="0">
              <a:buNone/>
            </a:pPr>
            <a:r>
              <a:rPr lang="en-US" sz="1400" b="1" dirty="0">
                <a:solidFill>
                  <a:schemeClr val="tx2"/>
                </a:solidFill>
              </a:rPr>
              <a:t>on the exam</a:t>
            </a:r>
            <a:endParaRPr lang="en-US" sz="1400" dirty="0"/>
          </a:p>
        </p:txBody>
      </p:sp>
      <p:sp>
        <p:nvSpPr>
          <p:cNvPr id="7" name="txt 0"/>
          <p:cNvSpPr txBox="1"/>
          <p:nvPr/>
        </p:nvSpPr>
        <p:spPr>
          <a:xfrm>
            <a:off x="731520" y="2743200"/>
            <a:ext cx="3017520" cy="2194560"/>
          </a:xfrm>
          <a:prstGeom prst="rect">
            <a:avLst/>
          </a:prstGeom>
          <a:noFill/>
          <a:ln/>
        </p:spPr>
        <p:txBody>
          <a:bodyPr wrap="square" lIns="0" tIns="0" rIns="0" bIns="0" rtlCol="0" anchor="t"/>
          <a:lstStyle/>
          <a:p>
            <a:pPr indent="0" marL="0">
              <a:buNone/>
            </a:pPr>
            <a:r>
              <a:rPr lang="en-US" sz="1300" dirty="0">
                <a:solidFill>
                  <a:schemeClr val="tx1"/>
                </a:solidFill>
              </a:rPr>
              <a:t>PNAS 2025 · about 1,000 high-school students (math), randomized. Plain ChatGPT: practice +48%, unassisted exam −17%. A hints-only tutor “largely mitigated” the harm.</a:t>
            </a:r>
            <a:endParaRPr lang="en-US" sz="1300" dirty="0"/>
          </a:p>
        </p:txBody>
      </p:sp>
      <p:sp>
        <p:nvSpPr>
          <p:cNvPr id="8" name="study 1"/>
          <p:cNvSpPr/>
          <p:nvPr/>
        </p:nvSpPr>
        <p:spPr>
          <a:xfrm>
            <a:off x="4297680" y="1325880"/>
            <a:ext cx="3566160" cy="3703320"/>
          </a:xfrm>
          <a:prstGeom prst="roundRect">
            <a:avLst>
              <a:gd name="adj" fmla="val 3077"/>
            </a:avLst>
          </a:prstGeom>
          <a:solidFill>
            <a:schemeClr val="bg2"/>
          </a:solidFill>
          <a:ln w="12700">
            <a:solidFill>
              <a:schemeClr val="bg2"/>
            </a:solidFill>
            <a:prstDash val="solid"/>
          </a:ln>
        </p:spPr>
      </p:sp>
      <p:sp>
        <p:nvSpPr>
          <p:cNvPr id="9" name="big 1"/>
          <p:cNvSpPr txBox="1"/>
          <p:nvPr/>
        </p:nvSpPr>
        <p:spPr>
          <a:xfrm>
            <a:off x="4572000" y="1463040"/>
            <a:ext cx="3017520" cy="822960"/>
          </a:xfrm>
          <a:prstGeom prst="rect">
            <a:avLst/>
          </a:prstGeom>
          <a:noFill/>
          <a:ln/>
        </p:spPr>
        <p:txBody>
          <a:bodyPr wrap="square" lIns="0" tIns="0" rIns="0" bIns="0" rtlCol="0" anchor="ctr"/>
          <a:lstStyle/>
          <a:p>
            <a:pPr indent="0" marL="0">
              <a:buNone/>
            </a:pPr>
            <a:r>
              <a:rPr lang="en-US" sz="3600" b="1" dirty="0">
                <a:solidFill>
                  <a:schemeClr val="accent4"/>
                </a:solidFill>
              </a:rPr>
              <a:t>+19%</a:t>
            </a:r>
            <a:endParaRPr lang="en-US" sz="3600" dirty="0"/>
          </a:p>
        </p:txBody>
      </p:sp>
      <p:sp>
        <p:nvSpPr>
          <p:cNvPr id="10" name="lbl 1"/>
          <p:cNvSpPr txBox="1"/>
          <p:nvPr/>
        </p:nvSpPr>
        <p:spPr>
          <a:xfrm>
            <a:off x="4572000" y="2286000"/>
            <a:ext cx="3017520" cy="365760"/>
          </a:xfrm>
          <a:prstGeom prst="rect">
            <a:avLst/>
          </a:prstGeom>
          <a:noFill/>
          <a:ln/>
        </p:spPr>
        <p:txBody>
          <a:bodyPr wrap="square" lIns="0" tIns="0" rIns="0" bIns="0" rtlCol="0" anchor="t"/>
          <a:lstStyle/>
          <a:p>
            <a:pPr indent="0" marL="0">
              <a:buNone/>
            </a:pPr>
            <a:r>
              <a:rPr lang="en-US" sz="1400" b="1" dirty="0">
                <a:solidFill>
                  <a:schemeClr val="tx2"/>
                </a:solidFill>
              </a:rPr>
              <a:t>longer, not shorter</a:t>
            </a:r>
            <a:endParaRPr lang="en-US" sz="1400" dirty="0"/>
          </a:p>
        </p:txBody>
      </p:sp>
      <p:sp>
        <p:nvSpPr>
          <p:cNvPr id="11" name="txt 1"/>
          <p:cNvSpPr txBox="1"/>
          <p:nvPr/>
        </p:nvSpPr>
        <p:spPr>
          <a:xfrm>
            <a:off x="4572000" y="2743200"/>
            <a:ext cx="3017520" cy="2194560"/>
          </a:xfrm>
          <a:prstGeom prst="rect">
            <a:avLst/>
          </a:prstGeom>
          <a:noFill/>
          <a:ln/>
        </p:spPr>
        <p:txBody>
          <a:bodyPr wrap="square" lIns="0" tIns="0" rIns="0" bIns="0" rtlCol="0" anchor="t"/>
          <a:lstStyle/>
          <a:p>
            <a:pPr indent="0" marL="0">
              <a:buNone/>
            </a:pPr>
            <a:r>
              <a:rPr lang="en-US" sz="1300" dirty="0">
                <a:solidFill>
                  <a:schemeClr val="tx1"/>
                </a:solidFill>
              </a:rPr>
              <a:t>METR 2025 · 16 expert maintainers on their own code, 246 tasks. With AI they took 19% longer — and believed they'd been 20% faster.</a:t>
            </a:r>
            <a:endParaRPr lang="en-US" sz="1300" dirty="0"/>
          </a:p>
        </p:txBody>
      </p:sp>
      <p:sp>
        <p:nvSpPr>
          <p:cNvPr id="12" name="study 2"/>
          <p:cNvSpPr/>
          <p:nvPr/>
        </p:nvSpPr>
        <p:spPr>
          <a:xfrm>
            <a:off x="8138160" y="1325880"/>
            <a:ext cx="3566160" cy="3703320"/>
          </a:xfrm>
          <a:prstGeom prst="roundRect">
            <a:avLst>
              <a:gd name="adj" fmla="val 3077"/>
            </a:avLst>
          </a:prstGeom>
          <a:solidFill>
            <a:schemeClr val="bg2"/>
          </a:solidFill>
          <a:ln w="12700">
            <a:solidFill>
              <a:schemeClr val="bg2"/>
            </a:solidFill>
            <a:prstDash val="solid"/>
          </a:ln>
        </p:spPr>
      </p:sp>
      <p:sp>
        <p:nvSpPr>
          <p:cNvPr id="13" name="big 2"/>
          <p:cNvSpPr txBox="1"/>
          <p:nvPr/>
        </p:nvSpPr>
        <p:spPr>
          <a:xfrm>
            <a:off x="8412480" y="1463040"/>
            <a:ext cx="3017520" cy="822960"/>
          </a:xfrm>
          <a:prstGeom prst="rect">
            <a:avLst/>
          </a:prstGeom>
          <a:noFill/>
          <a:ln/>
        </p:spPr>
        <p:txBody>
          <a:bodyPr wrap="square" lIns="0" tIns="0" rIns="0" bIns="0" rtlCol="0" anchor="ctr"/>
          <a:lstStyle/>
          <a:p>
            <a:pPr indent="0" marL="0">
              <a:buNone/>
            </a:pPr>
            <a:r>
              <a:rPr lang="en-US" sz="3600" b="1" dirty="0">
                <a:solidFill>
                  <a:schemeClr val="accent4"/>
                </a:solidFill>
              </a:rPr>
              <a:t>50 vs 67</a:t>
            </a:r>
            <a:endParaRPr lang="en-US" sz="3600" dirty="0"/>
          </a:p>
        </p:txBody>
      </p:sp>
      <p:sp>
        <p:nvSpPr>
          <p:cNvPr id="14" name="lbl 2"/>
          <p:cNvSpPr txBox="1"/>
          <p:nvPr/>
        </p:nvSpPr>
        <p:spPr>
          <a:xfrm>
            <a:off x="8412480" y="2286000"/>
            <a:ext cx="3017520" cy="365760"/>
          </a:xfrm>
          <a:prstGeom prst="rect">
            <a:avLst/>
          </a:prstGeom>
          <a:noFill/>
          <a:ln/>
        </p:spPr>
        <p:txBody>
          <a:bodyPr wrap="square" lIns="0" tIns="0" rIns="0" bIns="0" rtlCol="0" anchor="t"/>
          <a:lstStyle/>
          <a:p>
            <a:pPr indent="0" marL="0">
              <a:buNone/>
            </a:pPr>
            <a:r>
              <a:rPr lang="en-US" sz="1400" b="1" dirty="0">
                <a:solidFill>
                  <a:schemeClr val="tx2"/>
                </a:solidFill>
              </a:rPr>
              <a:t>comprehension score</a:t>
            </a:r>
            <a:endParaRPr lang="en-US" sz="1400" dirty="0"/>
          </a:p>
        </p:txBody>
      </p:sp>
      <p:sp>
        <p:nvSpPr>
          <p:cNvPr id="15" name="txt 2"/>
          <p:cNvSpPr txBox="1"/>
          <p:nvPr/>
        </p:nvSpPr>
        <p:spPr>
          <a:xfrm>
            <a:off x="8412480" y="2743200"/>
            <a:ext cx="3017520" cy="2194560"/>
          </a:xfrm>
          <a:prstGeom prst="rect">
            <a:avLst/>
          </a:prstGeom>
          <a:noFill/>
          <a:ln/>
        </p:spPr>
        <p:txBody>
          <a:bodyPr wrap="square" lIns="0" tIns="0" rIns="0" bIns="0" rtlCol="0" anchor="t"/>
          <a:lstStyle/>
          <a:p>
            <a:pPr indent="0" marL="0">
              <a:buNone/>
            </a:pPr>
            <a:r>
              <a:rPr lang="en-US" sz="1300" dirty="0">
                <a:solidFill>
                  <a:schemeClr val="tx1"/>
                </a:solidFill>
              </a:rPr>
              <a:t>Anthropic, Jan 2026 · their own tool, their own study (not peer-reviewed). 52 mostly-junior engineers: AI group understood less, finished ~2 min faster. Delegating hurt; asking questions didn't.</a:t>
            </a:r>
            <a:endParaRPr lang="en-US" sz="1300" dirty="0"/>
          </a:p>
        </p:txBody>
      </p:sp>
      <p:sp>
        <p:nvSpPr>
          <p:cNvPr id="16" name="takeaway"/>
          <p:cNvSpPr txBox="1"/>
          <p:nvPr/>
        </p:nvSpPr>
        <p:spPr>
          <a:xfrm>
            <a:off x="457200" y="5257800"/>
            <a:ext cx="11247120" cy="731520"/>
          </a:xfrm>
          <a:prstGeom prst="rect">
            <a:avLst/>
          </a:prstGeom>
          <a:noFill/>
          <a:ln/>
        </p:spPr>
        <p:txBody>
          <a:bodyPr wrap="square" lIns="0" tIns="0" rIns="0" bIns="0" rtlCol="0" anchor="t"/>
          <a:lstStyle/>
          <a:p>
            <a:pPr indent="0" marL="0">
              <a:buNone/>
            </a:pPr>
            <a:r>
              <a:rPr lang="en-US" sz="1700" b="1" dirty="0">
                <a:solidFill>
                  <a:schemeClr val="accent1"/>
                </a:solidFill>
              </a:rPr>
              <a:t>The harm tracks how you use it. Delegate and auto-accept: you lose understanding. Ask, read the diff, explain it: you don't. That's our rule.</a:t>
            </a:r>
            <a:endParaRPr lang="en-US" sz="17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Our rule: no AI until you can debug without it</a:t>
            </a:r>
            <a:endParaRPr lang="en-US" sz="3200" dirty="0"/>
          </a:p>
        </p:txBody>
      </p:sp>
      <p:sp>
        <p:nvSpPr>
          <p:cNvPr id="4" name="quote card"/>
          <p:cNvSpPr/>
          <p:nvPr/>
        </p:nvSpPr>
        <p:spPr>
          <a:xfrm>
            <a:off x="457200" y="1325880"/>
            <a:ext cx="6949440" cy="2926080"/>
          </a:xfrm>
          <a:prstGeom prst="roundRect">
            <a:avLst>
              <a:gd name="adj" fmla="val 3750"/>
            </a:avLst>
          </a:prstGeom>
          <a:solidFill>
            <a:schemeClr val="bg2"/>
          </a:solidFill>
          <a:ln w="12700">
            <a:solidFill>
              <a:schemeClr val="bg2"/>
            </a:solidFill>
            <a:prstDash val="solid"/>
          </a:ln>
        </p:spPr>
      </p:sp>
      <p:sp>
        <p:nvSpPr>
          <p:cNvPr id="5" name="checklist quote"/>
          <p:cNvSpPr txBox="1"/>
          <p:nvPr/>
        </p:nvSpPr>
        <p:spPr>
          <a:xfrm>
            <a:off x="731520" y="1508760"/>
            <a:ext cx="6400800" cy="2286000"/>
          </a:xfrm>
          <a:prstGeom prst="rect">
            <a:avLst/>
          </a:prstGeom>
          <a:noFill/>
          <a:ln/>
        </p:spPr>
        <p:txBody>
          <a:bodyPr wrap="square" lIns="0" tIns="0" rIns="0" bIns="0" rtlCol="0" anchor="t"/>
          <a:lstStyle/>
          <a:p>
            <a:pPr indent="0" marL="0">
              <a:buNone/>
            </a:pPr>
            <a:r>
              <a:rPr lang="en-US" sz="1700" i="1" dirty="0">
                <a:solidFill>
                  <a:schemeClr val="tx1"/>
                </a:solidFill>
              </a:rPr>
              <a:t>“Do not use AI to help you on these assignments. We will probably use AI during the season. However, if you do not understand the basics of programming taught here, you will not be able to debug the code during the season. And, it becomes painfully obvious if you use AI because you cannot answer how your program works.”</a:t>
            </a:r>
            <a:endParaRPr lang="en-US" sz="1700" dirty="0"/>
          </a:p>
        </p:txBody>
      </p:sp>
      <p:sp>
        <p:nvSpPr>
          <p:cNvPr id="6" name="checklist attribution"/>
          <p:cNvSpPr txBox="1"/>
          <p:nvPr/>
        </p:nvSpPr>
        <p:spPr>
          <a:xfrm>
            <a:off x="731520" y="3794760"/>
            <a:ext cx="6400800" cy="320040"/>
          </a:xfrm>
          <a:prstGeom prst="rect">
            <a:avLst/>
          </a:prstGeom>
          <a:noFill/>
          <a:ln/>
        </p:spPr>
        <p:txBody>
          <a:bodyPr wrap="square" lIns="0" tIns="0" rIns="0" bIns="0" rtlCol="0" anchor="t"/>
          <a:lstStyle/>
          <a:p>
            <a:pPr indent="0" marL="0">
              <a:buNone/>
            </a:pPr>
            <a:r>
              <a:rPr lang="en-US" sz="1200" dirty="0">
                <a:solidFill>
                  <a:schemeClr val="accent1"/>
                </a:solidFill>
              </a:rPr>
              <a:t>— The Hive, 2026 Programming Training Checklist</a:t>
            </a:r>
            <a:endParaRPr lang="en-US" sz="1200" dirty="0"/>
          </a:p>
        </p:txBody>
      </p:sp>
      <p:sp>
        <p:nvSpPr>
          <p:cNvPr id="7" name="hex 14"/>
          <p:cNvSpPr/>
          <p:nvPr/>
        </p:nvSpPr>
        <p:spPr>
          <a:xfrm>
            <a:off x="7772400" y="1371600"/>
            <a:ext cx="640080" cy="640080"/>
          </a:xfrm>
          <a:prstGeom prst="hexagon">
            <a:avLst/>
          </a:prstGeom>
          <a:solidFill>
            <a:schemeClr val="bg1"/>
          </a:solidFill>
          <a:ln w="25400">
            <a:solidFill>
              <a:schemeClr val="accent1"/>
            </a:solidFill>
            <a:prstDash val="solid"/>
          </a:ln>
        </p:spPr>
      </p:sp>
      <p:sp>
        <p:nvSpPr>
          <p:cNvPr id="8" name="hex label 14"/>
          <p:cNvSpPr txBox="1"/>
          <p:nvPr/>
        </p:nvSpPr>
        <p:spPr>
          <a:xfrm>
            <a:off x="7772400" y="1371600"/>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14</a:t>
            </a:r>
            <a:endParaRPr lang="en-US" sz="1800" dirty="0"/>
          </a:p>
        </p:txBody>
      </p:sp>
      <p:sp>
        <p:nvSpPr>
          <p:cNvPr id="9" name="gate 0"/>
          <p:cNvSpPr txBox="1"/>
          <p:nvPr/>
        </p:nvSpPr>
        <p:spPr>
          <a:xfrm>
            <a:off x="8595360" y="1325880"/>
            <a:ext cx="3108960" cy="731520"/>
          </a:xfrm>
          <a:prstGeom prst="rect">
            <a:avLst/>
          </a:prstGeom>
          <a:noFill/>
          <a:ln/>
        </p:spPr>
        <p:txBody>
          <a:bodyPr wrap="square" lIns="0" tIns="0" rIns="0" bIns="0" rtlCol="0" anchor="ctr"/>
          <a:lstStyle/>
          <a:p>
            <a:pPr indent="0" marL="0">
              <a:buNone/>
            </a:pPr>
            <a:r>
              <a:rPr lang="en-US" sz="1300" dirty="0">
                <a:solidFill>
                  <a:schemeClr val="tx1"/>
                </a:solidFill>
              </a:rPr>
              <a:t>chapters of Learn Java for FTC, by hand — read, type, do the exercise</a:t>
            </a:r>
            <a:endParaRPr lang="en-US" sz="1300" dirty="0"/>
          </a:p>
        </p:txBody>
      </p:sp>
      <p:sp>
        <p:nvSpPr>
          <p:cNvPr id="10" name="hex 40"/>
          <p:cNvSpPr/>
          <p:nvPr/>
        </p:nvSpPr>
        <p:spPr>
          <a:xfrm>
            <a:off x="7772400" y="2121408"/>
            <a:ext cx="640080" cy="640080"/>
          </a:xfrm>
          <a:prstGeom prst="hexagon">
            <a:avLst/>
          </a:prstGeom>
          <a:solidFill>
            <a:schemeClr val="bg1"/>
          </a:solidFill>
          <a:ln w="25400">
            <a:solidFill>
              <a:schemeClr val="accent1"/>
            </a:solidFill>
            <a:prstDash val="solid"/>
          </a:ln>
        </p:spPr>
      </p:sp>
      <p:sp>
        <p:nvSpPr>
          <p:cNvPr id="11" name="hex label 40"/>
          <p:cNvSpPr txBox="1"/>
          <p:nvPr/>
        </p:nvSpPr>
        <p:spPr>
          <a:xfrm>
            <a:off x="7772400" y="2121408"/>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40</a:t>
            </a:r>
            <a:endParaRPr lang="en-US" sz="1800" dirty="0"/>
          </a:p>
        </p:txBody>
      </p:sp>
      <p:sp>
        <p:nvSpPr>
          <p:cNvPr id="12" name="gate 1"/>
          <p:cNvSpPr txBox="1"/>
          <p:nvPr/>
        </p:nvSpPr>
        <p:spPr>
          <a:xfrm>
            <a:off x="8595360" y="2075688"/>
            <a:ext cx="3108960" cy="731520"/>
          </a:xfrm>
          <a:prstGeom prst="rect">
            <a:avLst/>
          </a:prstGeom>
          <a:noFill/>
          <a:ln/>
        </p:spPr>
        <p:txBody>
          <a:bodyPr wrap="square" lIns="0" tIns="0" rIns="0" bIns="0" rtlCol="0" anchor="ctr"/>
          <a:lstStyle/>
          <a:p>
            <a:pPr indent="0" marL="0">
              <a:buNone/>
            </a:pPr>
            <a:r>
              <a:rPr lang="en-US" sz="1300" dirty="0">
                <a:solidFill>
                  <a:schemeClr val="tx1"/>
                </a:solidFill>
              </a:rPr>
              <a:t>FTCSIM exercises — Intro, Movement, Sensors, Puzzles, Grabby</a:t>
            </a:r>
            <a:endParaRPr lang="en-US" sz="1300" dirty="0"/>
          </a:p>
        </p:txBody>
      </p:sp>
      <p:sp>
        <p:nvSpPr>
          <p:cNvPr id="13" name="hex 0"/>
          <p:cNvSpPr/>
          <p:nvPr/>
        </p:nvSpPr>
        <p:spPr>
          <a:xfrm>
            <a:off x="7772400" y="2871216"/>
            <a:ext cx="640080" cy="640080"/>
          </a:xfrm>
          <a:prstGeom prst="hexagon">
            <a:avLst/>
          </a:prstGeom>
          <a:solidFill>
            <a:schemeClr val="bg1"/>
          </a:solidFill>
          <a:ln w="25400">
            <a:solidFill>
              <a:schemeClr val="accent1"/>
            </a:solidFill>
            <a:prstDash val="solid"/>
          </a:ln>
        </p:spPr>
      </p:sp>
      <p:sp>
        <p:nvSpPr>
          <p:cNvPr id="14" name="hex label 0"/>
          <p:cNvSpPr txBox="1"/>
          <p:nvPr/>
        </p:nvSpPr>
        <p:spPr>
          <a:xfrm>
            <a:off x="7772400" y="2871216"/>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0</a:t>
            </a:r>
            <a:endParaRPr lang="en-US" sz="1800" dirty="0"/>
          </a:p>
        </p:txBody>
      </p:sp>
      <p:sp>
        <p:nvSpPr>
          <p:cNvPr id="15" name="gate 2"/>
          <p:cNvSpPr txBox="1"/>
          <p:nvPr/>
        </p:nvSpPr>
        <p:spPr>
          <a:xfrm>
            <a:off x="8595360" y="2825496"/>
            <a:ext cx="3108960" cy="731520"/>
          </a:xfrm>
          <a:prstGeom prst="rect">
            <a:avLst/>
          </a:prstGeom>
          <a:noFill/>
          <a:ln/>
        </p:spPr>
        <p:txBody>
          <a:bodyPr wrap="square" lIns="0" tIns="0" rIns="0" bIns="0" rtlCol="0" anchor="ctr"/>
          <a:lstStyle/>
          <a:p>
            <a:pPr indent="0" marL="0">
              <a:buNone/>
            </a:pPr>
            <a:r>
              <a:rPr lang="en-US" sz="1300" dirty="0">
                <a:solidFill>
                  <a:schemeClr val="tx1"/>
                </a:solidFill>
              </a:rPr>
              <a:t>AI until the mentor has checked every box, in order</a:t>
            </a:r>
            <a:endParaRPr lang="en-US" sz="1300" dirty="0"/>
          </a:p>
        </p:txBody>
      </p:sp>
      <p:sp>
        <p:nvSpPr>
          <p:cNvPr id="16" name="hex then"/>
          <p:cNvSpPr/>
          <p:nvPr/>
        </p:nvSpPr>
        <p:spPr>
          <a:xfrm>
            <a:off x="7772400" y="3621024"/>
            <a:ext cx="640080" cy="640080"/>
          </a:xfrm>
          <a:prstGeom prst="hexagon">
            <a:avLst/>
          </a:prstGeom>
          <a:solidFill>
            <a:schemeClr val="bg1"/>
          </a:solidFill>
          <a:ln w="25400">
            <a:solidFill>
              <a:schemeClr val="accent1"/>
            </a:solidFill>
            <a:prstDash val="solid"/>
          </a:ln>
        </p:spPr>
      </p:sp>
      <p:sp>
        <p:nvSpPr>
          <p:cNvPr id="17" name="hex label then"/>
          <p:cNvSpPr txBox="1"/>
          <p:nvPr/>
        </p:nvSpPr>
        <p:spPr>
          <a:xfrm>
            <a:off x="7772400" y="3621024"/>
            <a:ext cx="640080" cy="640080"/>
          </a:xfrm>
          <a:prstGeom prst="rect">
            <a:avLst/>
          </a:prstGeom>
          <a:noFill/>
          <a:ln/>
        </p:spPr>
        <p:txBody>
          <a:bodyPr wrap="square" lIns="0" tIns="0" rIns="0" bIns="0" rtlCol="0" anchor="ctr"/>
          <a:lstStyle/>
          <a:p>
            <a:pPr algn="ctr" indent="0" marL="0">
              <a:buNone/>
            </a:pPr>
            <a:r>
              <a:rPr lang="en-US" sz="1200" b="1" dirty="0">
                <a:solidFill>
                  <a:schemeClr val="accent1"/>
                </a:solidFill>
              </a:rPr>
              <a:t>then</a:t>
            </a:r>
            <a:endParaRPr lang="en-US" sz="1200" dirty="0"/>
          </a:p>
        </p:txBody>
      </p:sp>
      <p:sp>
        <p:nvSpPr>
          <p:cNvPr id="18" name="gate 3"/>
          <p:cNvSpPr txBox="1"/>
          <p:nvPr/>
        </p:nvSpPr>
        <p:spPr>
          <a:xfrm>
            <a:off x="8595360" y="3575304"/>
            <a:ext cx="3108960" cy="731520"/>
          </a:xfrm>
          <a:prstGeom prst="rect">
            <a:avLst/>
          </a:prstGeom>
          <a:noFill/>
          <a:ln/>
        </p:spPr>
        <p:txBody>
          <a:bodyPr wrap="square" lIns="0" tIns="0" rIns="0" bIns="0" rtlCol="0" anchor="ctr"/>
          <a:lstStyle/>
          <a:p>
            <a:pPr indent="0" marL="0">
              <a:buNone/>
            </a:pPr>
            <a:r>
              <a:rPr lang="en-US" sz="1300" dirty="0">
                <a:solidFill>
                  <a:schemeClr val="tx1"/>
                </a:solidFill>
              </a:rPr>
              <a:t>AI as a season tool — and you still explain the code</a:t>
            </a:r>
            <a:endParaRPr lang="en-US" sz="1300" dirty="0"/>
          </a:p>
        </p:txBody>
      </p:sp>
      <p:sp>
        <p:nvSpPr>
          <p:cNvPr id="19" name="same rule"/>
          <p:cNvSpPr txBox="1"/>
          <p:nvPr/>
        </p:nvSpPr>
        <p:spPr>
          <a:xfrm>
            <a:off x="457200" y="4526280"/>
            <a:ext cx="11247120" cy="640080"/>
          </a:xfrm>
          <a:prstGeom prst="rect">
            <a:avLst/>
          </a:prstGeom>
          <a:noFill/>
          <a:ln/>
        </p:spPr>
        <p:txBody>
          <a:bodyPr wrap="square" lIns="0" tIns="0" rIns="0" bIns="0" rtlCol="0" anchor="t"/>
          <a:lstStyle/>
          <a:p>
            <a:pPr indent="0" marL="0">
              <a:buNone/>
            </a:pPr>
            <a:r>
              <a:rPr lang="en-US" sz="1300" dirty="0">
                <a:solidFill>
                  <a:schemeClr val="tx2"/>
                </a:solidFill>
              </a:rPr>
              <a:t>Same rule as AP Computer Science Principles: “students must be prepared to explain their code in detail.” (College Board) Same rule as FTC judging: students answer; adults may only observe.</a:t>
            </a:r>
            <a:endParaRPr lang="en-US" sz="1300" dirty="0"/>
          </a:p>
        </p:txBody>
      </p:sp>
      <p:sp>
        <p:nvSpPr>
          <p:cNvPr id="20" name="takeaway"/>
          <p:cNvSpPr txBox="1"/>
          <p:nvPr/>
        </p:nvSpPr>
        <p:spPr>
          <a:xfrm>
            <a:off x="457200" y="5257800"/>
            <a:ext cx="11247120" cy="731520"/>
          </a:xfrm>
          <a:prstGeom prst="rect">
            <a:avLst/>
          </a:prstGeom>
          <a:noFill/>
          <a:ln/>
        </p:spPr>
        <p:txBody>
          <a:bodyPr wrap="square" lIns="0" tIns="0" rIns="0" bIns="0" rtlCol="0" anchor="t"/>
          <a:lstStyle/>
          <a:p>
            <a:pPr indent="0" marL="0">
              <a:buNone/>
            </a:pPr>
            <a:r>
              <a:rPr lang="en-US" sz="1700" b="1" dirty="0">
                <a:solidFill>
                  <a:schemeClr val="accent1"/>
                </a:solidFill>
              </a:rPr>
              <a:t>Fundamentals first, then AI. We think that's how you get the speed without losing the understanding.</a:t>
            </a:r>
            <a:endParaRPr lang="en-US" sz="17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Lehi, 2026: it's in the job posting</a:t>
            </a:r>
            <a:endParaRPr lang="en-US" sz="3200" dirty="0"/>
          </a:p>
        </p:txBody>
      </p:sp>
      <p:sp>
        <p:nvSpPr>
          <p:cNvPr id="4" name="post 0"/>
          <p:cNvSpPr/>
          <p:nvPr/>
        </p:nvSpPr>
        <p:spPr>
          <a:xfrm>
            <a:off x="457200" y="1325880"/>
            <a:ext cx="7223760" cy="822960"/>
          </a:xfrm>
          <a:prstGeom prst="roundRect">
            <a:avLst>
              <a:gd name="adj" fmla="val 13333"/>
            </a:avLst>
          </a:prstGeom>
          <a:solidFill>
            <a:schemeClr val="bg2"/>
          </a:solidFill>
          <a:ln w="12700">
            <a:solidFill>
              <a:schemeClr val="bg2"/>
            </a:solidFill>
            <a:prstDash val="solid"/>
          </a:ln>
        </p:spPr>
      </p:sp>
      <p:sp>
        <p:nvSpPr>
          <p:cNvPr id="5" name="post head 0"/>
          <p:cNvSpPr txBox="1"/>
          <p:nvPr/>
        </p:nvSpPr>
        <p:spPr>
          <a:xfrm>
            <a:off x="640080" y="1371600"/>
            <a:ext cx="6858000" cy="274320"/>
          </a:xfrm>
          <a:prstGeom prst="rect">
            <a:avLst/>
          </a:prstGeom>
          <a:noFill/>
          <a:ln/>
        </p:spPr>
        <p:txBody>
          <a:bodyPr wrap="square" lIns="0" tIns="0" rIns="0" bIns="0" rtlCol="0" anchor="t"/>
          <a:lstStyle/>
          <a:p>
            <a:pPr indent="0" marL="0">
              <a:buNone/>
            </a:pPr>
            <a:r>
              <a:rPr lang="en-US" sz="1200" b="1" dirty="0">
                <a:solidFill>
                  <a:schemeClr val="accent1"/>
                </a:solidFill>
              </a:rPr>
              <a:t>Podium · Lehi, Utah · Software Engineering Intern</a:t>
            </a:r>
            <a:endParaRPr lang="en-US" sz="1200" dirty="0"/>
          </a:p>
        </p:txBody>
      </p:sp>
      <p:sp>
        <p:nvSpPr>
          <p:cNvPr id="6" name="post text 0"/>
          <p:cNvSpPr txBox="1"/>
          <p:nvPr/>
        </p:nvSpPr>
        <p:spPr>
          <a:xfrm>
            <a:off x="640080" y="1627632"/>
            <a:ext cx="6858000" cy="502920"/>
          </a:xfrm>
          <a:prstGeom prst="rect">
            <a:avLst/>
          </a:prstGeom>
          <a:noFill/>
          <a:ln/>
        </p:spPr>
        <p:txBody>
          <a:bodyPr wrap="square" lIns="0" tIns="0" rIns="0" bIns="0" rtlCol="0" anchor="t"/>
          <a:lstStyle/>
          <a:p>
            <a:pPr indent="0" marL="0">
              <a:buNone/>
            </a:pPr>
            <a:r>
              <a:rPr lang="en-US" sz="1150" i="1" dirty="0">
                <a:solidFill>
                  <a:schemeClr val="tx1"/>
                </a:solidFill>
              </a:rPr>
              <a:t>“Familiarity with AI-assisted development tools such as Cursor, Claude Code, Codex, GitHub Copilot, or similar.” — alongside “Strong programming fundamentals…”</a:t>
            </a:r>
            <a:endParaRPr lang="en-US" sz="1150" dirty="0"/>
          </a:p>
        </p:txBody>
      </p:sp>
      <p:sp>
        <p:nvSpPr>
          <p:cNvPr id="7" name="post 1"/>
          <p:cNvSpPr/>
          <p:nvPr/>
        </p:nvSpPr>
        <p:spPr>
          <a:xfrm>
            <a:off x="457200" y="2240280"/>
            <a:ext cx="7223760" cy="822960"/>
          </a:xfrm>
          <a:prstGeom prst="roundRect">
            <a:avLst>
              <a:gd name="adj" fmla="val 13333"/>
            </a:avLst>
          </a:prstGeom>
          <a:solidFill>
            <a:schemeClr val="bg2"/>
          </a:solidFill>
          <a:ln w="12700">
            <a:solidFill>
              <a:schemeClr val="bg2"/>
            </a:solidFill>
            <a:prstDash val="solid"/>
          </a:ln>
        </p:spPr>
      </p:sp>
      <p:sp>
        <p:nvSpPr>
          <p:cNvPr id="8" name="post head 1"/>
          <p:cNvSpPr txBox="1"/>
          <p:nvPr/>
        </p:nvSpPr>
        <p:spPr>
          <a:xfrm>
            <a:off x="640080" y="2286000"/>
            <a:ext cx="6858000" cy="274320"/>
          </a:xfrm>
          <a:prstGeom prst="rect">
            <a:avLst/>
          </a:prstGeom>
          <a:noFill/>
          <a:ln/>
        </p:spPr>
        <p:txBody>
          <a:bodyPr wrap="square" lIns="0" tIns="0" rIns="0" bIns="0" rtlCol="0" anchor="t"/>
          <a:lstStyle/>
          <a:p>
            <a:pPr indent="0" marL="0">
              <a:buNone/>
            </a:pPr>
            <a:r>
              <a:rPr lang="en-US" sz="1200" b="1" dirty="0">
                <a:solidFill>
                  <a:schemeClr val="accent1"/>
                </a:solidFill>
              </a:rPr>
              <a:t>Podium · Lehi, Utah · Senior Software Engineer</a:t>
            </a:r>
            <a:endParaRPr lang="en-US" sz="1200" dirty="0"/>
          </a:p>
        </p:txBody>
      </p:sp>
      <p:sp>
        <p:nvSpPr>
          <p:cNvPr id="9" name="post text 1"/>
          <p:cNvSpPr txBox="1"/>
          <p:nvPr/>
        </p:nvSpPr>
        <p:spPr>
          <a:xfrm>
            <a:off x="640080" y="2542032"/>
            <a:ext cx="6858000" cy="502920"/>
          </a:xfrm>
          <a:prstGeom prst="rect">
            <a:avLst/>
          </a:prstGeom>
          <a:noFill/>
          <a:ln/>
        </p:spPr>
        <p:txBody>
          <a:bodyPr wrap="square" lIns="0" tIns="0" rIns="0" bIns="0" rtlCol="0" anchor="t"/>
          <a:lstStyle/>
          <a:p>
            <a:pPr indent="0" marL="0">
              <a:buNone/>
            </a:pPr>
            <a:r>
              <a:rPr lang="en-US" sz="1150" i="1" dirty="0">
                <a:solidFill>
                  <a:schemeClr val="tx1"/>
                </a:solidFill>
              </a:rPr>
              <a:t>use AI tooling “as a genuine force multiplier, not a novelty” · “A hands-on, daily relationship with AI coding tools”</a:t>
            </a:r>
            <a:endParaRPr lang="en-US" sz="1150" dirty="0"/>
          </a:p>
        </p:txBody>
      </p:sp>
      <p:sp>
        <p:nvSpPr>
          <p:cNvPr id="10" name="post 2"/>
          <p:cNvSpPr/>
          <p:nvPr/>
        </p:nvSpPr>
        <p:spPr>
          <a:xfrm>
            <a:off x="457200" y="3154680"/>
            <a:ext cx="7223760" cy="822960"/>
          </a:xfrm>
          <a:prstGeom prst="roundRect">
            <a:avLst>
              <a:gd name="adj" fmla="val 13333"/>
            </a:avLst>
          </a:prstGeom>
          <a:solidFill>
            <a:schemeClr val="bg2"/>
          </a:solidFill>
          <a:ln w="12700">
            <a:solidFill>
              <a:schemeClr val="bg2"/>
            </a:solidFill>
            <a:prstDash val="solid"/>
          </a:ln>
        </p:spPr>
      </p:sp>
      <p:sp>
        <p:nvSpPr>
          <p:cNvPr id="11" name="post head 2"/>
          <p:cNvSpPr txBox="1"/>
          <p:nvPr/>
        </p:nvSpPr>
        <p:spPr>
          <a:xfrm>
            <a:off x="640080" y="3200400"/>
            <a:ext cx="6858000" cy="274320"/>
          </a:xfrm>
          <a:prstGeom prst="rect">
            <a:avLst/>
          </a:prstGeom>
          <a:noFill/>
          <a:ln/>
        </p:spPr>
        <p:txBody>
          <a:bodyPr wrap="square" lIns="0" tIns="0" rIns="0" bIns="0" rtlCol="0" anchor="t"/>
          <a:lstStyle/>
          <a:p>
            <a:pPr indent="0" marL="0">
              <a:buNone/>
            </a:pPr>
            <a:r>
              <a:rPr lang="en-US" sz="1200" b="1" dirty="0">
                <a:solidFill>
                  <a:schemeClr val="accent1"/>
                </a:solidFill>
              </a:rPr>
              <a:t>Affirm · US fintech (remote role, Poland)</a:t>
            </a:r>
            <a:endParaRPr lang="en-US" sz="1200" dirty="0"/>
          </a:p>
        </p:txBody>
      </p:sp>
      <p:sp>
        <p:nvSpPr>
          <p:cNvPr id="12" name="post text 2"/>
          <p:cNvSpPr txBox="1"/>
          <p:nvPr/>
        </p:nvSpPr>
        <p:spPr>
          <a:xfrm>
            <a:off x="640080" y="3456432"/>
            <a:ext cx="6858000" cy="502920"/>
          </a:xfrm>
          <a:prstGeom prst="rect">
            <a:avLst/>
          </a:prstGeom>
          <a:noFill/>
          <a:ln/>
        </p:spPr>
        <p:txBody>
          <a:bodyPr wrap="square" lIns="0" tIns="0" rIns="0" bIns="0" rtlCol="0" anchor="t"/>
          <a:lstStyle/>
          <a:p>
            <a:pPr indent="0" marL="0">
              <a:buNone/>
            </a:pPr>
            <a:r>
              <a:rPr lang="en-US" sz="1150" i="1" dirty="0">
                <a:solidFill>
                  <a:schemeClr val="tx1"/>
                </a:solidFill>
              </a:rPr>
              <a:t>“every Affirm engineer builds with tools like Claude Code and most PRs are co-authored with AI… excelling in the reviewer's seat… is a core expectation”</a:t>
            </a:r>
            <a:endParaRPr lang="en-US" sz="1150" dirty="0"/>
          </a:p>
        </p:txBody>
      </p:sp>
      <p:sp>
        <p:nvSpPr>
          <p:cNvPr id="13" name="post 3"/>
          <p:cNvSpPr/>
          <p:nvPr/>
        </p:nvSpPr>
        <p:spPr>
          <a:xfrm>
            <a:off x="457200" y="4069080"/>
            <a:ext cx="7223760" cy="822960"/>
          </a:xfrm>
          <a:prstGeom prst="roundRect">
            <a:avLst>
              <a:gd name="adj" fmla="val 13333"/>
            </a:avLst>
          </a:prstGeom>
          <a:solidFill>
            <a:schemeClr val="bg2"/>
          </a:solidFill>
          <a:ln w="12700">
            <a:solidFill>
              <a:schemeClr val="bg2"/>
            </a:solidFill>
            <a:prstDash val="solid"/>
          </a:ln>
        </p:spPr>
      </p:sp>
      <p:sp>
        <p:nvSpPr>
          <p:cNvPr id="14" name="post head 3"/>
          <p:cNvSpPr txBox="1"/>
          <p:nvPr/>
        </p:nvSpPr>
        <p:spPr>
          <a:xfrm>
            <a:off x="640080" y="4114800"/>
            <a:ext cx="6858000" cy="274320"/>
          </a:xfrm>
          <a:prstGeom prst="rect">
            <a:avLst/>
          </a:prstGeom>
          <a:noFill/>
          <a:ln/>
        </p:spPr>
        <p:txBody>
          <a:bodyPr wrap="square" lIns="0" tIns="0" rIns="0" bIns="0" rtlCol="0" anchor="t"/>
          <a:lstStyle/>
          <a:p>
            <a:pPr indent="0" marL="0">
              <a:buNone/>
            </a:pPr>
            <a:r>
              <a:rPr lang="en-US" sz="1200" b="1" dirty="0">
                <a:solidFill>
                  <a:schemeClr val="accent1"/>
                </a:solidFill>
              </a:rPr>
              <a:t>1Password · Rust Developer</a:t>
            </a:r>
            <a:endParaRPr lang="en-US" sz="1200" dirty="0"/>
          </a:p>
        </p:txBody>
      </p:sp>
      <p:sp>
        <p:nvSpPr>
          <p:cNvPr id="15" name="post text 3"/>
          <p:cNvSpPr txBox="1"/>
          <p:nvPr/>
        </p:nvSpPr>
        <p:spPr>
          <a:xfrm>
            <a:off x="640080" y="4370832"/>
            <a:ext cx="6858000" cy="502920"/>
          </a:xfrm>
          <a:prstGeom prst="rect">
            <a:avLst/>
          </a:prstGeom>
          <a:noFill/>
          <a:ln/>
        </p:spPr>
        <p:txBody>
          <a:bodyPr wrap="square" lIns="0" tIns="0" rIns="0" bIns="0" rtlCol="0" anchor="t"/>
          <a:lstStyle/>
          <a:p>
            <a:pPr indent="0" marL="0">
              <a:buNone/>
            </a:pPr>
            <a:r>
              <a:rPr lang="en-US" sz="1150" i="1" dirty="0">
                <a:solidFill>
                  <a:schemeClr val="tx1"/>
                </a:solidFill>
              </a:rPr>
              <a:t>“Effective at using AI tooling to accelerate development, testing, debugging…” — and the interview is run without AI</a:t>
            </a:r>
            <a:endParaRPr lang="en-US" sz="1150" dirty="0"/>
          </a:p>
        </p:txBody>
      </p:sp>
      <p:sp>
        <p:nvSpPr>
          <p:cNvPr id="16" name="stat big 0"/>
          <p:cNvSpPr txBox="1"/>
          <p:nvPr/>
        </p:nvSpPr>
        <p:spPr>
          <a:xfrm>
            <a:off x="7955280" y="1325880"/>
            <a:ext cx="3749040" cy="502920"/>
          </a:xfrm>
          <a:prstGeom prst="rect">
            <a:avLst/>
          </a:prstGeom>
          <a:noFill/>
          <a:ln/>
        </p:spPr>
        <p:txBody>
          <a:bodyPr wrap="square" lIns="0" tIns="0" rIns="0" bIns="0" rtlCol="0" anchor="t"/>
          <a:lstStyle/>
          <a:p>
            <a:pPr indent="0" marL="0">
              <a:buNone/>
            </a:pPr>
            <a:r>
              <a:rPr lang="en-US" sz="2600" b="1" dirty="0">
                <a:solidFill>
                  <a:schemeClr val="accent1"/>
                </a:solidFill>
              </a:rPr>
              <a:t>2.5%</a:t>
            </a:r>
            <a:endParaRPr lang="en-US" sz="2600" dirty="0"/>
          </a:p>
        </p:txBody>
      </p:sp>
      <p:sp>
        <p:nvSpPr>
          <p:cNvPr id="17" name="stat text 0"/>
          <p:cNvSpPr txBox="1"/>
          <p:nvPr/>
        </p:nvSpPr>
        <p:spPr>
          <a:xfrm>
            <a:off x="7955280" y="1828800"/>
            <a:ext cx="3749040" cy="685800"/>
          </a:xfrm>
          <a:prstGeom prst="rect">
            <a:avLst/>
          </a:prstGeom>
          <a:noFill/>
          <a:ln/>
        </p:spPr>
        <p:txBody>
          <a:bodyPr wrap="square" lIns="0" tIns="0" rIns="0" bIns="0" rtlCol="0" anchor="t"/>
          <a:lstStyle/>
          <a:p>
            <a:pPr indent="0" marL="0">
              <a:buNone/>
            </a:pPr>
            <a:r>
              <a:rPr lang="en-US" sz="1150" dirty="0">
                <a:solidFill>
                  <a:schemeClr val="tx2"/>
                </a:solidFill>
              </a:rPr>
              <a:t>of all US job postings asked for AI skills in 2025 — up 55% in one year (Stanford AI Index 2026 / Lightcast)</a:t>
            </a:r>
            <a:endParaRPr lang="en-US" sz="1150" dirty="0"/>
          </a:p>
        </p:txBody>
      </p:sp>
      <p:sp>
        <p:nvSpPr>
          <p:cNvPr id="18" name="stat big 1"/>
          <p:cNvSpPr txBox="1"/>
          <p:nvPr/>
        </p:nvSpPr>
        <p:spPr>
          <a:xfrm>
            <a:off x="7955280" y="2560320"/>
            <a:ext cx="3749040" cy="502920"/>
          </a:xfrm>
          <a:prstGeom prst="rect">
            <a:avLst/>
          </a:prstGeom>
          <a:noFill/>
          <a:ln/>
        </p:spPr>
        <p:txBody>
          <a:bodyPr wrap="square" lIns="0" tIns="0" rIns="0" bIns="0" rtlCol="0" anchor="t"/>
          <a:lstStyle/>
          <a:p>
            <a:pPr indent="0" marL="0">
              <a:buNone/>
            </a:pPr>
            <a:r>
              <a:rPr lang="en-US" sz="2600" b="1" dirty="0">
                <a:solidFill>
                  <a:schemeClr val="accent1"/>
                </a:solidFill>
              </a:rPr>
              <a:t>10%</a:t>
            </a:r>
            <a:endParaRPr lang="en-US" sz="2600" dirty="0"/>
          </a:p>
        </p:txBody>
      </p:sp>
      <p:sp>
        <p:nvSpPr>
          <p:cNvPr id="19" name="stat text 1"/>
          <p:cNvSpPr txBox="1"/>
          <p:nvPr/>
        </p:nvSpPr>
        <p:spPr>
          <a:xfrm>
            <a:off x="7955280" y="3063240"/>
            <a:ext cx="3749040" cy="685800"/>
          </a:xfrm>
          <a:prstGeom prst="rect">
            <a:avLst/>
          </a:prstGeom>
          <a:noFill/>
          <a:ln/>
        </p:spPr>
        <p:txBody>
          <a:bodyPr wrap="square" lIns="0" tIns="0" rIns="0" bIns="0" rtlCol="0" anchor="t"/>
          <a:lstStyle/>
          <a:p>
            <a:pPr indent="0" marL="0">
              <a:buNone/>
            </a:pPr>
            <a:r>
              <a:rPr lang="en-US" sz="1150" dirty="0">
                <a:solidFill>
                  <a:schemeClr val="tx2"/>
                </a:solidFill>
              </a:rPr>
              <a:t>of 4,820 software-engineering postings required AI coding tools in one Sep 2026 scan; 20% mentioned them; interns highest at 27% (match.dev)</a:t>
            </a:r>
            <a:endParaRPr lang="en-US" sz="1150" dirty="0"/>
          </a:p>
        </p:txBody>
      </p:sp>
      <p:sp>
        <p:nvSpPr>
          <p:cNvPr id="20" name="stat big 2"/>
          <p:cNvSpPr txBox="1"/>
          <p:nvPr/>
        </p:nvSpPr>
        <p:spPr>
          <a:xfrm>
            <a:off x="7955280" y="3794760"/>
            <a:ext cx="3749040" cy="502920"/>
          </a:xfrm>
          <a:prstGeom prst="rect">
            <a:avLst/>
          </a:prstGeom>
          <a:noFill/>
          <a:ln/>
        </p:spPr>
        <p:txBody>
          <a:bodyPr wrap="square" lIns="0" tIns="0" rIns="0" bIns="0" rtlCol="0" anchor="t"/>
          <a:lstStyle/>
          <a:p>
            <a:pPr indent="0" marL="0">
              <a:buNone/>
            </a:pPr>
            <a:r>
              <a:rPr lang="en-US" sz="2600" b="1" dirty="0">
                <a:solidFill>
                  <a:schemeClr val="accent1"/>
                </a:solidFill>
              </a:rPr>
              <a:t>“baseline”</a:t>
            </a:r>
            <a:endParaRPr lang="en-US" sz="2600" dirty="0"/>
          </a:p>
        </p:txBody>
      </p:sp>
      <p:sp>
        <p:nvSpPr>
          <p:cNvPr id="21" name="stat text 2"/>
          <p:cNvSpPr txBox="1"/>
          <p:nvPr/>
        </p:nvSpPr>
        <p:spPr>
          <a:xfrm>
            <a:off x="7955280" y="4297680"/>
            <a:ext cx="3749040" cy="685800"/>
          </a:xfrm>
          <a:prstGeom prst="rect">
            <a:avLst/>
          </a:prstGeom>
          <a:noFill/>
          <a:ln/>
        </p:spPr>
        <p:txBody>
          <a:bodyPr wrap="square" lIns="0" tIns="0" rIns="0" bIns="0" rtlCol="0" anchor="t"/>
          <a:lstStyle/>
          <a:p>
            <a:pPr indent="0" marL="0">
              <a:buNone/>
            </a:pPr>
            <a:r>
              <a:rPr lang="en-US" sz="1150" dirty="0">
                <a:solidFill>
                  <a:schemeClr val="tx2"/>
                </a:solidFill>
              </a:rPr>
              <a:t>“Reflexive AI usage is now a baseline expectation at Shopify.” — Tobi Lütke, CEO, Apr 2025 (as quoted in press)</a:t>
            </a:r>
            <a:endParaRPr lang="en-US" sz="1150" dirty="0"/>
          </a:p>
        </p:txBody>
      </p:sp>
      <p:sp>
        <p:nvSpPr>
          <p:cNvPr id="22" name="pay note"/>
          <p:cNvSpPr txBox="1"/>
          <p:nvPr/>
        </p:nvSpPr>
        <p:spPr>
          <a:xfrm>
            <a:off x="457200" y="5120640"/>
            <a:ext cx="11247120" cy="640080"/>
          </a:xfrm>
          <a:prstGeom prst="rect">
            <a:avLst/>
          </a:prstGeom>
          <a:noFill/>
          <a:ln/>
        </p:spPr>
        <p:txBody>
          <a:bodyPr wrap="square" lIns="0" tIns="0" rIns="0" bIns="0" rtlCol="0" anchor="t"/>
          <a:lstStyle/>
          <a:p>
            <a:pPr indent="0" marL="0">
              <a:buNone/>
            </a:pPr>
            <a:r>
              <a:rPr lang="en-US" sz="1200" dirty="0">
                <a:solidFill>
                  <a:schemeClr val="tx2"/>
                </a:solidFill>
              </a:rPr>
              <a:t>Job ads that ask for AI skills advertise higher pay — PwC 62% within occupation (global, 2025), Lightcast 28% (US, 2024). Vendor data; correlation, not a promise.</a:t>
            </a:r>
            <a:endParaRPr lang="en-US" sz="12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The door is narrower. The tool is expected.</a:t>
            </a:r>
            <a:endParaRPr lang="en-US" sz="3200" dirty="0"/>
          </a:p>
        </p:txBody>
      </p:sp>
      <p:sp>
        <p:nvSpPr>
          <p:cNvPr id="4" name="fact 0"/>
          <p:cNvSpPr/>
          <p:nvPr/>
        </p:nvSpPr>
        <p:spPr>
          <a:xfrm>
            <a:off x="457200" y="1325880"/>
            <a:ext cx="3566160" cy="2377440"/>
          </a:xfrm>
          <a:prstGeom prst="roundRect">
            <a:avLst>
              <a:gd name="adj" fmla="val 4615"/>
            </a:avLst>
          </a:prstGeom>
          <a:solidFill>
            <a:schemeClr val="bg2"/>
          </a:solidFill>
          <a:ln w="12700">
            <a:solidFill>
              <a:schemeClr val="bg2"/>
            </a:solidFill>
            <a:prstDash val="solid"/>
          </a:ln>
        </p:spPr>
      </p:sp>
      <p:sp>
        <p:nvSpPr>
          <p:cNvPr id="5" name="fact big 0"/>
          <p:cNvSpPr txBox="1"/>
          <p:nvPr/>
        </p:nvSpPr>
        <p:spPr>
          <a:xfrm>
            <a:off x="731520" y="1463040"/>
            <a:ext cx="3017520" cy="822960"/>
          </a:xfrm>
          <a:prstGeom prst="rect">
            <a:avLst/>
          </a:prstGeom>
          <a:noFill/>
          <a:ln/>
        </p:spPr>
        <p:txBody>
          <a:bodyPr wrap="square" lIns="0" tIns="0" rIns="0" bIns="0" rtlCol="0" anchor="ctr"/>
          <a:lstStyle/>
          <a:p>
            <a:pPr indent="0" marL="0">
              <a:buNone/>
            </a:pPr>
            <a:r>
              <a:rPr lang="en-US" sz="4000" b="1" dirty="0">
                <a:solidFill>
                  <a:schemeClr val="accent1"/>
                </a:solidFill>
              </a:rPr>
              <a:t>−20%</a:t>
            </a:r>
            <a:endParaRPr lang="en-US" sz="4000" dirty="0"/>
          </a:p>
        </p:txBody>
      </p:sp>
      <p:sp>
        <p:nvSpPr>
          <p:cNvPr id="6" name="fact text 0"/>
          <p:cNvSpPr txBox="1"/>
          <p:nvPr/>
        </p:nvSpPr>
        <p:spPr>
          <a:xfrm>
            <a:off x="731520" y="2331720"/>
            <a:ext cx="3017520" cy="1280160"/>
          </a:xfrm>
          <a:prstGeom prst="rect">
            <a:avLst/>
          </a:prstGeom>
          <a:noFill/>
          <a:ln/>
        </p:spPr>
        <p:txBody>
          <a:bodyPr wrap="square" lIns="0" tIns="0" rIns="0" bIns="0" rtlCol="0" anchor="t"/>
          <a:lstStyle/>
          <a:p>
            <a:pPr indent="0" marL="0">
              <a:buNone/>
            </a:pPr>
            <a:r>
              <a:rPr lang="en-US" sz="1250" dirty="0">
                <a:solidFill>
                  <a:schemeClr val="tx1"/>
                </a:solidFill>
              </a:rPr>
              <a:t>Software developers aged 22–25: employment down nearly 20%, late 2022 → Sep 2025 (payroll data). For young workers in AI-exposed jobs the gap widened to 19% by Aug 2026. — Stanford “Canaries in the Coal Mine”</a:t>
            </a:r>
            <a:endParaRPr lang="en-US" sz="1250" dirty="0"/>
          </a:p>
        </p:txBody>
      </p:sp>
      <p:sp>
        <p:nvSpPr>
          <p:cNvPr id="7" name="fact 1"/>
          <p:cNvSpPr/>
          <p:nvPr/>
        </p:nvSpPr>
        <p:spPr>
          <a:xfrm>
            <a:off x="4297680" y="1325880"/>
            <a:ext cx="3566160" cy="2377440"/>
          </a:xfrm>
          <a:prstGeom prst="roundRect">
            <a:avLst>
              <a:gd name="adj" fmla="val 4615"/>
            </a:avLst>
          </a:prstGeom>
          <a:solidFill>
            <a:schemeClr val="bg2"/>
          </a:solidFill>
          <a:ln w="12700">
            <a:solidFill>
              <a:schemeClr val="bg2"/>
            </a:solidFill>
            <a:prstDash val="solid"/>
          </a:ln>
        </p:spPr>
      </p:sp>
      <p:sp>
        <p:nvSpPr>
          <p:cNvPr id="8" name="fact big 1"/>
          <p:cNvSpPr txBox="1"/>
          <p:nvPr/>
        </p:nvSpPr>
        <p:spPr>
          <a:xfrm>
            <a:off x="4572000" y="1463040"/>
            <a:ext cx="3017520" cy="822960"/>
          </a:xfrm>
          <a:prstGeom prst="rect">
            <a:avLst/>
          </a:prstGeom>
          <a:noFill/>
          <a:ln/>
        </p:spPr>
        <p:txBody>
          <a:bodyPr wrap="square" lIns="0" tIns="0" rIns="0" bIns="0" rtlCol="0" anchor="ctr"/>
          <a:lstStyle/>
          <a:p>
            <a:pPr indent="0" marL="0">
              <a:buNone/>
            </a:pPr>
            <a:r>
              <a:rPr lang="en-US" sz="4000" b="1" dirty="0">
                <a:solidFill>
                  <a:schemeClr val="accent1"/>
                </a:solidFill>
              </a:rPr>
              <a:t>16.5%</a:t>
            </a:r>
            <a:endParaRPr lang="en-US" sz="4000" dirty="0"/>
          </a:p>
        </p:txBody>
      </p:sp>
      <p:sp>
        <p:nvSpPr>
          <p:cNvPr id="9" name="fact text 1"/>
          <p:cNvSpPr txBox="1"/>
          <p:nvPr/>
        </p:nvSpPr>
        <p:spPr>
          <a:xfrm>
            <a:off x="4572000" y="2331720"/>
            <a:ext cx="3017520" cy="1280160"/>
          </a:xfrm>
          <a:prstGeom prst="rect">
            <a:avLst/>
          </a:prstGeom>
          <a:noFill/>
          <a:ln/>
        </p:spPr>
        <p:txBody>
          <a:bodyPr wrap="square" lIns="0" tIns="0" rIns="0" bIns="0" rtlCol="0" anchor="t"/>
          <a:lstStyle/>
          <a:p>
            <a:pPr indent="0" marL="0">
              <a:buNone/>
            </a:pPr>
            <a:r>
              <a:rPr lang="en-US" sz="1250" dirty="0">
                <a:solidFill>
                  <a:schemeClr val="tx1"/>
                </a:solidFill>
              </a:rPr>
              <a:t>of entry-level job descriptions now emphasize AI skills, up from 10.5% in fall 2025; employers say over a third of entry-level jobs require them. — NACE, spring 2026 (185 employers)</a:t>
            </a:r>
            <a:endParaRPr lang="en-US" sz="1250" dirty="0"/>
          </a:p>
        </p:txBody>
      </p:sp>
      <p:sp>
        <p:nvSpPr>
          <p:cNvPr id="10" name="fact 2"/>
          <p:cNvSpPr/>
          <p:nvPr/>
        </p:nvSpPr>
        <p:spPr>
          <a:xfrm>
            <a:off x="8138160" y="1325880"/>
            <a:ext cx="3566160" cy="2377440"/>
          </a:xfrm>
          <a:prstGeom prst="roundRect">
            <a:avLst>
              <a:gd name="adj" fmla="val 4615"/>
            </a:avLst>
          </a:prstGeom>
          <a:solidFill>
            <a:schemeClr val="bg2"/>
          </a:solidFill>
          <a:ln w="12700">
            <a:solidFill>
              <a:schemeClr val="bg2"/>
            </a:solidFill>
            <a:prstDash val="solid"/>
          </a:ln>
        </p:spPr>
      </p:sp>
      <p:sp>
        <p:nvSpPr>
          <p:cNvPr id="11" name="fact big 2"/>
          <p:cNvSpPr txBox="1"/>
          <p:nvPr/>
        </p:nvSpPr>
        <p:spPr>
          <a:xfrm>
            <a:off x="8412480" y="1463040"/>
            <a:ext cx="3017520" cy="822960"/>
          </a:xfrm>
          <a:prstGeom prst="rect">
            <a:avLst/>
          </a:prstGeom>
          <a:noFill/>
          <a:ln/>
        </p:spPr>
        <p:txBody>
          <a:bodyPr wrap="square" lIns="0" tIns="0" rIns="0" bIns="0" rtlCol="0" anchor="ctr"/>
          <a:lstStyle/>
          <a:p>
            <a:pPr indent="0" marL="0">
              <a:buNone/>
            </a:pPr>
            <a:r>
              <a:rPr lang="en-US" sz="4000" b="1" dirty="0">
                <a:solidFill>
                  <a:schemeClr val="accent1"/>
                </a:solidFill>
              </a:rPr>
              <a:t>50.5%</a:t>
            </a:r>
            <a:endParaRPr lang="en-US" sz="4000" dirty="0"/>
          </a:p>
        </p:txBody>
      </p:sp>
      <p:sp>
        <p:nvSpPr>
          <p:cNvPr id="12" name="fact text 2"/>
          <p:cNvSpPr txBox="1"/>
          <p:nvPr/>
        </p:nvSpPr>
        <p:spPr>
          <a:xfrm>
            <a:off x="8412480" y="2331720"/>
            <a:ext cx="3017520" cy="1280160"/>
          </a:xfrm>
          <a:prstGeom prst="rect">
            <a:avLst/>
          </a:prstGeom>
          <a:noFill/>
          <a:ln/>
        </p:spPr>
        <p:txBody>
          <a:bodyPr wrap="square" lIns="0" tIns="0" rIns="0" bIns="0" rtlCol="0" anchor="t"/>
          <a:lstStyle/>
          <a:p>
            <a:pPr indent="0" marL="0">
              <a:buNone/>
            </a:pPr>
            <a:r>
              <a:rPr lang="en-US" sz="1250" dirty="0">
                <a:solidFill>
                  <a:schemeClr val="tx1"/>
                </a:solidFill>
              </a:rPr>
              <a:t>of graduating seniors aren't building AI skills at all. — NACE student survey, 2026</a:t>
            </a:r>
            <a:endParaRPr lang="en-US" sz="1250" dirty="0"/>
          </a:p>
        </p:txBody>
      </p:sp>
      <p:sp>
        <p:nvSpPr>
          <p:cNvPr id="13" name="beck quote"/>
          <p:cNvSpPr txBox="1"/>
          <p:nvPr/>
        </p:nvSpPr>
        <p:spPr>
          <a:xfrm>
            <a:off x="457200" y="3931920"/>
            <a:ext cx="11247120" cy="731520"/>
          </a:xfrm>
          <a:prstGeom prst="rect">
            <a:avLst/>
          </a:prstGeom>
          <a:noFill/>
          <a:ln/>
        </p:spPr>
        <p:txBody>
          <a:bodyPr wrap="square" lIns="0" tIns="0" rIns="0" bIns="0" rtlCol="0" anchor="t"/>
          <a:lstStyle/>
          <a:p>
            <a:pPr indent="0" marL="0">
              <a:buNone/>
            </a:pPr>
            <a:r>
              <a:rPr lang="en-US" sz="2200" i="1" dirty="0">
                <a:solidFill>
                  <a:schemeClr val="tx1"/>
                </a:solidFill>
              </a:rPr>
              <a:t>“The value of 90% of my skills just dropped to $0. The leverage for the remaining 10% went up 1000x.”</a:t>
            </a:r>
            <a:endParaRPr lang="en-US" sz="2200" dirty="0"/>
          </a:p>
        </p:txBody>
      </p:sp>
      <p:sp>
        <p:nvSpPr>
          <p:cNvPr id="14" name="beck attribution"/>
          <p:cNvSpPr txBox="1"/>
          <p:nvPr/>
        </p:nvSpPr>
        <p:spPr>
          <a:xfrm>
            <a:off x="457200" y="4663440"/>
            <a:ext cx="11247120" cy="320040"/>
          </a:xfrm>
          <a:prstGeom prst="rect">
            <a:avLst/>
          </a:prstGeom>
          <a:noFill/>
          <a:ln/>
        </p:spPr>
        <p:txBody>
          <a:bodyPr wrap="square" lIns="0" tIns="0" rIns="0" bIns="0" rtlCol="0" anchor="t"/>
          <a:lstStyle/>
          <a:p>
            <a:pPr indent="0" marL="0">
              <a:buNone/>
            </a:pPr>
            <a:r>
              <a:rPr lang="en-US" sz="1200" dirty="0">
                <a:solidFill>
                  <a:schemeClr val="accent1"/>
                </a:solidFill>
              </a:rPr>
              <a:t>— Kent Beck, creator of Extreme Programming, April 2023</a:t>
            </a:r>
            <a:endParaRPr lang="en-US" sz="1200" dirty="0"/>
          </a:p>
        </p:txBody>
      </p:sp>
      <p:sp>
        <p:nvSpPr>
          <p:cNvPr id="15" name="takeaway"/>
          <p:cNvSpPr txBox="1"/>
          <p:nvPr/>
        </p:nvSpPr>
        <p:spPr>
          <a:xfrm>
            <a:off x="457200" y="5212080"/>
            <a:ext cx="11247120" cy="777240"/>
          </a:xfrm>
          <a:prstGeom prst="rect">
            <a:avLst/>
          </a:prstGeom>
          <a:noFill/>
          <a:ln/>
        </p:spPr>
        <p:txBody>
          <a:bodyPr wrap="square" lIns="0" tIns="0" rIns="0" bIns="0" rtlCol="0" anchor="t"/>
          <a:lstStyle/>
          <a:p>
            <a:pPr indent="0" marL="0">
              <a:buNone/>
            </a:pPr>
            <a:r>
              <a:rPr lang="en-US" sz="1600" b="1" dirty="0">
                <a:solidFill>
                  <a:schemeClr val="accent1"/>
                </a:solidFill>
              </a:rPr>
              <a:t>We think: the jobs disappearing are the ones AI does instead of a person. The ones being posted are the reviewer's seat. The checklist teaches the 10%.</a:t>
            </a:r>
            <a:endParaRPr lang="en-US" sz="16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What this is — and isn't</a:t>
            </a:r>
            <a:endParaRPr lang="en-US" sz="3200" dirty="0"/>
          </a:p>
        </p:txBody>
      </p:sp>
      <p:sp>
        <p:nvSpPr>
          <p:cNvPr id="4" name="is card"/>
          <p:cNvSpPr/>
          <p:nvPr/>
        </p:nvSpPr>
        <p:spPr>
          <a:xfrm>
            <a:off x="457200" y="1371600"/>
            <a:ext cx="5394960" cy="4480560"/>
          </a:xfrm>
          <a:prstGeom prst="roundRect">
            <a:avLst>
              <a:gd name="adj" fmla="val 2449"/>
            </a:avLst>
          </a:prstGeom>
          <a:solidFill>
            <a:schemeClr val="bg2"/>
          </a:solidFill>
          <a:ln w="12700">
            <a:solidFill>
              <a:schemeClr val="bg2"/>
            </a:solidFill>
            <a:prstDash val="solid"/>
          </a:ln>
        </p:spPr>
      </p:sp>
      <p:sp>
        <p:nvSpPr>
          <p:cNvPr id="5" name="isnt card"/>
          <p:cNvSpPr/>
          <p:nvPr/>
        </p:nvSpPr>
        <p:spPr>
          <a:xfrm>
            <a:off x="6309360" y="1371600"/>
            <a:ext cx="5394960" cy="4480560"/>
          </a:xfrm>
          <a:prstGeom prst="roundRect">
            <a:avLst>
              <a:gd name="adj" fmla="val 2449"/>
            </a:avLst>
          </a:prstGeom>
          <a:solidFill>
            <a:schemeClr val="bg2"/>
          </a:solidFill>
          <a:ln w="12700">
            <a:solidFill>
              <a:schemeClr val="bg2"/>
            </a:solidFill>
            <a:prstDash val="solid"/>
          </a:ln>
        </p:spPr>
      </p:sp>
      <p:sp>
        <p:nvSpPr>
          <p:cNvPr id="6" name="is head"/>
          <p:cNvSpPr txBox="1"/>
          <p:nvPr/>
        </p:nvSpPr>
        <p:spPr>
          <a:xfrm>
            <a:off x="822960" y="1554480"/>
            <a:ext cx="4572000" cy="548640"/>
          </a:xfrm>
          <a:prstGeom prst="rect">
            <a:avLst/>
          </a:prstGeom>
          <a:noFill/>
          <a:ln/>
        </p:spPr>
        <p:txBody>
          <a:bodyPr wrap="square" lIns="0" tIns="0" rIns="0" bIns="0" rtlCol="0" anchor="t"/>
          <a:lstStyle/>
          <a:p>
            <a:pPr indent="0" marL="0">
              <a:buNone/>
            </a:pPr>
            <a:r>
              <a:rPr lang="en-US" sz="2600" b="1" dirty="0">
                <a:solidFill>
                  <a:schemeClr val="accent3"/>
                </a:solidFill>
              </a:rPr>
              <a:t>It is</a:t>
            </a:r>
            <a:endParaRPr lang="en-US" sz="2600" dirty="0"/>
          </a:p>
        </p:txBody>
      </p:sp>
      <p:sp>
        <p:nvSpPr>
          <p:cNvPr id="7" name="isnt head"/>
          <p:cNvSpPr txBox="1"/>
          <p:nvPr/>
        </p:nvSpPr>
        <p:spPr>
          <a:xfrm>
            <a:off x="6675120" y="1554480"/>
            <a:ext cx="4572000" cy="548640"/>
          </a:xfrm>
          <a:prstGeom prst="rect">
            <a:avLst/>
          </a:prstGeom>
          <a:noFill/>
          <a:ln/>
        </p:spPr>
        <p:txBody>
          <a:bodyPr wrap="square" lIns="0" tIns="0" rIns="0" bIns="0" rtlCol="0" anchor="t"/>
          <a:lstStyle/>
          <a:p>
            <a:pPr indent="0" marL="0">
              <a:buNone/>
            </a:pPr>
            <a:r>
              <a:rPr lang="en-US" sz="2600" b="1" dirty="0">
                <a:solidFill>
                  <a:schemeClr val="accent4"/>
                </a:solidFill>
              </a:rPr>
              <a:t>It isn't</a:t>
            </a:r>
            <a:endParaRPr lang="en-US" sz="2600" dirty="0"/>
          </a:p>
        </p:txBody>
      </p:sp>
      <p:sp>
        <p:nvSpPr>
          <p:cNvPr id="8" name="is list"/>
          <p:cNvSpPr txBox="1"/>
          <p:nvPr/>
        </p:nvSpPr>
        <p:spPr>
          <a:xfrm>
            <a:off x="822960" y="2286000"/>
            <a:ext cx="4663440" cy="3383280"/>
          </a:xfrm>
          <a:prstGeom prst="rect">
            <a:avLst/>
          </a:prstGeom>
          <a:noFill/>
          <a:ln/>
        </p:spPr>
        <p:txBody>
          <a:bodyPr wrap="square" lIns="0" tIns="0" rIns="0" bIns="0" rtlCol="0" anchor="t"/>
          <a:lstStyle/>
          <a:p>
            <a:pPr marL="342900" indent="-342900">
              <a:spcAft>
                <a:spcPts val="1400"/>
              </a:spcAft>
              <a:buSzPct val="100000"/>
              <a:buChar char="•"/>
            </a:pPr>
            <a:r>
              <a:rPr lang="en-US" sz="1700" dirty="0">
                <a:solidFill>
                  <a:schemeClr val="tx1"/>
                </a:solidFill>
              </a:rPr>
              <a:t>Describing what the robot should do, in English</a:t>
            </a:r>
            <a:endParaRPr lang="en-US" sz="1700" dirty="0"/>
          </a:p>
          <a:p>
            <a:pPr marL="342900" indent="-342900">
              <a:spcAft>
                <a:spcPts val="1400"/>
              </a:spcAft>
              <a:buSzPct val="100000"/>
              <a:buChar char="•"/>
            </a:pPr>
            <a:r>
              <a:rPr lang="en-US" sz="1700" dirty="0">
                <a:solidFill>
                  <a:schemeClr val="tx1"/>
                </a:solidFill>
              </a:rPr>
              <a:t>Testing after every change</a:t>
            </a:r>
            <a:endParaRPr lang="en-US" sz="1700" dirty="0"/>
          </a:p>
          <a:p>
            <a:pPr marL="342900" indent="-342900">
              <a:spcAft>
                <a:spcPts val="1400"/>
              </a:spcAft>
              <a:buSzPct val="100000"/>
              <a:buChar char="•"/>
            </a:pPr>
            <a:r>
              <a:rPr lang="en-US" sz="1700" dirty="0">
                <a:solidFill>
                  <a:schemeClr val="tx1"/>
                </a:solidFill>
              </a:rPr>
              <a:t>Learning what your robot's parts are called and how they interact</a:t>
            </a:r>
            <a:endParaRPr lang="en-US" sz="1700" dirty="0"/>
          </a:p>
          <a:p>
            <a:pPr marL="342900" indent="-342900">
              <a:spcAft>
                <a:spcPts val="1400"/>
              </a:spcAft>
              <a:buSzPct val="100000"/>
              <a:buChar char="•"/>
            </a:pPr>
            <a:r>
              <a:rPr lang="en-US" sz="1700" dirty="0">
                <a:solidFill>
                  <a:schemeClr val="tx1"/>
                </a:solidFill>
              </a:rPr>
              <a:t>A way for the whole team to change code</a:t>
            </a:r>
            <a:endParaRPr lang="en-US" sz="1700" dirty="0"/>
          </a:p>
        </p:txBody>
      </p:sp>
      <p:sp>
        <p:nvSpPr>
          <p:cNvPr id="9" name="isnt list"/>
          <p:cNvSpPr txBox="1"/>
          <p:nvPr/>
        </p:nvSpPr>
        <p:spPr>
          <a:xfrm>
            <a:off x="6675120" y="2286000"/>
            <a:ext cx="4663440" cy="3383280"/>
          </a:xfrm>
          <a:prstGeom prst="rect">
            <a:avLst/>
          </a:prstGeom>
          <a:noFill/>
          <a:ln/>
        </p:spPr>
        <p:txBody>
          <a:bodyPr wrap="square" lIns="0" tIns="0" rIns="0" bIns="0" rtlCol="0" anchor="t"/>
          <a:lstStyle/>
          <a:p>
            <a:pPr marL="342900" indent="-342900">
              <a:spcAft>
                <a:spcPts val="1400"/>
              </a:spcAft>
              <a:buSzPct val="100000"/>
              <a:buChar char="•"/>
            </a:pPr>
            <a:r>
              <a:rPr lang="en-US" sz="1700" dirty="0">
                <a:solidFill>
                  <a:schemeClr val="tx1"/>
                </a:solidFill>
              </a:rPr>
              <a:t>Copy-pasting code you don't understand</a:t>
            </a:r>
            <a:endParaRPr lang="en-US" sz="1700" dirty="0"/>
          </a:p>
          <a:p>
            <a:pPr marL="342900" indent="-342900">
              <a:spcAft>
                <a:spcPts val="1400"/>
              </a:spcAft>
              <a:buSzPct val="100000"/>
              <a:buChar char="•"/>
            </a:pPr>
            <a:r>
              <a:rPr lang="en-US" sz="1700" dirty="0">
                <a:solidFill>
                  <a:schemeClr val="tx1"/>
                </a:solidFill>
              </a:rPr>
              <a:t>Asking for the whole robot at once</a:t>
            </a:r>
            <a:endParaRPr lang="en-US" sz="1700" dirty="0"/>
          </a:p>
          <a:p>
            <a:pPr marL="342900" indent="-342900">
              <a:spcAft>
                <a:spcPts val="1400"/>
              </a:spcAft>
              <a:buSzPct val="100000"/>
              <a:buChar char="•"/>
            </a:pPr>
            <a:r>
              <a:rPr lang="en-US" sz="1700" dirty="0">
                <a:solidFill>
                  <a:schemeClr val="tx1"/>
                </a:solidFill>
              </a:rPr>
              <a:t>Skipping the learning</a:t>
            </a:r>
            <a:endParaRPr lang="en-US" sz="1700" dirty="0"/>
          </a:p>
          <a:p>
            <a:pPr marL="342900" indent="-342900">
              <a:spcAft>
                <a:spcPts val="1400"/>
              </a:spcAft>
              <a:buSzPct val="100000"/>
              <a:buChar char="•"/>
            </a:pPr>
            <a:r>
              <a:rPr lang="en-US" sz="1700" dirty="0">
                <a:solidFill>
                  <a:schemeClr val="tx1"/>
                </a:solidFill>
              </a:rPr>
              <a:t>A way to avoid having anyone learn code</a:t>
            </a:r>
            <a:endParaRPr lang="en-US" sz="17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The method: describe → generate → test → refine</a:t>
            </a:r>
            <a:endParaRPr lang="en-US" sz="3200" dirty="0"/>
          </a:p>
        </p:txBody>
      </p:sp>
      <p:sp>
        <p:nvSpPr>
          <p:cNvPr id="4" name="step DESCRIBE"/>
          <p:cNvSpPr/>
          <p:nvPr/>
        </p:nvSpPr>
        <p:spPr>
          <a:xfrm>
            <a:off x="457200" y="2103120"/>
            <a:ext cx="2468880" cy="914400"/>
          </a:xfrm>
          <a:prstGeom prst="hexagon">
            <a:avLst/>
          </a:prstGeom>
          <a:solidFill>
            <a:schemeClr val="accent1"/>
          </a:solidFill>
          <a:ln w="25400">
            <a:solidFill>
              <a:schemeClr val="accent1"/>
            </a:solidFill>
            <a:prstDash val="solid"/>
          </a:ln>
        </p:spPr>
      </p:sp>
      <p:sp>
        <p:nvSpPr>
          <p:cNvPr id="5" name="step label DESCRIBE"/>
          <p:cNvSpPr txBox="1"/>
          <p:nvPr/>
        </p:nvSpPr>
        <p:spPr>
          <a:xfrm>
            <a:off x="457200" y="2103120"/>
            <a:ext cx="2468880" cy="914400"/>
          </a:xfrm>
          <a:prstGeom prst="rect">
            <a:avLst/>
          </a:prstGeom>
          <a:noFill/>
          <a:ln/>
        </p:spPr>
        <p:txBody>
          <a:bodyPr wrap="square" lIns="0" tIns="0" rIns="0" bIns="0" rtlCol="0" anchor="ctr"/>
          <a:lstStyle/>
          <a:p>
            <a:pPr algn="ctr" indent="0" marL="0">
              <a:buNone/>
            </a:pPr>
            <a:r>
              <a:rPr lang="en-US" sz="2000" b="1" dirty="0">
                <a:solidFill>
                  <a:schemeClr val="bg1"/>
                </a:solidFill>
              </a:rPr>
              <a:t>DESCRIBE</a:t>
            </a:r>
            <a:endParaRPr lang="en-US" sz="2000" dirty="0"/>
          </a:p>
        </p:txBody>
      </p:sp>
      <p:sp>
        <p:nvSpPr>
          <p:cNvPr id="6" name="arrow 0"/>
          <p:cNvSpPr/>
          <p:nvPr/>
        </p:nvSpPr>
        <p:spPr>
          <a:xfrm>
            <a:off x="2971800" y="2377440"/>
            <a:ext cx="320040" cy="365760"/>
          </a:xfrm>
          <a:prstGeom prst="rightArrow">
            <a:avLst/>
          </a:prstGeom>
          <a:solidFill>
            <a:schemeClr val="accent1"/>
          </a:solidFill>
          <a:ln w="12700">
            <a:solidFill>
              <a:schemeClr val="accent1"/>
            </a:solidFill>
            <a:prstDash val="solid"/>
          </a:ln>
        </p:spPr>
      </p:sp>
      <p:sp>
        <p:nvSpPr>
          <p:cNvPr id="7" name="step text DESCRIBE"/>
          <p:cNvSpPr txBox="1"/>
          <p:nvPr/>
        </p:nvSpPr>
        <p:spPr>
          <a:xfrm>
            <a:off x="457200" y="3246120"/>
            <a:ext cx="2468880" cy="1463040"/>
          </a:xfrm>
          <a:prstGeom prst="rect">
            <a:avLst/>
          </a:prstGeom>
          <a:noFill/>
          <a:ln/>
        </p:spPr>
        <p:txBody>
          <a:bodyPr wrap="square" lIns="0" tIns="0" rIns="0" bIns="0" rtlCol="0" anchor="t"/>
          <a:lstStyle/>
          <a:p>
            <a:pPr indent="0" marL="0">
              <a:buNone/>
            </a:pPr>
            <a:r>
              <a:rPr lang="en-US" sz="1300" i="1" dirty="0">
                <a:solidFill>
                  <a:schemeClr val="tx2"/>
                </a:solidFill>
              </a:rPr>
              <a:t>“The intake is a motor named ‘intake’ plus two CR servos. A toggles collect at 0.5 power…”</a:t>
            </a:r>
            <a:endParaRPr lang="en-US" sz="1300" dirty="0"/>
          </a:p>
        </p:txBody>
      </p:sp>
      <p:sp>
        <p:nvSpPr>
          <p:cNvPr id="8" name="step GENERATE"/>
          <p:cNvSpPr/>
          <p:nvPr/>
        </p:nvSpPr>
        <p:spPr>
          <a:xfrm>
            <a:off x="3337560" y="2103120"/>
            <a:ext cx="2468880" cy="914400"/>
          </a:xfrm>
          <a:prstGeom prst="hexagon">
            <a:avLst/>
          </a:prstGeom>
          <a:solidFill>
            <a:schemeClr val="bg2"/>
          </a:solidFill>
          <a:ln w="25400">
            <a:solidFill>
              <a:schemeClr val="accent1"/>
            </a:solidFill>
            <a:prstDash val="solid"/>
          </a:ln>
        </p:spPr>
      </p:sp>
      <p:sp>
        <p:nvSpPr>
          <p:cNvPr id="9" name="step label GENERATE"/>
          <p:cNvSpPr txBox="1"/>
          <p:nvPr/>
        </p:nvSpPr>
        <p:spPr>
          <a:xfrm>
            <a:off x="3337560" y="2103120"/>
            <a:ext cx="2468880" cy="914400"/>
          </a:xfrm>
          <a:prstGeom prst="rect">
            <a:avLst/>
          </a:prstGeom>
          <a:noFill/>
          <a:ln/>
        </p:spPr>
        <p:txBody>
          <a:bodyPr wrap="square" lIns="0" tIns="0" rIns="0" bIns="0" rtlCol="0" anchor="ctr"/>
          <a:lstStyle/>
          <a:p>
            <a:pPr algn="ctr" indent="0" marL="0">
              <a:buNone/>
            </a:pPr>
            <a:r>
              <a:rPr lang="en-US" sz="2000" b="1" dirty="0">
                <a:solidFill>
                  <a:schemeClr val="accent1"/>
                </a:solidFill>
              </a:rPr>
              <a:t>GENERATE</a:t>
            </a:r>
            <a:endParaRPr lang="en-US" sz="2000" dirty="0"/>
          </a:p>
        </p:txBody>
      </p:sp>
      <p:sp>
        <p:nvSpPr>
          <p:cNvPr id="10" name="arrow 1"/>
          <p:cNvSpPr/>
          <p:nvPr/>
        </p:nvSpPr>
        <p:spPr>
          <a:xfrm>
            <a:off x="5852160" y="2377440"/>
            <a:ext cx="320040" cy="365760"/>
          </a:xfrm>
          <a:prstGeom prst="rightArrow">
            <a:avLst/>
          </a:prstGeom>
          <a:solidFill>
            <a:schemeClr val="accent1"/>
          </a:solidFill>
          <a:ln w="12700">
            <a:solidFill>
              <a:schemeClr val="accent1"/>
            </a:solidFill>
            <a:prstDash val="solid"/>
          </a:ln>
        </p:spPr>
      </p:sp>
      <p:sp>
        <p:nvSpPr>
          <p:cNvPr id="11" name="step text GENERATE"/>
          <p:cNvSpPr txBox="1"/>
          <p:nvPr/>
        </p:nvSpPr>
        <p:spPr>
          <a:xfrm>
            <a:off x="3337560" y="3246120"/>
            <a:ext cx="2468880" cy="1463040"/>
          </a:xfrm>
          <a:prstGeom prst="rect">
            <a:avLst/>
          </a:prstGeom>
          <a:noFill/>
          <a:ln/>
        </p:spPr>
        <p:txBody>
          <a:bodyPr wrap="square" lIns="0" tIns="0" rIns="0" bIns="0" rtlCol="0" anchor="t"/>
          <a:lstStyle/>
          <a:p>
            <a:pPr indent="0" marL="0">
              <a:buNone/>
            </a:pPr>
            <a:r>
              <a:rPr lang="en-US" sz="1300" dirty="0">
                <a:solidFill>
                  <a:schemeClr val="tx2"/>
                </a:solidFill>
              </a:rPr>
              <a:t>Gemini writes or edits the OpMode</a:t>
            </a:r>
            <a:endParaRPr lang="en-US" sz="1300" dirty="0"/>
          </a:p>
        </p:txBody>
      </p:sp>
      <p:sp>
        <p:nvSpPr>
          <p:cNvPr id="12" name="step TEST"/>
          <p:cNvSpPr/>
          <p:nvPr/>
        </p:nvSpPr>
        <p:spPr>
          <a:xfrm>
            <a:off x="6217920" y="2103120"/>
            <a:ext cx="2468880" cy="914400"/>
          </a:xfrm>
          <a:prstGeom prst="hexagon">
            <a:avLst/>
          </a:prstGeom>
          <a:solidFill>
            <a:schemeClr val="bg2"/>
          </a:solidFill>
          <a:ln w="25400">
            <a:solidFill>
              <a:schemeClr val="accent1"/>
            </a:solidFill>
            <a:prstDash val="solid"/>
          </a:ln>
        </p:spPr>
      </p:sp>
      <p:sp>
        <p:nvSpPr>
          <p:cNvPr id="13" name="step label TEST"/>
          <p:cNvSpPr txBox="1"/>
          <p:nvPr/>
        </p:nvSpPr>
        <p:spPr>
          <a:xfrm>
            <a:off x="6217920" y="2103120"/>
            <a:ext cx="2468880" cy="914400"/>
          </a:xfrm>
          <a:prstGeom prst="rect">
            <a:avLst/>
          </a:prstGeom>
          <a:noFill/>
          <a:ln/>
        </p:spPr>
        <p:txBody>
          <a:bodyPr wrap="square" lIns="0" tIns="0" rIns="0" bIns="0" rtlCol="0" anchor="ctr"/>
          <a:lstStyle/>
          <a:p>
            <a:pPr algn="ctr" indent="0" marL="0">
              <a:buNone/>
            </a:pPr>
            <a:r>
              <a:rPr lang="en-US" sz="2000" b="1" dirty="0">
                <a:solidFill>
                  <a:schemeClr val="accent1"/>
                </a:solidFill>
              </a:rPr>
              <a:t>TEST</a:t>
            </a:r>
            <a:endParaRPr lang="en-US" sz="2000" dirty="0"/>
          </a:p>
        </p:txBody>
      </p:sp>
      <p:sp>
        <p:nvSpPr>
          <p:cNvPr id="14" name="arrow 2"/>
          <p:cNvSpPr/>
          <p:nvPr/>
        </p:nvSpPr>
        <p:spPr>
          <a:xfrm>
            <a:off x="8732520" y="2377440"/>
            <a:ext cx="320040" cy="365760"/>
          </a:xfrm>
          <a:prstGeom prst="rightArrow">
            <a:avLst/>
          </a:prstGeom>
          <a:solidFill>
            <a:schemeClr val="accent1"/>
          </a:solidFill>
          <a:ln w="12700">
            <a:solidFill>
              <a:schemeClr val="accent1"/>
            </a:solidFill>
            <a:prstDash val="solid"/>
          </a:ln>
        </p:spPr>
      </p:sp>
      <p:sp>
        <p:nvSpPr>
          <p:cNvPr id="15" name="step text TEST"/>
          <p:cNvSpPr txBox="1"/>
          <p:nvPr/>
        </p:nvSpPr>
        <p:spPr>
          <a:xfrm>
            <a:off x="6217920" y="3246120"/>
            <a:ext cx="2468880" cy="1463040"/>
          </a:xfrm>
          <a:prstGeom prst="rect">
            <a:avLst/>
          </a:prstGeom>
          <a:noFill/>
          <a:ln/>
        </p:spPr>
        <p:txBody>
          <a:bodyPr wrap="square" lIns="0" tIns="0" rIns="0" bIns="0" rtlCol="0" anchor="t"/>
          <a:lstStyle/>
          <a:p>
            <a:pPr indent="0" marL="0">
              <a:buNone/>
            </a:pPr>
            <a:r>
              <a:rPr lang="en-US" sz="1300" dirty="0">
                <a:solidFill>
                  <a:schemeClr val="tx2"/>
                </a:solidFill>
              </a:rPr>
              <a:t>Deploy to the robot. Try it.</a:t>
            </a:r>
            <a:endParaRPr lang="en-US" sz="1300" dirty="0"/>
          </a:p>
        </p:txBody>
      </p:sp>
      <p:sp>
        <p:nvSpPr>
          <p:cNvPr id="16" name="step REFINE"/>
          <p:cNvSpPr/>
          <p:nvPr/>
        </p:nvSpPr>
        <p:spPr>
          <a:xfrm>
            <a:off x="9098280" y="2103120"/>
            <a:ext cx="2468880" cy="914400"/>
          </a:xfrm>
          <a:prstGeom prst="hexagon">
            <a:avLst/>
          </a:prstGeom>
          <a:solidFill>
            <a:schemeClr val="accent1"/>
          </a:solidFill>
          <a:ln w="25400">
            <a:solidFill>
              <a:schemeClr val="accent1"/>
            </a:solidFill>
            <a:prstDash val="solid"/>
          </a:ln>
        </p:spPr>
      </p:sp>
      <p:sp>
        <p:nvSpPr>
          <p:cNvPr id="17" name="step label REFINE"/>
          <p:cNvSpPr txBox="1"/>
          <p:nvPr/>
        </p:nvSpPr>
        <p:spPr>
          <a:xfrm>
            <a:off x="9098280" y="2103120"/>
            <a:ext cx="2468880" cy="914400"/>
          </a:xfrm>
          <a:prstGeom prst="rect">
            <a:avLst/>
          </a:prstGeom>
          <a:noFill/>
          <a:ln/>
        </p:spPr>
        <p:txBody>
          <a:bodyPr wrap="square" lIns="0" tIns="0" rIns="0" bIns="0" rtlCol="0" anchor="ctr"/>
          <a:lstStyle/>
          <a:p>
            <a:pPr algn="ctr" indent="0" marL="0">
              <a:buNone/>
            </a:pPr>
            <a:r>
              <a:rPr lang="en-US" sz="2000" b="1" dirty="0">
                <a:solidFill>
                  <a:schemeClr val="bg1"/>
                </a:solidFill>
              </a:rPr>
              <a:t>REFINE</a:t>
            </a:r>
            <a:endParaRPr lang="en-US" sz="2000" dirty="0"/>
          </a:p>
        </p:txBody>
      </p:sp>
      <p:sp>
        <p:nvSpPr>
          <p:cNvPr id="18" name="step text REFINE"/>
          <p:cNvSpPr txBox="1"/>
          <p:nvPr/>
        </p:nvSpPr>
        <p:spPr>
          <a:xfrm>
            <a:off x="9098280" y="3246120"/>
            <a:ext cx="2468880" cy="1463040"/>
          </a:xfrm>
          <a:prstGeom prst="rect">
            <a:avLst/>
          </a:prstGeom>
          <a:noFill/>
          <a:ln/>
        </p:spPr>
        <p:txBody>
          <a:bodyPr wrap="square" lIns="0" tIns="0" rIns="0" bIns="0" rtlCol="0" anchor="t"/>
          <a:lstStyle/>
          <a:p>
            <a:pPr indent="0" marL="0">
              <a:buNone/>
            </a:pPr>
            <a:r>
              <a:rPr lang="en-US" sz="1300" i="1" dirty="0">
                <a:solidFill>
                  <a:schemeClr val="tx2"/>
                </a:solidFill>
              </a:rPr>
              <a:t>“it is spitting balls out, so i would like to shorten it”</a:t>
            </a:r>
            <a:endParaRPr lang="en-US" sz="1300" dirty="0"/>
          </a:p>
        </p:txBody>
      </p:sp>
      <p:sp>
        <p:nvSpPr>
          <p:cNvPr id="19" name="return line"/>
          <p:cNvSpPr/>
          <p:nvPr/>
        </p:nvSpPr>
        <p:spPr>
          <a:xfrm>
            <a:off x="4572000" y="4937760"/>
            <a:ext cx="5760720" cy="0"/>
          </a:xfrm>
          <a:prstGeom prst="line">
            <a:avLst/>
          </a:prstGeom>
          <a:noFill/>
          <a:ln w="19050">
            <a:solidFill>
              <a:schemeClr val="accent1"/>
            </a:solidFill>
            <a:prstDash val="solid"/>
            <a:headEnd type="triangle"/>
          </a:ln>
        </p:spPr>
      </p:sp>
      <p:sp>
        <p:nvSpPr>
          <p:cNvPr id="20" name="return label"/>
          <p:cNvSpPr txBox="1"/>
          <p:nvPr/>
        </p:nvSpPr>
        <p:spPr>
          <a:xfrm>
            <a:off x="4754880" y="5029200"/>
            <a:ext cx="5486400" cy="365760"/>
          </a:xfrm>
          <a:prstGeom prst="rect">
            <a:avLst/>
          </a:prstGeom>
          <a:noFill/>
          <a:ln/>
        </p:spPr>
        <p:txBody>
          <a:bodyPr wrap="square" lIns="0" tIns="0" rIns="0" bIns="0" rtlCol="0" anchor="t"/>
          <a:lstStyle/>
          <a:p>
            <a:pPr indent="0" marL="0">
              <a:buNone/>
            </a:pPr>
            <a:r>
              <a:rPr lang="en-US" sz="1200" dirty="0">
                <a:solidFill>
                  <a:schemeClr val="tx2"/>
                </a:solidFill>
              </a:rPr>
              <a:t>…and back to GENERATE</a:t>
            </a:r>
            <a:endParaRPr lang="en-US" sz="1200" dirty="0"/>
          </a:p>
        </p:txBody>
      </p:sp>
      <p:sp>
        <p:nvSpPr>
          <p:cNvPr id="21" name="takeaway"/>
          <p:cNvSpPr txBox="1"/>
          <p:nvPr/>
        </p:nvSpPr>
        <p:spPr>
          <a:xfrm>
            <a:off x="457200" y="5669280"/>
            <a:ext cx="11247120" cy="457200"/>
          </a:xfrm>
          <a:prstGeom prst="rect">
            <a:avLst/>
          </a:prstGeom>
          <a:noFill/>
          <a:ln/>
        </p:spPr>
        <p:txBody>
          <a:bodyPr wrap="square" lIns="0" tIns="0" rIns="0" bIns="0" rtlCol="0" anchor="t"/>
          <a:lstStyle/>
          <a:p>
            <a:pPr indent="0" marL="0">
              <a:buNone/>
            </a:pPr>
            <a:r>
              <a:rPr lang="en-US" sz="1500" b="1" dirty="0">
                <a:solidFill>
                  <a:schemeClr val="accent1"/>
                </a:solidFill>
              </a:rPr>
              <a:t>The skill you build is DESCRIBE and REFINE: names, directions, timing, order.</a:t>
            </a:r>
            <a:endParaRPr lang="en-US" sz="15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The checkpoints — one trip around the loop each</a:t>
            </a:r>
            <a:endParaRPr lang="en-US" sz="3200" dirty="0"/>
          </a:p>
        </p:txBody>
      </p:sp>
      <p:sp>
        <p:nvSpPr>
          <p:cNvPr id="4" name="hex 0"/>
          <p:cNvSpPr/>
          <p:nvPr/>
        </p:nvSpPr>
        <p:spPr>
          <a:xfrm>
            <a:off x="457200" y="1417320"/>
            <a:ext cx="640080" cy="640080"/>
          </a:xfrm>
          <a:prstGeom prst="hexagon">
            <a:avLst/>
          </a:prstGeom>
          <a:solidFill>
            <a:schemeClr val="bg1"/>
          </a:solidFill>
          <a:ln w="25400">
            <a:solidFill>
              <a:schemeClr val="accent1"/>
            </a:solidFill>
            <a:prstDash val="solid"/>
          </a:ln>
        </p:spPr>
      </p:sp>
      <p:sp>
        <p:nvSpPr>
          <p:cNvPr id="5" name="hex label 0"/>
          <p:cNvSpPr txBox="1"/>
          <p:nvPr/>
        </p:nvSpPr>
        <p:spPr>
          <a:xfrm>
            <a:off x="457200" y="1417320"/>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0</a:t>
            </a:r>
            <a:endParaRPr lang="en-US" sz="1800" dirty="0"/>
          </a:p>
        </p:txBody>
      </p:sp>
      <p:sp>
        <p:nvSpPr>
          <p:cNvPr id="6" name="cp 0"/>
          <p:cNvSpPr txBox="1"/>
          <p:nvPr/>
        </p:nvSpPr>
        <p:spPr>
          <a:xfrm>
            <a:off x="1280160" y="1417320"/>
            <a:ext cx="4663440" cy="640080"/>
          </a:xfrm>
          <a:prstGeom prst="rect">
            <a:avLst/>
          </a:prstGeom>
          <a:noFill/>
          <a:ln/>
        </p:spPr>
        <p:txBody>
          <a:bodyPr wrap="square" lIns="0" tIns="0" rIns="0" bIns="0" rtlCol="0" anchor="ctr"/>
          <a:lstStyle/>
          <a:p>
            <a:pPr indent="0" marL="0">
              <a:buNone/>
            </a:pPr>
            <a:r>
              <a:rPr lang="en-US" sz="1400" dirty="0">
                <a:solidFill>
                  <a:schemeClr val="tx1"/>
                </a:solidFill>
              </a:rPr>
              <a:t>Install Android Studio + FtcRobotController, sign in to Gemini</a:t>
            </a:r>
            <a:endParaRPr lang="en-US" sz="1400" dirty="0"/>
          </a:p>
        </p:txBody>
      </p:sp>
      <p:sp>
        <p:nvSpPr>
          <p:cNvPr id="7" name="hex 1"/>
          <p:cNvSpPr/>
          <p:nvPr/>
        </p:nvSpPr>
        <p:spPr>
          <a:xfrm>
            <a:off x="457200" y="2313432"/>
            <a:ext cx="640080" cy="640080"/>
          </a:xfrm>
          <a:prstGeom prst="hexagon">
            <a:avLst/>
          </a:prstGeom>
          <a:solidFill>
            <a:schemeClr val="bg1"/>
          </a:solidFill>
          <a:ln w="25400">
            <a:solidFill>
              <a:schemeClr val="accent1"/>
            </a:solidFill>
            <a:prstDash val="solid"/>
          </a:ln>
        </p:spPr>
      </p:sp>
      <p:sp>
        <p:nvSpPr>
          <p:cNvPr id="8" name="hex label 1"/>
          <p:cNvSpPr txBox="1"/>
          <p:nvPr/>
        </p:nvSpPr>
        <p:spPr>
          <a:xfrm>
            <a:off x="457200" y="2313432"/>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1</a:t>
            </a:r>
            <a:endParaRPr lang="en-US" sz="1800" dirty="0"/>
          </a:p>
        </p:txBody>
      </p:sp>
      <p:sp>
        <p:nvSpPr>
          <p:cNvPr id="9" name="cp 1"/>
          <p:cNvSpPr txBox="1"/>
          <p:nvPr/>
        </p:nvSpPr>
        <p:spPr>
          <a:xfrm>
            <a:off x="1280160" y="2313432"/>
            <a:ext cx="4663440" cy="640080"/>
          </a:xfrm>
          <a:prstGeom prst="rect">
            <a:avLst/>
          </a:prstGeom>
          <a:noFill/>
          <a:ln/>
        </p:spPr>
        <p:txBody>
          <a:bodyPr wrap="square" lIns="0" tIns="0" rIns="0" bIns="0" rtlCol="0" anchor="ctr"/>
          <a:lstStyle/>
          <a:p>
            <a:pPr indent="0" marL="0">
              <a:buNone/>
            </a:pPr>
            <a:r>
              <a:rPr lang="en-US" sz="1400" dirty="0">
                <a:solidFill>
                  <a:schemeClr val="tx1"/>
                </a:solidFill>
              </a:rPr>
              <a:t>Describe the robot: names, ports, purposes, directions</a:t>
            </a:r>
            <a:endParaRPr lang="en-US" sz="1400" dirty="0"/>
          </a:p>
        </p:txBody>
      </p:sp>
      <p:sp>
        <p:nvSpPr>
          <p:cNvPr id="10" name="hex 2"/>
          <p:cNvSpPr/>
          <p:nvPr/>
        </p:nvSpPr>
        <p:spPr>
          <a:xfrm>
            <a:off x="457200" y="3209544"/>
            <a:ext cx="640080" cy="640080"/>
          </a:xfrm>
          <a:prstGeom prst="hexagon">
            <a:avLst/>
          </a:prstGeom>
          <a:solidFill>
            <a:schemeClr val="bg1"/>
          </a:solidFill>
          <a:ln w="25400">
            <a:solidFill>
              <a:schemeClr val="accent1"/>
            </a:solidFill>
            <a:prstDash val="solid"/>
          </a:ln>
        </p:spPr>
      </p:sp>
      <p:sp>
        <p:nvSpPr>
          <p:cNvPr id="11" name="hex label 2"/>
          <p:cNvSpPr txBox="1"/>
          <p:nvPr/>
        </p:nvSpPr>
        <p:spPr>
          <a:xfrm>
            <a:off x="457200" y="3209544"/>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2</a:t>
            </a:r>
            <a:endParaRPr lang="en-US" sz="1800" dirty="0"/>
          </a:p>
        </p:txBody>
      </p:sp>
      <p:sp>
        <p:nvSpPr>
          <p:cNvPr id="12" name="cp 2"/>
          <p:cNvSpPr txBox="1"/>
          <p:nvPr/>
        </p:nvSpPr>
        <p:spPr>
          <a:xfrm>
            <a:off x="1280160" y="3209544"/>
            <a:ext cx="4663440" cy="640080"/>
          </a:xfrm>
          <a:prstGeom prst="rect">
            <a:avLst/>
          </a:prstGeom>
          <a:noFill/>
          <a:ln/>
        </p:spPr>
        <p:txBody>
          <a:bodyPr wrap="square" lIns="0" tIns="0" rIns="0" bIns="0" rtlCol="0" anchor="ctr"/>
          <a:lstStyle/>
          <a:p>
            <a:pPr indent="0" marL="0">
              <a:buNone/>
            </a:pPr>
            <a:r>
              <a:rPr lang="en-US" sz="1400" dirty="0">
                <a:solidFill>
                  <a:schemeClr val="tx1"/>
                </a:solidFill>
              </a:rPr>
              <a:t>Mecanum drive</a:t>
            </a:r>
            <a:pPr indent="0" marL="0">
              <a:buNone/>
            </a:pPr>
            <a:r>
              <a:rPr lang="en-US" sz="1400" b="1" dirty="0">
                <a:solidFill>
                  <a:schemeClr val="accent3"/>
                </a:solidFill>
              </a:rPr>
              <a:t>  → test</a:t>
            </a:r>
            <a:endParaRPr lang="en-US" sz="1400" dirty="0"/>
          </a:p>
        </p:txBody>
      </p:sp>
      <p:sp>
        <p:nvSpPr>
          <p:cNvPr id="13" name="hex 3"/>
          <p:cNvSpPr/>
          <p:nvPr/>
        </p:nvSpPr>
        <p:spPr>
          <a:xfrm>
            <a:off x="457200" y="4105656"/>
            <a:ext cx="640080" cy="640080"/>
          </a:xfrm>
          <a:prstGeom prst="hexagon">
            <a:avLst/>
          </a:prstGeom>
          <a:solidFill>
            <a:schemeClr val="bg1"/>
          </a:solidFill>
          <a:ln w="25400">
            <a:solidFill>
              <a:schemeClr val="accent1"/>
            </a:solidFill>
            <a:prstDash val="solid"/>
          </a:ln>
        </p:spPr>
      </p:sp>
      <p:sp>
        <p:nvSpPr>
          <p:cNvPr id="14" name="hex label 3"/>
          <p:cNvSpPr txBox="1"/>
          <p:nvPr/>
        </p:nvSpPr>
        <p:spPr>
          <a:xfrm>
            <a:off x="457200" y="4105656"/>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3</a:t>
            </a:r>
            <a:endParaRPr lang="en-US" sz="1800" dirty="0"/>
          </a:p>
        </p:txBody>
      </p:sp>
      <p:sp>
        <p:nvSpPr>
          <p:cNvPr id="15" name="cp 3"/>
          <p:cNvSpPr txBox="1"/>
          <p:nvPr/>
        </p:nvSpPr>
        <p:spPr>
          <a:xfrm>
            <a:off x="1280160" y="4105656"/>
            <a:ext cx="4663440" cy="640080"/>
          </a:xfrm>
          <a:prstGeom prst="rect">
            <a:avLst/>
          </a:prstGeom>
          <a:noFill/>
          <a:ln/>
        </p:spPr>
        <p:txBody>
          <a:bodyPr wrap="square" lIns="0" tIns="0" rIns="0" bIns="0" rtlCol="0" anchor="ctr"/>
          <a:lstStyle/>
          <a:p>
            <a:pPr indent="0" marL="0">
              <a:buNone/>
            </a:pPr>
            <a:r>
              <a:rPr lang="en-US" sz="1400" dirty="0">
                <a:solidFill>
                  <a:schemeClr val="tx1"/>
                </a:solidFill>
              </a:rPr>
              <a:t>Intake</a:t>
            </a:r>
            <a:pPr indent="0" marL="0">
              <a:buNone/>
            </a:pPr>
            <a:r>
              <a:rPr lang="en-US" sz="1400" b="1" dirty="0">
                <a:solidFill>
                  <a:schemeClr val="accent3"/>
                </a:solidFill>
              </a:rPr>
              <a:t>  → test</a:t>
            </a:r>
            <a:endParaRPr lang="en-US" sz="1400" dirty="0"/>
          </a:p>
        </p:txBody>
      </p:sp>
      <p:sp>
        <p:nvSpPr>
          <p:cNvPr id="16" name="hex 4"/>
          <p:cNvSpPr/>
          <p:nvPr/>
        </p:nvSpPr>
        <p:spPr>
          <a:xfrm>
            <a:off x="457200" y="5001768"/>
            <a:ext cx="640080" cy="640080"/>
          </a:xfrm>
          <a:prstGeom prst="hexagon">
            <a:avLst/>
          </a:prstGeom>
          <a:solidFill>
            <a:schemeClr val="bg1"/>
          </a:solidFill>
          <a:ln w="25400">
            <a:solidFill>
              <a:schemeClr val="accent1"/>
            </a:solidFill>
            <a:prstDash val="solid"/>
          </a:ln>
        </p:spPr>
      </p:sp>
      <p:sp>
        <p:nvSpPr>
          <p:cNvPr id="17" name="hex label 4"/>
          <p:cNvSpPr txBox="1"/>
          <p:nvPr/>
        </p:nvSpPr>
        <p:spPr>
          <a:xfrm>
            <a:off x="457200" y="5001768"/>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4</a:t>
            </a:r>
            <a:endParaRPr lang="en-US" sz="1800" dirty="0"/>
          </a:p>
        </p:txBody>
      </p:sp>
      <p:sp>
        <p:nvSpPr>
          <p:cNvPr id="18" name="cp 4"/>
          <p:cNvSpPr txBox="1"/>
          <p:nvPr/>
        </p:nvSpPr>
        <p:spPr>
          <a:xfrm>
            <a:off x="1280160" y="5001768"/>
            <a:ext cx="4663440" cy="640080"/>
          </a:xfrm>
          <a:prstGeom prst="rect">
            <a:avLst/>
          </a:prstGeom>
          <a:noFill/>
          <a:ln/>
        </p:spPr>
        <p:txBody>
          <a:bodyPr wrap="square" lIns="0" tIns="0" rIns="0" bIns="0" rtlCol="0" anchor="ctr"/>
          <a:lstStyle/>
          <a:p>
            <a:pPr indent="0" marL="0">
              <a:buNone/>
            </a:pPr>
            <a:r>
              <a:rPr lang="en-US" sz="1400" dirty="0">
                <a:solidFill>
                  <a:schemeClr val="tx1"/>
                </a:solidFill>
              </a:rPr>
              <a:t>Shooter: flywheel startup sequence + pulsed feed</a:t>
            </a:r>
            <a:pPr indent="0" marL="0">
              <a:buNone/>
            </a:pPr>
            <a:r>
              <a:rPr lang="en-US" sz="1400" b="1" dirty="0">
                <a:solidFill>
                  <a:schemeClr val="accent3"/>
                </a:solidFill>
              </a:rPr>
              <a:t>  → test</a:t>
            </a:r>
            <a:endParaRPr lang="en-US" sz="1400" dirty="0"/>
          </a:p>
        </p:txBody>
      </p:sp>
      <p:sp>
        <p:nvSpPr>
          <p:cNvPr id="19" name="hex 5"/>
          <p:cNvSpPr/>
          <p:nvPr/>
        </p:nvSpPr>
        <p:spPr>
          <a:xfrm>
            <a:off x="6217920" y="1417320"/>
            <a:ext cx="640080" cy="640080"/>
          </a:xfrm>
          <a:prstGeom prst="hexagon">
            <a:avLst/>
          </a:prstGeom>
          <a:solidFill>
            <a:schemeClr val="bg1"/>
          </a:solidFill>
          <a:ln w="25400">
            <a:solidFill>
              <a:schemeClr val="accent1"/>
            </a:solidFill>
            <a:prstDash val="solid"/>
          </a:ln>
        </p:spPr>
      </p:sp>
      <p:sp>
        <p:nvSpPr>
          <p:cNvPr id="20" name="hex label 5"/>
          <p:cNvSpPr txBox="1"/>
          <p:nvPr/>
        </p:nvSpPr>
        <p:spPr>
          <a:xfrm>
            <a:off x="6217920" y="1417320"/>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5</a:t>
            </a:r>
            <a:endParaRPr lang="en-US" sz="1800" dirty="0"/>
          </a:p>
        </p:txBody>
      </p:sp>
      <p:sp>
        <p:nvSpPr>
          <p:cNvPr id="21" name="cp 5"/>
          <p:cNvSpPr txBox="1"/>
          <p:nvPr/>
        </p:nvSpPr>
        <p:spPr>
          <a:xfrm>
            <a:off x="7040880" y="1417320"/>
            <a:ext cx="4663440" cy="640080"/>
          </a:xfrm>
          <a:prstGeom prst="rect">
            <a:avLst/>
          </a:prstGeom>
          <a:noFill/>
          <a:ln/>
        </p:spPr>
        <p:txBody>
          <a:bodyPr wrap="square" lIns="0" tIns="0" rIns="0" bIns="0" rtlCol="0" anchor="ctr"/>
          <a:lstStyle/>
          <a:p>
            <a:pPr indent="0" marL="0">
              <a:buNone/>
            </a:pPr>
            <a:r>
              <a:rPr lang="en-US" sz="1400" dirty="0">
                <a:solidFill>
                  <a:schemeClr val="tx1"/>
                </a:solidFill>
              </a:rPr>
              <a:t>Refine: the mechanical mentor's four real prompts</a:t>
            </a:r>
            <a:endParaRPr lang="en-US" sz="1400" dirty="0"/>
          </a:p>
        </p:txBody>
      </p:sp>
      <p:sp>
        <p:nvSpPr>
          <p:cNvPr id="22" name="hex 6"/>
          <p:cNvSpPr/>
          <p:nvPr/>
        </p:nvSpPr>
        <p:spPr>
          <a:xfrm>
            <a:off x="6217920" y="2313432"/>
            <a:ext cx="640080" cy="640080"/>
          </a:xfrm>
          <a:prstGeom prst="hexagon">
            <a:avLst/>
          </a:prstGeom>
          <a:solidFill>
            <a:schemeClr val="bg1"/>
          </a:solidFill>
          <a:ln w="25400">
            <a:solidFill>
              <a:schemeClr val="accent1"/>
            </a:solidFill>
            <a:prstDash val="solid"/>
          </a:ln>
        </p:spPr>
      </p:sp>
      <p:sp>
        <p:nvSpPr>
          <p:cNvPr id="23" name="hex label 6"/>
          <p:cNvSpPr txBox="1"/>
          <p:nvPr/>
        </p:nvSpPr>
        <p:spPr>
          <a:xfrm>
            <a:off x="6217920" y="2313432"/>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6</a:t>
            </a:r>
            <a:endParaRPr lang="en-US" sz="1800" dirty="0"/>
          </a:p>
        </p:txBody>
      </p:sp>
      <p:sp>
        <p:nvSpPr>
          <p:cNvPr id="24" name="cp 6"/>
          <p:cNvSpPr txBox="1"/>
          <p:nvPr/>
        </p:nvSpPr>
        <p:spPr>
          <a:xfrm>
            <a:off x="7040880" y="2313432"/>
            <a:ext cx="4663440" cy="640080"/>
          </a:xfrm>
          <a:prstGeom prst="rect">
            <a:avLst/>
          </a:prstGeom>
          <a:noFill/>
          <a:ln/>
        </p:spPr>
        <p:txBody>
          <a:bodyPr wrap="square" lIns="0" tIns="0" rIns="0" bIns="0" rtlCol="0" anchor="ctr"/>
          <a:lstStyle/>
          <a:p>
            <a:pPr indent="0" marL="0">
              <a:buNone/>
            </a:pPr>
            <a:r>
              <a:rPr lang="en-US" sz="1400" dirty="0">
                <a:solidFill>
                  <a:schemeClr val="tx1"/>
                </a:solidFill>
              </a:rPr>
              <a:t>Auto v1: back off the wall and shoot</a:t>
            </a:r>
            <a:pPr indent="0" marL="0">
              <a:buNone/>
            </a:pPr>
            <a:r>
              <a:rPr lang="en-US" sz="1400" b="1" dirty="0">
                <a:solidFill>
                  <a:schemeClr val="accent3"/>
                </a:solidFill>
              </a:rPr>
              <a:t>  → test</a:t>
            </a:r>
            <a:endParaRPr lang="en-US" sz="1400" dirty="0"/>
          </a:p>
        </p:txBody>
      </p:sp>
      <p:sp>
        <p:nvSpPr>
          <p:cNvPr id="25" name="hex 7"/>
          <p:cNvSpPr/>
          <p:nvPr/>
        </p:nvSpPr>
        <p:spPr>
          <a:xfrm>
            <a:off x="6217920" y="3209544"/>
            <a:ext cx="640080" cy="640080"/>
          </a:xfrm>
          <a:prstGeom prst="hexagon">
            <a:avLst/>
          </a:prstGeom>
          <a:solidFill>
            <a:schemeClr val="bg1"/>
          </a:solidFill>
          <a:ln w="25400">
            <a:solidFill>
              <a:schemeClr val="accent1"/>
            </a:solidFill>
            <a:prstDash val="solid"/>
          </a:ln>
        </p:spPr>
      </p:sp>
      <p:sp>
        <p:nvSpPr>
          <p:cNvPr id="26" name="hex label 7"/>
          <p:cNvSpPr txBox="1"/>
          <p:nvPr/>
        </p:nvSpPr>
        <p:spPr>
          <a:xfrm>
            <a:off x="6217920" y="3209544"/>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7</a:t>
            </a:r>
            <a:endParaRPr lang="en-US" sz="1800" dirty="0"/>
          </a:p>
        </p:txBody>
      </p:sp>
      <p:sp>
        <p:nvSpPr>
          <p:cNvPr id="27" name="cp 7"/>
          <p:cNvSpPr txBox="1"/>
          <p:nvPr/>
        </p:nvSpPr>
        <p:spPr>
          <a:xfrm>
            <a:off x="7040880" y="3209544"/>
            <a:ext cx="4663440" cy="640080"/>
          </a:xfrm>
          <a:prstGeom prst="rect">
            <a:avLst/>
          </a:prstGeom>
          <a:noFill/>
          <a:ln/>
        </p:spPr>
        <p:txBody>
          <a:bodyPr wrap="square" lIns="0" tIns="0" rIns="0" bIns="0" rtlCol="0" anchor="ctr"/>
          <a:lstStyle/>
          <a:p>
            <a:pPr indent="0" marL="0">
              <a:buNone/>
            </a:pPr>
            <a:r>
              <a:rPr lang="en-US" sz="1400" dirty="0">
                <a:solidFill>
                  <a:schemeClr val="tx1"/>
                </a:solidFill>
              </a:rPr>
              <a:t>Auto v2: Shoot First / Shoot Delayed, which parks</a:t>
            </a:r>
            <a:pPr indent="0" marL="0">
              <a:buNone/>
            </a:pPr>
            <a:r>
              <a:rPr lang="en-US" sz="1400" b="1" dirty="0">
                <a:solidFill>
                  <a:schemeClr val="accent3"/>
                </a:solidFill>
              </a:rPr>
              <a:t>  → test</a:t>
            </a:r>
            <a:endParaRPr lang="en-US" sz="1400" dirty="0"/>
          </a:p>
        </p:txBody>
      </p:sp>
      <p:sp>
        <p:nvSpPr>
          <p:cNvPr id="28" name="hex 8"/>
          <p:cNvSpPr/>
          <p:nvPr/>
        </p:nvSpPr>
        <p:spPr>
          <a:xfrm>
            <a:off x="6217920" y="4105656"/>
            <a:ext cx="640080" cy="640080"/>
          </a:xfrm>
          <a:prstGeom prst="hexagon">
            <a:avLst/>
          </a:prstGeom>
          <a:solidFill>
            <a:schemeClr val="bg1"/>
          </a:solidFill>
          <a:ln w="25400">
            <a:solidFill>
              <a:schemeClr val="accent1"/>
            </a:solidFill>
            <a:prstDash val="solid"/>
          </a:ln>
        </p:spPr>
      </p:sp>
      <p:sp>
        <p:nvSpPr>
          <p:cNvPr id="29" name="hex label 8"/>
          <p:cNvSpPr txBox="1"/>
          <p:nvPr/>
        </p:nvSpPr>
        <p:spPr>
          <a:xfrm>
            <a:off x="6217920" y="4105656"/>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8</a:t>
            </a:r>
            <a:endParaRPr lang="en-US" sz="1800" dirty="0"/>
          </a:p>
        </p:txBody>
      </p:sp>
      <p:sp>
        <p:nvSpPr>
          <p:cNvPr id="30" name="cp 8"/>
          <p:cNvSpPr txBox="1"/>
          <p:nvPr/>
        </p:nvSpPr>
        <p:spPr>
          <a:xfrm>
            <a:off x="7040880" y="4105656"/>
            <a:ext cx="4663440" cy="640080"/>
          </a:xfrm>
          <a:prstGeom prst="rect">
            <a:avLst/>
          </a:prstGeom>
          <a:noFill/>
          <a:ln/>
        </p:spPr>
        <p:txBody>
          <a:bodyPr wrap="square" lIns="0" tIns="0" rIns="0" bIns="0" rtlCol="0" anchor="ctr"/>
          <a:lstStyle/>
          <a:p>
            <a:pPr indent="0" marL="0">
              <a:buNone/>
            </a:pPr>
            <a:r>
              <a:rPr lang="en-US" sz="1400" dirty="0">
                <a:solidFill>
                  <a:schemeClr val="tx1"/>
                </a:solidFill>
              </a:rPr>
              <a:t>Auto v3: under 30 seconds, keep the LEAVE points</a:t>
            </a:r>
            <a:pPr indent="0" marL="0">
              <a:buNone/>
            </a:pPr>
            <a:r>
              <a:rPr lang="en-US" sz="1400" b="1" dirty="0">
                <a:solidFill>
                  <a:schemeClr val="accent3"/>
                </a:solidFill>
              </a:rPr>
              <a:t>  → test</a:t>
            </a:r>
            <a:endParaRPr lang="en-US" sz="1400" dirty="0"/>
          </a:p>
        </p:txBody>
      </p:sp>
      <p:sp>
        <p:nvSpPr>
          <p:cNvPr id="31" name="hex 9"/>
          <p:cNvSpPr/>
          <p:nvPr/>
        </p:nvSpPr>
        <p:spPr>
          <a:xfrm>
            <a:off x="6217920" y="5001768"/>
            <a:ext cx="640080" cy="640080"/>
          </a:xfrm>
          <a:prstGeom prst="hexagon">
            <a:avLst/>
          </a:prstGeom>
          <a:solidFill>
            <a:schemeClr val="bg1"/>
          </a:solidFill>
          <a:ln w="25400">
            <a:solidFill>
              <a:schemeClr val="accent1"/>
            </a:solidFill>
            <a:prstDash val="solid"/>
          </a:ln>
        </p:spPr>
      </p:sp>
      <p:sp>
        <p:nvSpPr>
          <p:cNvPr id="32" name="hex label 9"/>
          <p:cNvSpPr txBox="1"/>
          <p:nvPr/>
        </p:nvSpPr>
        <p:spPr>
          <a:xfrm>
            <a:off x="6217920" y="5001768"/>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9</a:t>
            </a:r>
            <a:endParaRPr lang="en-US" sz="1800" dirty="0"/>
          </a:p>
        </p:txBody>
      </p:sp>
      <p:sp>
        <p:nvSpPr>
          <p:cNvPr id="33" name="cp 9"/>
          <p:cNvSpPr txBox="1"/>
          <p:nvPr/>
        </p:nvSpPr>
        <p:spPr>
          <a:xfrm>
            <a:off x="7040880" y="5001768"/>
            <a:ext cx="4663440" cy="640080"/>
          </a:xfrm>
          <a:prstGeom prst="rect">
            <a:avLst/>
          </a:prstGeom>
          <a:noFill/>
          <a:ln/>
        </p:spPr>
        <p:txBody>
          <a:bodyPr wrap="square" lIns="0" tIns="0" rIns="0" bIns="0" rtlCol="0" anchor="ctr"/>
          <a:lstStyle/>
          <a:p>
            <a:pPr indent="0" marL="0">
              <a:buNone/>
            </a:pPr>
            <a:r>
              <a:rPr lang="en-US" sz="1400" dirty="0">
                <a:solidFill>
                  <a:schemeClr val="tx1"/>
                </a:solidFill>
              </a:rPr>
              <a:t>Extras: LEDs, endgame rumble, the 4-ball experiment</a:t>
            </a:r>
            <a:endParaRPr lang="en-US" sz="1400" dirty="0"/>
          </a:p>
        </p:txBody>
      </p:sp>
      <p:sp>
        <p:nvSpPr>
          <p:cNvPr id="34" name="repo"/>
          <p:cNvSpPr txBox="1"/>
          <p:nvPr/>
        </p:nvSpPr>
        <p:spPr>
          <a:xfrm>
            <a:off x="457200" y="5806440"/>
            <a:ext cx="11247120" cy="365760"/>
          </a:xfrm>
          <a:prstGeom prst="rect">
            <a:avLst/>
          </a:prstGeom>
          <a:noFill/>
          <a:ln/>
        </p:spPr>
        <p:txBody>
          <a:bodyPr wrap="square" lIns="0" tIns="0" rIns="0" bIns="0" rtlCol="0" anchor="t"/>
          <a:lstStyle/>
          <a:p>
            <a:pPr indent="0" marL="0">
              <a:buNone/>
            </a:pPr>
            <a:r>
              <a:rPr lang="en-US" sz="1300" dirty="0">
                <a:solidFill>
                  <a:schemeClr val="accent1"/>
                </a:solidFill>
              </a:rPr>
              <a:t>github.com/The-Hive-3747/Teaching-AI-Coding — a guide page and a video per checkpoint</a:t>
            </a:r>
            <a:endParaRPr lang="en-US" sz="13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What a good description has</a:t>
            </a:r>
            <a:endParaRPr lang="en-US" sz="3200" dirty="0"/>
          </a:p>
        </p:txBody>
      </p:sp>
      <p:sp>
        <p:nvSpPr>
          <p:cNvPr id="4" name="hex 1"/>
          <p:cNvSpPr/>
          <p:nvPr/>
        </p:nvSpPr>
        <p:spPr>
          <a:xfrm>
            <a:off x="457200" y="1371600"/>
            <a:ext cx="685800" cy="685800"/>
          </a:xfrm>
          <a:prstGeom prst="hexagon">
            <a:avLst/>
          </a:prstGeom>
          <a:solidFill>
            <a:schemeClr val="bg1"/>
          </a:solidFill>
          <a:ln w="25400">
            <a:solidFill>
              <a:schemeClr val="accent1"/>
            </a:solidFill>
            <a:prstDash val="solid"/>
          </a:ln>
        </p:spPr>
      </p:sp>
      <p:sp>
        <p:nvSpPr>
          <p:cNvPr id="5" name="hex label 1"/>
          <p:cNvSpPr txBox="1"/>
          <p:nvPr/>
        </p:nvSpPr>
        <p:spPr>
          <a:xfrm>
            <a:off x="457200" y="1371600"/>
            <a:ext cx="685800" cy="685800"/>
          </a:xfrm>
          <a:prstGeom prst="rect">
            <a:avLst/>
          </a:prstGeom>
          <a:noFill/>
          <a:ln/>
        </p:spPr>
        <p:txBody>
          <a:bodyPr wrap="square" lIns="0" tIns="0" rIns="0" bIns="0" rtlCol="0" anchor="ctr"/>
          <a:lstStyle/>
          <a:p>
            <a:pPr algn="ctr" indent="0" marL="0">
              <a:buNone/>
            </a:pPr>
            <a:r>
              <a:rPr lang="en-US" sz="1800" b="1" dirty="0">
                <a:solidFill>
                  <a:schemeClr val="accent1"/>
                </a:solidFill>
              </a:rPr>
              <a:t>1</a:t>
            </a:r>
            <a:endParaRPr lang="en-US" sz="1800" dirty="0"/>
          </a:p>
        </p:txBody>
      </p:sp>
      <p:sp>
        <p:nvSpPr>
          <p:cNvPr id="6" name="k0"/>
          <p:cNvSpPr txBox="1"/>
          <p:nvPr/>
        </p:nvSpPr>
        <p:spPr>
          <a:xfrm>
            <a:off x="1371600" y="1371600"/>
            <a:ext cx="2651760" cy="685800"/>
          </a:xfrm>
          <a:prstGeom prst="rect">
            <a:avLst/>
          </a:prstGeom>
          <a:noFill/>
          <a:ln/>
        </p:spPr>
        <p:txBody>
          <a:bodyPr wrap="square" lIns="0" tIns="0" rIns="0" bIns="0" rtlCol="0" anchor="ctr"/>
          <a:lstStyle/>
          <a:p>
            <a:pPr indent="0" marL="0">
              <a:buNone/>
            </a:pPr>
            <a:r>
              <a:rPr lang="en-US" sz="2000" b="1" dirty="0">
                <a:solidFill>
                  <a:schemeClr val="tx1"/>
                </a:solidFill>
              </a:rPr>
              <a:t>Names</a:t>
            </a:r>
            <a:endParaRPr lang="en-US" sz="2000" dirty="0"/>
          </a:p>
        </p:txBody>
      </p:sp>
      <p:sp>
        <p:nvSpPr>
          <p:cNvPr id="7" name="v0"/>
          <p:cNvSpPr txBox="1"/>
          <p:nvPr/>
        </p:nvSpPr>
        <p:spPr>
          <a:xfrm>
            <a:off x="4023360" y="1371600"/>
            <a:ext cx="7680960" cy="685800"/>
          </a:xfrm>
          <a:prstGeom prst="rect">
            <a:avLst/>
          </a:prstGeom>
          <a:noFill/>
          <a:ln/>
        </p:spPr>
        <p:txBody>
          <a:bodyPr wrap="square" lIns="0" tIns="0" rIns="0" bIns="0" rtlCol="0" anchor="ctr"/>
          <a:lstStyle/>
          <a:p>
            <a:pPr indent="0" marL="0">
              <a:buNone/>
            </a:pPr>
            <a:r>
              <a:rPr lang="en-US" sz="1500" dirty="0">
                <a:solidFill>
                  <a:schemeClr val="tx2"/>
                </a:solidFill>
              </a:rPr>
              <a:t>exactly as in the Robot Controller config: front_left_drive, not “the front left motor”</a:t>
            </a:r>
            <a:endParaRPr lang="en-US" sz="1500" dirty="0"/>
          </a:p>
        </p:txBody>
      </p:sp>
      <p:sp>
        <p:nvSpPr>
          <p:cNvPr id="8" name="hex 2"/>
          <p:cNvSpPr/>
          <p:nvPr/>
        </p:nvSpPr>
        <p:spPr>
          <a:xfrm>
            <a:off x="457200" y="2286000"/>
            <a:ext cx="685800" cy="685800"/>
          </a:xfrm>
          <a:prstGeom prst="hexagon">
            <a:avLst/>
          </a:prstGeom>
          <a:solidFill>
            <a:schemeClr val="bg1"/>
          </a:solidFill>
          <a:ln w="25400">
            <a:solidFill>
              <a:schemeClr val="accent1"/>
            </a:solidFill>
            <a:prstDash val="solid"/>
          </a:ln>
        </p:spPr>
      </p:sp>
      <p:sp>
        <p:nvSpPr>
          <p:cNvPr id="9" name="hex label 2"/>
          <p:cNvSpPr txBox="1"/>
          <p:nvPr/>
        </p:nvSpPr>
        <p:spPr>
          <a:xfrm>
            <a:off x="457200" y="2286000"/>
            <a:ext cx="685800" cy="685800"/>
          </a:xfrm>
          <a:prstGeom prst="rect">
            <a:avLst/>
          </a:prstGeom>
          <a:noFill/>
          <a:ln/>
        </p:spPr>
        <p:txBody>
          <a:bodyPr wrap="square" lIns="0" tIns="0" rIns="0" bIns="0" rtlCol="0" anchor="ctr"/>
          <a:lstStyle/>
          <a:p>
            <a:pPr algn="ctr" indent="0" marL="0">
              <a:buNone/>
            </a:pPr>
            <a:r>
              <a:rPr lang="en-US" sz="1800" b="1" dirty="0">
                <a:solidFill>
                  <a:schemeClr val="accent1"/>
                </a:solidFill>
              </a:rPr>
              <a:t>2</a:t>
            </a:r>
            <a:endParaRPr lang="en-US" sz="1800" dirty="0"/>
          </a:p>
        </p:txBody>
      </p:sp>
      <p:sp>
        <p:nvSpPr>
          <p:cNvPr id="10" name="k1"/>
          <p:cNvSpPr txBox="1"/>
          <p:nvPr/>
        </p:nvSpPr>
        <p:spPr>
          <a:xfrm>
            <a:off x="1371600" y="2286000"/>
            <a:ext cx="2651760" cy="685800"/>
          </a:xfrm>
          <a:prstGeom prst="rect">
            <a:avLst/>
          </a:prstGeom>
          <a:noFill/>
          <a:ln/>
        </p:spPr>
        <p:txBody>
          <a:bodyPr wrap="square" lIns="0" tIns="0" rIns="0" bIns="0" rtlCol="0" anchor="ctr"/>
          <a:lstStyle/>
          <a:p>
            <a:pPr indent="0" marL="0">
              <a:buNone/>
            </a:pPr>
            <a:r>
              <a:rPr lang="en-US" sz="2000" b="1" dirty="0">
                <a:solidFill>
                  <a:schemeClr val="tx1"/>
                </a:solidFill>
              </a:rPr>
              <a:t>Purpose</a:t>
            </a:r>
            <a:endParaRPr lang="en-US" sz="2000" dirty="0"/>
          </a:p>
        </p:txBody>
      </p:sp>
      <p:sp>
        <p:nvSpPr>
          <p:cNvPr id="11" name="v1"/>
          <p:cNvSpPr txBox="1"/>
          <p:nvPr/>
        </p:nvSpPr>
        <p:spPr>
          <a:xfrm>
            <a:off x="4023360" y="2286000"/>
            <a:ext cx="7680960" cy="685800"/>
          </a:xfrm>
          <a:prstGeom prst="rect">
            <a:avLst/>
          </a:prstGeom>
          <a:noFill/>
          <a:ln/>
        </p:spPr>
        <p:txBody>
          <a:bodyPr wrap="square" lIns="0" tIns="0" rIns="0" bIns="0" rtlCol="0" anchor="ctr"/>
          <a:lstStyle/>
          <a:p>
            <a:pPr indent="0" marL="0">
              <a:buNone/>
            </a:pPr>
            <a:r>
              <a:rPr lang="en-US" sz="1500" dirty="0">
                <a:solidFill>
                  <a:schemeClr val="tx2"/>
                </a:solidFill>
              </a:rPr>
              <a:t>what the part does for the robot</a:t>
            </a:r>
            <a:endParaRPr lang="en-US" sz="1500" dirty="0"/>
          </a:p>
        </p:txBody>
      </p:sp>
      <p:sp>
        <p:nvSpPr>
          <p:cNvPr id="12" name="hex 3"/>
          <p:cNvSpPr/>
          <p:nvPr/>
        </p:nvSpPr>
        <p:spPr>
          <a:xfrm>
            <a:off x="457200" y="3200400"/>
            <a:ext cx="685800" cy="685800"/>
          </a:xfrm>
          <a:prstGeom prst="hexagon">
            <a:avLst/>
          </a:prstGeom>
          <a:solidFill>
            <a:schemeClr val="bg1"/>
          </a:solidFill>
          <a:ln w="25400">
            <a:solidFill>
              <a:schemeClr val="accent1"/>
            </a:solidFill>
            <a:prstDash val="solid"/>
          </a:ln>
        </p:spPr>
      </p:sp>
      <p:sp>
        <p:nvSpPr>
          <p:cNvPr id="13" name="hex label 3"/>
          <p:cNvSpPr txBox="1"/>
          <p:nvPr/>
        </p:nvSpPr>
        <p:spPr>
          <a:xfrm>
            <a:off x="457200" y="3200400"/>
            <a:ext cx="685800" cy="685800"/>
          </a:xfrm>
          <a:prstGeom prst="rect">
            <a:avLst/>
          </a:prstGeom>
          <a:noFill/>
          <a:ln/>
        </p:spPr>
        <p:txBody>
          <a:bodyPr wrap="square" lIns="0" tIns="0" rIns="0" bIns="0" rtlCol="0" anchor="ctr"/>
          <a:lstStyle/>
          <a:p>
            <a:pPr algn="ctr" indent="0" marL="0">
              <a:buNone/>
            </a:pPr>
            <a:r>
              <a:rPr lang="en-US" sz="1800" b="1" dirty="0">
                <a:solidFill>
                  <a:schemeClr val="accent1"/>
                </a:solidFill>
              </a:rPr>
              <a:t>3</a:t>
            </a:r>
            <a:endParaRPr lang="en-US" sz="1800" dirty="0"/>
          </a:p>
        </p:txBody>
      </p:sp>
      <p:sp>
        <p:nvSpPr>
          <p:cNvPr id="14" name="k2"/>
          <p:cNvSpPr txBox="1"/>
          <p:nvPr/>
        </p:nvSpPr>
        <p:spPr>
          <a:xfrm>
            <a:off x="1371600" y="3200400"/>
            <a:ext cx="2651760" cy="685800"/>
          </a:xfrm>
          <a:prstGeom prst="rect">
            <a:avLst/>
          </a:prstGeom>
          <a:noFill/>
          <a:ln/>
        </p:spPr>
        <p:txBody>
          <a:bodyPr wrap="square" lIns="0" tIns="0" rIns="0" bIns="0" rtlCol="0" anchor="ctr"/>
          <a:lstStyle/>
          <a:p>
            <a:pPr indent="0" marL="0">
              <a:buNone/>
            </a:pPr>
            <a:r>
              <a:rPr lang="en-US" sz="2000" b="1" dirty="0">
                <a:solidFill>
                  <a:schemeClr val="tx1"/>
                </a:solidFill>
              </a:rPr>
              <a:t>Direction</a:t>
            </a:r>
            <a:endParaRPr lang="en-US" sz="2000" dirty="0"/>
          </a:p>
        </p:txBody>
      </p:sp>
      <p:sp>
        <p:nvSpPr>
          <p:cNvPr id="15" name="v2"/>
          <p:cNvSpPr txBox="1"/>
          <p:nvPr/>
        </p:nvSpPr>
        <p:spPr>
          <a:xfrm>
            <a:off x="4023360" y="3200400"/>
            <a:ext cx="7680960" cy="685800"/>
          </a:xfrm>
          <a:prstGeom prst="rect">
            <a:avLst/>
          </a:prstGeom>
          <a:noFill/>
          <a:ln/>
        </p:spPr>
        <p:txBody>
          <a:bodyPr wrap="square" lIns="0" tIns="0" rIns="0" bIns="0" rtlCol="0" anchor="ctr"/>
          <a:lstStyle/>
          <a:p>
            <a:pPr indent="0" marL="0">
              <a:buNone/>
            </a:pPr>
            <a:r>
              <a:rPr lang="en-US" sz="1500" dirty="0">
                <a:solidFill>
                  <a:schemeClr val="tx2"/>
                </a:solidFill>
              </a:rPr>
              <a:t>which way is “forward”; which motors are mounted mirrored</a:t>
            </a:r>
            <a:endParaRPr lang="en-US" sz="1500" dirty="0"/>
          </a:p>
        </p:txBody>
      </p:sp>
      <p:sp>
        <p:nvSpPr>
          <p:cNvPr id="16" name="hex 4"/>
          <p:cNvSpPr/>
          <p:nvPr/>
        </p:nvSpPr>
        <p:spPr>
          <a:xfrm>
            <a:off x="457200" y="4114800"/>
            <a:ext cx="685800" cy="685800"/>
          </a:xfrm>
          <a:prstGeom prst="hexagon">
            <a:avLst/>
          </a:prstGeom>
          <a:solidFill>
            <a:schemeClr val="bg1"/>
          </a:solidFill>
          <a:ln w="25400">
            <a:solidFill>
              <a:schemeClr val="accent1"/>
            </a:solidFill>
            <a:prstDash val="solid"/>
          </a:ln>
        </p:spPr>
      </p:sp>
      <p:sp>
        <p:nvSpPr>
          <p:cNvPr id="17" name="hex label 4"/>
          <p:cNvSpPr txBox="1"/>
          <p:nvPr/>
        </p:nvSpPr>
        <p:spPr>
          <a:xfrm>
            <a:off x="457200" y="4114800"/>
            <a:ext cx="685800" cy="685800"/>
          </a:xfrm>
          <a:prstGeom prst="rect">
            <a:avLst/>
          </a:prstGeom>
          <a:noFill/>
          <a:ln/>
        </p:spPr>
        <p:txBody>
          <a:bodyPr wrap="square" lIns="0" tIns="0" rIns="0" bIns="0" rtlCol="0" anchor="ctr"/>
          <a:lstStyle/>
          <a:p>
            <a:pPr algn="ctr" indent="0" marL="0">
              <a:buNone/>
            </a:pPr>
            <a:r>
              <a:rPr lang="en-US" sz="1800" b="1" dirty="0">
                <a:solidFill>
                  <a:schemeClr val="accent1"/>
                </a:solidFill>
              </a:rPr>
              <a:t>4</a:t>
            </a:r>
            <a:endParaRPr lang="en-US" sz="1800" dirty="0"/>
          </a:p>
        </p:txBody>
      </p:sp>
      <p:sp>
        <p:nvSpPr>
          <p:cNvPr id="18" name="k3"/>
          <p:cNvSpPr txBox="1"/>
          <p:nvPr/>
        </p:nvSpPr>
        <p:spPr>
          <a:xfrm>
            <a:off x="1371600" y="4114800"/>
            <a:ext cx="2651760" cy="685800"/>
          </a:xfrm>
          <a:prstGeom prst="rect">
            <a:avLst/>
          </a:prstGeom>
          <a:noFill/>
          <a:ln/>
        </p:spPr>
        <p:txBody>
          <a:bodyPr wrap="square" lIns="0" tIns="0" rIns="0" bIns="0" rtlCol="0" anchor="ctr"/>
          <a:lstStyle/>
          <a:p>
            <a:pPr indent="0" marL="0">
              <a:buNone/>
            </a:pPr>
            <a:r>
              <a:rPr lang="en-US" sz="2000" b="1" dirty="0">
                <a:solidFill>
                  <a:schemeClr val="tx1"/>
                </a:solidFill>
              </a:rPr>
              <a:t>Control</a:t>
            </a:r>
            <a:endParaRPr lang="en-US" sz="2000" dirty="0"/>
          </a:p>
        </p:txBody>
      </p:sp>
      <p:sp>
        <p:nvSpPr>
          <p:cNvPr id="19" name="v3"/>
          <p:cNvSpPr txBox="1"/>
          <p:nvPr/>
        </p:nvSpPr>
        <p:spPr>
          <a:xfrm>
            <a:off x="4023360" y="4114800"/>
            <a:ext cx="7680960" cy="685800"/>
          </a:xfrm>
          <a:prstGeom prst="rect">
            <a:avLst/>
          </a:prstGeom>
          <a:noFill/>
          <a:ln/>
        </p:spPr>
        <p:txBody>
          <a:bodyPr wrap="square" lIns="0" tIns="0" rIns="0" bIns="0" rtlCol="0" anchor="ctr"/>
          <a:lstStyle/>
          <a:p>
            <a:pPr indent="0" marL="0">
              <a:buNone/>
            </a:pPr>
            <a:r>
              <a:rPr lang="en-US" sz="1500" dirty="0">
                <a:solidFill>
                  <a:schemeClr val="tx2"/>
                </a:solidFill>
              </a:rPr>
              <a:t>which button or stick; toggle or hold; what happens on release</a:t>
            </a:r>
            <a:endParaRPr lang="en-US" sz="1500" dirty="0"/>
          </a:p>
        </p:txBody>
      </p:sp>
      <p:sp>
        <p:nvSpPr>
          <p:cNvPr id="20" name="hex 5"/>
          <p:cNvSpPr/>
          <p:nvPr/>
        </p:nvSpPr>
        <p:spPr>
          <a:xfrm>
            <a:off x="457200" y="5029200"/>
            <a:ext cx="685800" cy="685800"/>
          </a:xfrm>
          <a:prstGeom prst="hexagon">
            <a:avLst/>
          </a:prstGeom>
          <a:solidFill>
            <a:schemeClr val="bg1"/>
          </a:solidFill>
          <a:ln w="25400">
            <a:solidFill>
              <a:schemeClr val="accent1"/>
            </a:solidFill>
            <a:prstDash val="solid"/>
          </a:ln>
        </p:spPr>
      </p:sp>
      <p:sp>
        <p:nvSpPr>
          <p:cNvPr id="21" name="hex label 5"/>
          <p:cNvSpPr txBox="1"/>
          <p:nvPr/>
        </p:nvSpPr>
        <p:spPr>
          <a:xfrm>
            <a:off x="457200" y="5029200"/>
            <a:ext cx="685800" cy="685800"/>
          </a:xfrm>
          <a:prstGeom prst="rect">
            <a:avLst/>
          </a:prstGeom>
          <a:noFill/>
          <a:ln/>
        </p:spPr>
        <p:txBody>
          <a:bodyPr wrap="square" lIns="0" tIns="0" rIns="0" bIns="0" rtlCol="0" anchor="ctr"/>
          <a:lstStyle/>
          <a:p>
            <a:pPr algn="ctr" indent="0" marL="0">
              <a:buNone/>
            </a:pPr>
            <a:r>
              <a:rPr lang="en-US" sz="1800" b="1" dirty="0">
                <a:solidFill>
                  <a:schemeClr val="accent1"/>
                </a:solidFill>
              </a:rPr>
              <a:t>5</a:t>
            </a:r>
            <a:endParaRPr lang="en-US" sz="1800" dirty="0"/>
          </a:p>
        </p:txBody>
      </p:sp>
      <p:sp>
        <p:nvSpPr>
          <p:cNvPr id="22" name="k4"/>
          <p:cNvSpPr txBox="1"/>
          <p:nvPr/>
        </p:nvSpPr>
        <p:spPr>
          <a:xfrm>
            <a:off x="1371600" y="5029200"/>
            <a:ext cx="2651760" cy="685800"/>
          </a:xfrm>
          <a:prstGeom prst="rect">
            <a:avLst/>
          </a:prstGeom>
          <a:noFill/>
          <a:ln/>
        </p:spPr>
        <p:txBody>
          <a:bodyPr wrap="square" lIns="0" tIns="0" rIns="0" bIns="0" rtlCol="0" anchor="ctr"/>
          <a:lstStyle/>
          <a:p>
            <a:pPr indent="0" marL="0">
              <a:buNone/>
            </a:pPr>
            <a:r>
              <a:rPr lang="en-US" sz="2000" b="1" dirty="0">
                <a:solidFill>
                  <a:schemeClr val="tx1"/>
                </a:solidFill>
              </a:rPr>
              <a:t>Timing and order</a:t>
            </a:r>
            <a:endParaRPr lang="en-US" sz="2000" dirty="0"/>
          </a:p>
        </p:txBody>
      </p:sp>
      <p:sp>
        <p:nvSpPr>
          <p:cNvPr id="23" name="v4"/>
          <p:cNvSpPr txBox="1"/>
          <p:nvPr/>
        </p:nvSpPr>
        <p:spPr>
          <a:xfrm>
            <a:off x="4023360" y="5029200"/>
            <a:ext cx="7680960" cy="685800"/>
          </a:xfrm>
          <a:prstGeom prst="rect">
            <a:avLst/>
          </a:prstGeom>
          <a:noFill/>
          <a:ln/>
        </p:spPr>
        <p:txBody>
          <a:bodyPr wrap="square" lIns="0" tIns="0" rIns="0" bIns="0" rtlCol="0" anchor="ctr"/>
          <a:lstStyle/>
          <a:p>
            <a:pPr indent="0" marL="0">
              <a:buNone/>
            </a:pPr>
            <a:r>
              <a:rPr lang="en-US" sz="1500" dirty="0">
                <a:solidFill>
                  <a:schemeClr val="tx2"/>
                </a:solidFill>
              </a:rPr>
              <a:t>what has to happen before what, and for how long</a:t>
            </a:r>
            <a:endParaRPr lang="en-US" sz="1500" dirty="0"/>
          </a:p>
        </p:txBody>
      </p:sp>
      <p:sp>
        <p:nvSpPr>
          <p:cNvPr id="24" name="takeaway"/>
          <p:cNvSpPr txBox="1"/>
          <p:nvPr/>
        </p:nvSpPr>
        <p:spPr>
          <a:xfrm>
            <a:off x="457200" y="5806440"/>
            <a:ext cx="11247120" cy="365760"/>
          </a:xfrm>
          <a:prstGeom prst="rect">
            <a:avLst/>
          </a:prstGeom>
          <a:noFill/>
          <a:ln/>
        </p:spPr>
        <p:txBody>
          <a:bodyPr wrap="square" lIns="0" tIns="0" rIns="0" bIns="0" rtlCol="0" anchor="t"/>
          <a:lstStyle/>
          <a:p>
            <a:pPr indent="0" marL="0">
              <a:buNone/>
            </a:pPr>
            <a:r>
              <a:rPr lang="en-US" sz="1500" b="1" dirty="0">
                <a:solidFill>
                  <a:schemeClr val="accent1"/>
                </a:solidFill>
              </a:rPr>
              <a:t>Anything you leave out, Gemini guesses.</a:t>
            </a:r>
            <a:endParaRPr lang="en-US" sz="15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Vague vs. specific</a:t>
            </a:r>
            <a:endParaRPr lang="en-US" sz="3200" dirty="0"/>
          </a:p>
        </p:txBody>
      </p:sp>
      <p:sp>
        <p:nvSpPr>
          <p:cNvPr id="4" name="vague card"/>
          <p:cNvSpPr/>
          <p:nvPr/>
        </p:nvSpPr>
        <p:spPr>
          <a:xfrm>
            <a:off x="457200" y="1325880"/>
            <a:ext cx="3108960" cy="4480560"/>
          </a:xfrm>
          <a:prstGeom prst="roundRect">
            <a:avLst>
              <a:gd name="adj" fmla="val 3529"/>
            </a:avLst>
          </a:prstGeom>
          <a:solidFill>
            <a:schemeClr val="bg2"/>
          </a:solidFill>
          <a:ln w="12700">
            <a:solidFill>
              <a:schemeClr val="bg2"/>
            </a:solidFill>
            <a:prstDash val="solid"/>
          </a:ln>
        </p:spPr>
      </p:sp>
      <p:sp>
        <p:nvSpPr>
          <p:cNvPr id="5" name="vague head"/>
          <p:cNvSpPr txBox="1"/>
          <p:nvPr/>
        </p:nvSpPr>
        <p:spPr>
          <a:xfrm>
            <a:off x="685800" y="1508760"/>
            <a:ext cx="2743200" cy="411480"/>
          </a:xfrm>
          <a:prstGeom prst="rect">
            <a:avLst/>
          </a:prstGeom>
          <a:noFill/>
          <a:ln/>
        </p:spPr>
        <p:txBody>
          <a:bodyPr wrap="square" lIns="0" tIns="0" rIns="0" bIns="0" rtlCol="0" anchor="t"/>
          <a:lstStyle/>
          <a:p>
            <a:pPr indent="0" marL="0">
              <a:buNone/>
            </a:pPr>
            <a:r>
              <a:rPr lang="en-US" sz="1800" b="1" dirty="0">
                <a:solidFill>
                  <a:schemeClr val="accent4"/>
                </a:solidFill>
              </a:rPr>
              <a:t>Vague</a:t>
            </a:r>
            <a:endParaRPr lang="en-US" sz="1800" dirty="0"/>
          </a:p>
        </p:txBody>
      </p:sp>
      <p:sp>
        <p:nvSpPr>
          <p:cNvPr id="6" name="vague text"/>
          <p:cNvSpPr txBox="1"/>
          <p:nvPr/>
        </p:nvSpPr>
        <p:spPr>
          <a:xfrm>
            <a:off x="685800" y="2103120"/>
            <a:ext cx="2651760" cy="914400"/>
          </a:xfrm>
          <a:prstGeom prst="rect">
            <a:avLst/>
          </a:prstGeom>
          <a:noFill/>
          <a:ln/>
        </p:spPr>
        <p:txBody>
          <a:bodyPr wrap="square" lIns="0" tIns="0" rIns="0" bIns="0" rtlCol="0" anchor="t"/>
          <a:lstStyle/>
          <a:p>
            <a:pPr indent="0" marL="0">
              <a:buNone/>
            </a:pPr>
            <a:r>
              <a:rPr lang="en-US" sz="2200" i="1" dirty="0">
                <a:solidFill>
                  <a:schemeClr val="tx1"/>
                </a:solidFill>
              </a:rPr>
              <a:t>“Add a shooter.”</a:t>
            </a:r>
            <a:endParaRPr lang="en-US" sz="2200" dirty="0"/>
          </a:p>
        </p:txBody>
      </p:sp>
      <p:sp>
        <p:nvSpPr>
          <p:cNvPr id="7" name="vague guesses"/>
          <p:cNvSpPr txBox="1"/>
          <p:nvPr/>
        </p:nvSpPr>
        <p:spPr>
          <a:xfrm>
            <a:off x="685800" y="3291840"/>
            <a:ext cx="2651760" cy="2194560"/>
          </a:xfrm>
          <a:prstGeom prst="rect">
            <a:avLst/>
          </a:prstGeom>
          <a:noFill/>
          <a:ln/>
        </p:spPr>
        <p:txBody>
          <a:bodyPr wrap="square" lIns="0" tIns="0" rIns="0" bIns="0" rtlCol="0" anchor="t"/>
          <a:lstStyle/>
          <a:p>
            <a:pPr indent="0" marL="0">
              <a:buNone/>
            </a:pPr>
            <a:r>
              <a:rPr lang="en-US" sz="1300" dirty="0">
                <a:solidFill>
                  <a:schemeClr val="tx2"/>
                </a:solidFill>
              </a:rPr>
              <a:t>Which motor? Which way? Which button? Toggle or hold? What happens first?</a:t>
            </a:r>
            <a:endParaRPr lang="en-US" sz="1300" dirty="0"/>
          </a:p>
        </p:txBody>
      </p:sp>
      <p:sp>
        <p:nvSpPr>
          <p:cNvPr id="8" name="specific card"/>
          <p:cNvSpPr/>
          <p:nvPr/>
        </p:nvSpPr>
        <p:spPr>
          <a:xfrm>
            <a:off x="3840480" y="1325880"/>
            <a:ext cx="7891272" cy="2331720"/>
          </a:xfrm>
          <a:prstGeom prst="roundRect">
            <a:avLst>
              <a:gd name="adj" fmla="val 4706"/>
            </a:avLst>
          </a:prstGeom>
          <a:solidFill>
            <a:schemeClr val="bg2"/>
          </a:solidFill>
          <a:ln w="12700">
            <a:solidFill>
              <a:schemeClr val="bg2"/>
            </a:solidFill>
            <a:prstDash val="solid"/>
          </a:ln>
        </p:spPr>
      </p:sp>
      <p:sp>
        <p:nvSpPr>
          <p:cNvPr id="9" name="spec head"/>
          <p:cNvSpPr txBox="1"/>
          <p:nvPr/>
        </p:nvSpPr>
        <p:spPr>
          <a:xfrm>
            <a:off x="4069080" y="1463040"/>
            <a:ext cx="2743200" cy="365760"/>
          </a:xfrm>
          <a:prstGeom prst="rect">
            <a:avLst/>
          </a:prstGeom>
          <a:noFill/>
          <a:ln/>
        </p:spPr>
        <p:txBody>
          <a:bodyPr wrap="square" lIns="0" tIns="0" rIns="0" bIns="0" rtlCol="0" anchor="t"/>
          <a:lstStyle/>
          <a:p>
            <a:pPr indent="0" marL="0">
              <a:buNone/>
            </a:pPr>
            <a:r>
              <a:rPr lang="en-US" sz="1800" b="1" dirty="0">
                <a:solidFill>
                  <a:schemeClr val="accent3"/>
                </a:solidFill>
              </a:rPr>
              <a:t>Specific</a:t>
            </a:r>
            <a:endParaRPr lang="en-US" sz="1800" dirty="0"/>
          </a:p>
        </p:txBody>
      </p:sp>
      <p:sp>
        <p:nvSpPr>
          <p:cNvPr id="10" name="spec text"/>
          <p:cNvSpPr txBox="1"/>
          <p:nvPr/>
        </p:nvSpPr>
        <p:spPr>
          <a:xfrm>
            <a:off x="4069080" y="1874520"/>
            <a:ext cx="7452360" cy="1737360"/>
          </a:xfrm>
          <a:prstGeom prst="rect">
            <a:avLst/>
          </a:prstGeom>
          <a:noFill/>
          <a:ln/>
        </p:spPr>
        <p:txBody>
          <a:bodyPr wrap="square" lIns="0" tIns="0" rIns="0" bIns="0" rtlCol="0" anchor="t"/>
          <a:lstStyle/>
          <a:p>
            <a:pPr indent="0" marL="0">
              <a:buNone/>
            </a:pPr>
            <a:r>
              <a:rPr lang="en-US" sz="1250" i="1" dirty="0">
                <a:solidFill>
                  <a:schemeClr val="tx1"/>
                </a:solidFill>
              </a:rPr>
              <a:t>“One motor named flywheel, reversed. Pressing B runs the flywheel and intake backward at −0.5 for 200 ms to clear a jammed ball, stops everything for 300 ms, then runs the flywheel forward at full power and keeps it there. Pressing B again stops it. While it's running and right bumper is held, pulse the intake 100 ms on at 0.5, 200 ms off, so balls feed one at a time.”</a:t>
            </a:r>
            <a:endParaRPr lang="en-US" sz="1250" dirty="0"/>
          </a:p>
        </p:txBody>
      </p:sp>
      <p:sp>
        <p:nvSpPr>
          <p:cNvPr id="11" name="real card"/>
          <p:cNvSpPr/>
          <p:nvPr/>
        </p:nvSpPr>
        <p:spPr>
          <a:xfrm>
            <a:off x="3840480" y="3840480"/>
            <a:ext cx="7891272" cy="1965960"/>
          </a:xfrm>
          <a:prstGeom prst="roundRect">
            <a:avLst>
              <a:gd name="adj" fmla="val 5581"/>
            </a:avLst>
          </a:prstGeom>
          <a:solidFill>
            <a:schemeClr val="bg2"/>
          </a:solidFill>
          <a:ln w="12700">
            <a:solidFill>
              <a:schemeClr val="bg2"/>
            </a:solidFill>
            <a:prstDash val="solid"/>
          </a:ln>
        </p:spPr>
      </p:sp>
      <p:sp>
        <p:nvSpPr>
          <p:cNvPr id="12" name="real head"/>
          <p:cNvSpPr txBox="1"/>
          <p:nvPr/>
        </p:nvSpPr>
        <p:spPr>
          <a:xfrm>
            <a:off x="4069080" y="3959352"/>
            <a:ext cx="7315200" cy="365760"/>
          </a:xfrm>
          <a:prstGeom prst="rect">
            <a:avLst/>
          </a:prstGeom>
          <a:noFill/>
          <a:ln/>
        </p:spPr>
        <p:txBody>
          <a:bodyPr wrap="square" lIns="0" tIns="0" rIns="0" bIns="0" rtlCol="0" anchor="t"/>
          <a:lstStyle/>
          <a:p>
            <a:pPr indent="0" marL="0">
              <a:buNone/>
            </a:pPr>
            <a:r>
              <a:rPr lang="en-US" sz="1800" b="1" dirty="0">
                <a:solidFill>
                  <a:schemeClr val="accent1"/>
                </a:solidFill>
              </a:rPr>
              <a:t>Real — Sep 19 session, verbatim</a:t>
            </a:r>
            <a:endParaRPr lang="en-US" sz="1800" dirty="0"/>
          </a:p>
        </p:txBody>
      </p:sp>
      <p:sp>
        <p:nvSpPr>
          <p:cNvPr id="13" name="real text"/>
          <p:cNvSpPr txBox="1"/>
          <p:nvPr/>
        </p:nvSpPr>
        <p:spPr>
          <a:xfrm>
            <a:off x="4069080" y="4370832"/>
            <a:ext cx="7452360" cy="1005840"/>
          </a:xfrm>
          <a:prstGeom prst="rect">
            <a:avLst/>
          </a:prstGeom>
          <a:noFill/>
          <a:ln/>
        </p:spPr>
        <p:txBody>
          <a:bodyPr wrap="square" lIns="0" tIns="0" rIns="0" bIns="0" rtlCol="0" anchor="t"/>
          <a:lstStyle/>
          <a:p>
            <a:pPr indent="0" marL="0">
              <a:buNone/>
            </a:pPr>
            <a:r>
              <a:rPr lang="en-US" sz="1350" i="1" dirty="0">
                <a:solidFill>
                  <a:schemeClr val="tx1"/>
                </a:solidFill>
              </a:rPr>
              <a:t>“When I start up the flywheel, I want the process to continue to do the reverse function. But then I don't want the intake to resume. I want the intake to stop (whether it was stopped or running). Does that make sense?”</a:t>
            </a:r>
            <a:endParaRPr lang="en-US" sz="1350" dirty="0"/>
          </a:p>
        </p:txBody>
      </p:sp>
      <p:sp>
        <p:nvSpPr>
          <p:cNvPr id="14" name="real note"/>
          <p:cNvSpPr txBox="1"/>
          <p:nvPr/>
        </p:nvSpPr>
        <p:spPr>
          <a:xfrm>
            <a:off x="4069080" y="5394960"/>
            <a:ext cx="7315200" cy="320040"/>
          </a:xfrm>
          <a:prstGeom prst="rect">
            <a:avLst/>
          </a:prstGeom>
          <a:noFill/>
          <a:ln/>
        </p:spPr>
        <p:txBody>
          <a:bodyPr wrap="square" lIns="0" tIns="0" rIns="0" bIns="0" rtlCol="0" anchor="t"/>
          <a:lstStyle/>
          <a:p>
            <a:pPr indent="0" marL="0">
              <a:buNone/>
            </a:pPr>
            <a:r>
              <a:rPr lang="en-US" sz="1200" dirty="0">
                <a:solidFill>
                  <a:schemeClr val="tx2"/>
                </a:solidFill>
              </a:rPr>
              <a:t>No code words. A sequence. A few lines changed in Intake.java.</a:t>
            </a:r>
            <a:endParaRPr lang="en-US" sz="12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Now watch it happen</a:t>
            </a:r>
            <a:endParaRPr lang="en-US" sz="3200" dirty="0"/>
          </a:p>
        </p:txBody>
      </p:sp>
      <p:pic>
        <p:nvPicPr>
          <p:cNvPr id="4" name="tank drive screenshot" descr="/home/claude/teaching-ai-coding/docs/images/android-studio-tank-drive-prompt.png">    </p:cNvPr>
          <p:cNvPicPr>
            <a:picLocks noChangeAspect="1"/>
          </p:cNvPicPr>
          <p:nvPr/>
        </p:nvPicPr>
        <p:blipFill>
          <a:blip r:embed="rId1"/>
          <a:stretch>
            <a:fillRect/>
          </a:stretch>
        </p:blipFill>
        <p:spPr>
          <a:xfrm>
            <a:off x="457200" y="1325880"/>
            <a:ext cx="7680960" cy="4562856"/>
          </a:xfrm>
          <a:prstGeom prst="rect">
            <a:avLst/>
          </a:prstGeom>
        </p:spPr>
      </p:pic>
      <p:sp>
        <p:nvSpPr>
          <p:cNvPr id="5" name="demo caption"/>
          <p:cNvSpPr txBox="1"/>
          <p:nvPr/>
        </p:nvSpPr>
        <p:spPr>
          <a:xfrm>
            <a:off x="8412480" y="1325880"/>
            <a:ext cx="3319272" cy="1463040"/>
          </a:xfrm>
          <a:prstGeom prst="rect">
            <a:avLst/>
          </a:prstGeom>
          <a:noFill/>
          <a:ln/>
        </p:spPr>
        <p:txBody>
          <a:bodyPr wrap="square" lIns="0" tIns="0" rIns="0" bIns="0" rtlCol="0" anchor="t"/>
          <a:lstStyle/>
          <a:p>
            <a:pPr indent="0" marL="0">
              <a:buNone/>
            </a:pPr>
            <a:r>
              <a:rPr lang="en-US" sz="1500" dirty="0">
                <a:solidFill>
                  <a:schemeClr val="tx1"/>
                </a:solidFill>
              </a:rPr>
              <a:t>The mentors' tank-drive prompt, as typed, and the code it produced. You're about to see the same thing live.</a:t>
            </a:r>
            <a:endParaRPr lang="en-US" sz="1500" dirty="0"/>
          </a:p>
        </p:txBody>
      </p:sp>
      <p:sp>
        <p:nvSpPr>
          <p:cNvPr id="6" name="demo steps"/>
          <p:cNvSpPr txBox="1"/>
          <p:nvPr/>
        </p:nvSpPr>
        <p:spPr>
          <a:xfrm>
            <a:off x="8412480" y="2926080"/>
            <a:ext cx="3319272" cy="27432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Description already sent</a:t>
            </a:r>
            <a:endParaRPr lang="en-US" sz="1400" dirty="0"/>
          </a:p>
          <a:p>
            <a:pPr marL="342900" indent="-342900">
              <a:spcAft>
                <a:spcPts val="600"/>
              </a:spcAft>
              <a:buSzPct val="100000"/>
              <a:buChar char="•"/>
            </a:pPr>
            <a:r>
              <a:rPr lang="en-US" sz="1400" dirty="0">
                <a:solidFill>
                  <a:schemeClr val="tx2"/>
                </a:solidFill>
              </a:rPr>
              <a:t>Drive prompt, live</a:t>
            </a:r>
            <a:endParaRPr lang="en-US" sz="1400" dirty="0"/>
          </a:p>
          <a:p>
            <a:pPr marL="342900" indent="-342900">
              <a:spcAft>
                <a:spcPts val="600"/>
              </a:spcAft>
              <a:buSzPct val="100000"/>
              <a:buChar char="•"/>
            </a:pPr>
            <a:r>
              <a:rPr lang="en-US" sz="1400" dirty="0">
                <a:solidFill>
                  <a:schemeClr val="tx2"/>
                </a:solidFill>
              </a:rPr>
              <a:t>Read the code: names match</a:t>
            </a:r>
            <a:endParaRPr lang="en-US" sz="1400" dirty="0"/>
          </a:p>
          <a:p>
            <a:pPr marL="342900" indent="-342900">
              <a:spcAft>
                <a:spcPts val="600"/>
              </a:spcAft>
              <a:buSzPct val="100000"/>
              <a:buChar char="•"/>
            </a:pPr>
            <a:r>
              <a:rPr lang="en-US" sz="1400" dirty="0">
                <a:solidFill>
                  <a:schemeClr val="tx2"/>
                </a:solidFill>
              </a:rPr>
              <a:t>Build, deploy, drive</a:t>
            </a:r>
            <a:endParaRPr lang="en-US" sz="1400" dirty="0"/>
          </a:p>
          <a:p>
            <a:pPr marL="342900" indent="-342900">
              <a:spcAft>
                <a:spcPts val="600"/>
              </a:spcAft>
              <a:buSzPct val="100000"/>
              <a:buChar char="•"/>
            </a:pPr>
            <a:r>
              <a:rPr lang="en-US" sz="1400" dirty="0">
                <a:solidFill>
                  <a:schemeClr val="tx2"/>
                </a:solidFill>
              </a:rPr>
              <a:t>Refine: the real strafe fix</a:t>
            </a:r>
            <a:endParaRPr lang="en-US" sz="1400" dirty="0"/>
          </a:p>
          <a:p>
            <a:pPr marL="342900" indent="-342900">
              <a:spcAft>
                <a:spcPts val="600"/>
              </a:spcAft>
              <a:buSzPct val="100000"/>
              <a:buChar char="•"/>
            </a:pPr>
            <a:r>
              <a:rPr lang="en-US" sz="1400" dirty="0">
                <a:solidFill>
                  <a:schemeClr val="tx2"/>
                </a:solidFill>
              </a:rPr>
              <a:t>Deploy, drive again</a:t>
            </a:r>
            <a:endParaRPr lang="en-US" sz="14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Where it goes wrong — and the fix</a:t>
            </a:r>
            <a:endParaRPr lang="en-US" sz="3200" dirty="0"/>
          </a:p>
        </p:txBody>
      </p:sp>
      <p:graphicFrame>
        <p:nvGraphicFramePr>
          <p:cNvPr id="19" name="fix table"/>
          <p:cNvGraphicFramePr>
            <a:graphicFrameLocks noGrp="1"/>
          </p:cNvGraphicFramePr>
          <p:nvPr>
            <p:extLst>
              <p:ext uri="{D42A27DB-BD31-4B8C-83A1-F6EECF244321}">
                <p14:modId xmlns:p14="http://schemas.microsoft.com/office/powerpoint/2010/main" val="1579011935"/>
              </p:ext>
            </p:extLst>
          </p:nvPr>
        </p:nvGraphicFramePr>
        <p:xfrm>
          <a:off x="457200" y="1325880"/>
          <a:ext cx="11274552" cy="914400"/>
        </p:xfrm>
        <a:graphic>
          <a:graphicData uri="http://schemas.openxmlformats.org/drawingml/2006/table">
            <a:tbl>
              <a:tblPr/>
              <a:tblGrid>
                <a:gridCol w="2834640"/>
                <a:gridCol w="2743200"/>
                <a:gridCol w="5696712"/>
              </a:tblGrid>
              <a:tr h="502920">
                <a:tc>
                  <a:txBody>
                    <a:bodyPr/>
                    <a:lstStyle/>
                    <a:p>
                      <a:pPr indent="0" marL="0">
                        <a:buNone/>
                      </a:pPr>
                      <a:r>
                        <a:rPr lang="en-US" sz="1500" b="1" dirty="0">
                          <a:solidFill>
                            <a:srgbClr val="F9BE14"/>
                          </a:solidFill>
                        </a:rPr>
                        <a:t>Symptom</a:t>
                      </a:r>
                      <a:endParaRPr lang="en-US" sz="15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61616"/>
                    </a:solidFill>
                  </a:tcPr>
                </a:tc>
                <a:tc>
                  <a:txBody>
                    <a:bodyPr/>
                    <a:lstStyle/>
                    <a:p>
                      <a:pPr indent="0" marL="0">
                        <a:buNone/>
                      </a:pPr>
                      <a:r>
                        <a:rPr lang="en-US" sz="1500" b="1" dirty="0">
                          <a:solidFill>
                            <a:srgbClr val="F9BE14"/>
                          </a:solidFill>
                        </a:rPr>
                        <a:t>Cause</a:t>
                      </a:r>
                      <a:endParaRPr lang="en-US" sz="15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61616"/>
                    </a:solidFill>
                  </a:tcPr>
                </a:tc>
                <a:tc>
                  <a:txBody>
                    <a:bodyPr/>
                    <a:lstStyle/>
                    <a:p>
                      <a:pPr indent="0" marL="0">
                        <a:buNone/>
                      </a:pPr>
                      <a:r>
                        <a:rPr lang="en-US" sz="1500" b="1" dirty="0">
                          <a:solidFill>
                            <a:srgbClr val="F9BE14"/>
                          </a:solidFill>
                        </a:rPr>
                        <a:t>Fix</a:t>
                      </a:r>
                      <a:endParaRPr lang="en-US" sz="15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61616"/>
                    </a:solidFill>
                  </a:tcPr>
                </a:tc>
              </a:tr>
              <a:tr h="502920">
                <a:tc>
                  <a:txBody>
                    <a:bodyPr/>
                    <a:lstStyle/>
                    <a:p>
                      <a:pPr indent="0" marL="0">
                        <a:buNone/>
                      </a:pPr>
                      <a:r>
                        <a:rPr lang="en-US" sz="1300" dirty="0">
                          <a:solidFill>
                            <a:srgbClr val="FFFFFF"/>
                          </a:solidFill>
                        </a:rPr>
                        <a:t>Won't compile: “cannot find symbol”</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Gemini invented a name</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Paste the error back: “Fix this compile error”</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r>
              <a:tr h="502920">
                <a:tc>
                  <a:txBody>
                    <a:bodyPr/>
                    <a:lstStyle/>
                    <a:p>
                      <a:pPr indent="0" marL="0">
                        <a:buNone/>
                      </a:pPr>
                      <a:r>
                        <a:rPr lang="en-US" sz="1300" dirty="0">
                          <a:solidFill>
                            <a:srgbClr val="FFFFFF"/>
                          </a:solidFill>
                        </a:rPr>
                        <a:t>Strafe is mirrored</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Mecanum mixing signs</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i="1" dirty="0">
                          <a:solidFill>
                            <a:srgbClr val="FFFFFF"/>
                          </a:solidFill>
                        </a:rPr>
                        <a:t>“holding both joysticks left made the robot strafe right, and vice versa. please fix”</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r>
              <a:tr h="502920">
                <a:tc>
                  <a:txBody>
                    <a:bodyPr/>
                    <a:lstStyle/>
                    <a:p>
                      <a:pPr indent="0" marL="0">
                        <a:buNone/>
                      </a:pPr>
                      <a:r>
                        <a:rPr lang="en-US" sz="1300" dirty="0">
                          <a:solidFill>
                            <a:srgbClr val="FFFFFF"/>
                          </a:solidFill>
                        </a:rPr>
                        <a:t>Flywheel startup spits balls out</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Reverse bump too long</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i="1" dirty="0">
                          <a:solidFill>
                            <a:srgbClr val="FFFFFF"/>
                          </a:solidFill>
                        </a:rPr>
                        <a:t>“what is the current time of spinning the motors back…? it is spitting balls out, so i would like to shorten it”</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r>
              <a:tr h="502920">
                <a:tc>
                  <a:txBody>
                    <a:bodyPr/>
                    <a:lstStyle/>
                    <a:p>
                      <a:pPr indent="0" marL="0">
                        <a:buNone/>
                      </a:pPr>
                      <a:r>
                        <a:rPr lang="en-US" sz="1300" dirty="0">
                          <a:solidFill>
                            <a:srgbClr val="FFFFFF"/>
                          </a:solidFill>
                        </a:rPr>
                        <a:t>Two controls on one button</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Control scheme drifted</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i="1" dirty="0">
                          <a:solidFill>
                            <a:srgbClr val="FFFFFF"/>
                          </a:solidFill>
                        </a:rPr>
                        <a:t>“I thought gamepad 1 dpad was slow mode, not tuning the flywheel.”</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r>
              <a:tr h="502920">
                <a:tc>
                  <a:txBody>
                    <a:bodyPr/>
                    <a:lstStyle/>
                    <a:p>
                      <a:pPr indent="0" marL="0">
                        <a:buNone/>
                      </a:pPr>
                      <a:r>
                        <a:rPr lang="en-US" sz="1300" dirty="0">
                          <a:solidFill>
                            <a:srgbClr val="FFFFFF"/>
                          </a:solidFill>
                        </a:rPr>
                        <a:t>Auto drives the intake through a fake gamepad</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Nobody told Gemini an autonomous was coming</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Say it up front: “An autonomous will use this class later — put the behavior in plain methods.” Gemini takes the expedient route unless you say what's coming.</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r>
              <a:tr h="502920">
                <a:tc>
                  <a:txBody>
                    <a:bodyPr/>
                    <a:lstStyle/>
                    <a:p>
                      <a:pPr indent="0" marL="0">
                        <a:buNone/>
                      </a:pPr>
                      <a:r>
                        <a:rPr lang="en-US" sz="1300" dirty="0">
                          <a:solidFill>
                            <a:srgbClr val="FFFFFF"/>
                          </a:solidFill>
                        </a:rPr>
                        <a:t>Auto runs over 30 s</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Gemini was told the limit; nobody saw the sum</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“Add up every state's duration and tell me the worst-case run time.” Then cut one number.</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r>
              <a:tr h="502920">
                <a:tc>
                  <a:txBody>
                    <a:bodyPr/>
                    <a:lstStyle/>
                    <a:p>
                      <a:pPr indent="0" marL="0">
                        <a:buNone/>
                      </a:pPr>
                      <a:r>
                        <a:rPr lang="en-US" sz="1300" dirty="0">
                          <a:solidFill>
                            <a:srgbClr val="FFFFFF"/>
                          </a:solidFill>
                        </a:rPr>
                        <a:t>Gemini rewrote everything, broke what worked</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Didn't say “only change X”</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“Only change the intake section. Leave the drive code as is.”</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r>
            </a:tbl>
          </a:graphicData>
        </a:graphic>
      </p:graphicFrame>
      <p:sp>
        <p:nvSpPr>
          <p:cNvPr id="5" name="takeaway"/>
          <p:cNvSpPr txBox="1"/>
          <p:nvPr/>
        </p:nvSpPr>
        <p:spPr>
          <a:xfrm>
            <a:off x="457200" y="5806440"/>
            <a:ext cx="11247120" cy="365760"/>
          </a:xfrm>
          <a:prstGeom prst="rect">
            <a:avLst/>
          </a:prstGeom>
          <a:noFill/>
          <a:ln/>
        </p:spPr>
        <p:txBody>
          <a:bodyPr wrap="square" lIns="0" tIns="0" rIns="0" bIns="0" rtlCol="0" anchor="t"/>
          <a:lstStyle/>
          <a:p>
            <a:pPr indent="0" marL="0">
              <a:buNone/>
            </a:pPr>
            <a:r>
              <a:rPr lang="en-US" sz="1400" b="1" dirty="0">
                <a:solidFill>
                  <a:schemeClr val="accent1"/>
                </a:solidFill>
              </a:rPr>
              <a:t>When it's wrong, the description was missing something. Say the missing thing.</a:t>
            </a:r>
            <a:endParaRPr lang="en-US" sz="14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Running this with your team</a:t>
            </a:r>
            <a:endParaRPr lang="en-US" sz="3200" dirty="0"/>
          </a:p>
        </p:txBody>
      </p:sp>
      <p:sp>
        <p:nvSpPr>
          <p:cNvPr id="4" name="role Describer"/>
          <p:cNvSpPr/>
          <p:nvPr/>
        </p:nvSpPr>
        <p:spPr>
          <a:xfrm>
            <a:off x="457200" y="1325880"/>
            <a:ext cx="2651760" cy="2743200"/>
          </a:xfrm>
          <a:prstGeom prst="roundRect">
            <a:avLst>
              <a:gd name="adj" fmla="val 4138"/>
            </a:avLst>
          </a:prstGeom>
          <a:solidFill>
            <a:schemeClr val="bg2"/>
          </a:solidFill>
          <a:ln w="12700">
            <a:solidFill>
              <a:schemeClr val="bg2"/>
            </a:solidFill>
            <a:prstDash val="solid"/>
          </a:ln>
        </p:spPr>
      </p:sp>
      <p:sp>
        <p:nvSpPr>
          <p:cNvPr id="5" name="role head Describer"/>
          <p:cNvSpPr txBox="1"/>
          <p:nvPr/>
        </p:nvSpPr>
        <p:spPr>
          <a:xfrm>
            <a:off x="640080" y="1463040"/>
            <a:ext cx="2286000" cy="457200"/>
          </a:xfrm>
          <a:prstGeom prst="rect">
            <a:avLst/>
          </a:prstGeom>
          <a:noFill/>
          <a:ln/>
        </p:spPr>
        <p:txBody>
          <a:bodyPr wrap="square" lIns="0" tIns="0" rIns="0" bIns="0" rtlCol="0" anchor="t"/>
          <a:lstStyle/>
          <a:p>
            <a:pPr indent="0" marL="0">
              <a:buNone/>
            </a:pPr>
            <a:r>
              <a:rPr lang="en-US" sz="2000" b="1" dirty="0">
                <a:solidFill>
                  <a:schemeClr val="accent1"/>
                </a:solidFill>
              </a:rPr>
              <a:t>Describer</a:t>
            </a:r>
            <a:endParaRPr lang="en-US" sz="2000" dirty="0"/>
          </a:p>
        </p:txBody>
      </p:sp>
      <p:sp>
        <p:nvSpPr>
          <p:cNvPr id="6" name="role text Describer"/>
          <p:cNvSpPr txBox="1"/>
          <p:nvPr/>
        </p:nvSpPr>
        <p:spPr>
          <a:xfrm>
            <a:off x="640080" y="1965960"/>
            <a:ext cx="2286000" cy="2011680"/>
          </a:xfrm>
          <a:prstGeom prst="rect">
            <a:avLst/>
          </a:prstGeom>
          <a:noFill/>
          <a:ln/>
        </p:spPr>
        <p:txBody>
          <a:bodyPr wrap="square" lIns="0" tIns="0" rIns="0" bIns="0" rtlCol="0" anchor="t"/>
          <a:lstStyle/>
          <a:p>
            <a:pPr indent="0" marL="0">
              <a:buNone/>
            </a:pPr>
            <a:r>
              <a:rPr lang="en-US" sz="1300" dirty="0">
                <a:solidFill>
                  <a:schemeClr val="tx1"/>
                </a:solidFill>
              </a:rPr>
              <a:t>Whoever knows the robot best says what to change. They can type it or someone else can — what matters is whose words they are.</a:t>
            </a:r>
            <a:endParaRPr lang="en-US" sz="1300" dirty="0"/>
          </a:p>
        </p:txBody>
      </p:sp>
      <p:sp>
        <p:nvSpPr>
          <p:cNvPr id="7" name="role Tester"/>
          <p:cNvSpPr/>
          <p:nvPr/>
        </p:nvSpPr>
        <p:spPr>
          <a:xfrm>
            <a:off x="3291840" y="1325880"/>
            <a:ext cx="2651760" cy="2743200"/>
          </a:xfrm>
          <a:prstGeom prst="roundRect">
            <a:avLst>
              <a:gd name="adj" fmla="val 4138"/>
            </a:avLst>
          </a:prstGeom>
          <a:solidFill>
            <a:schemeClr val="bg2"/>
          </a:solidFill>
          <a:ln w="12700">
            <a:solidFill>
              <a:schemeClr val="bg2"/>
            </a:solidFill>
            <a:prstDash val="solid"/>
          </a:ln>
        </p:spPr>
      </p:sp>
      <p:sp>
        <p:nvSpPr>
          <p:cNvPr id="8" name="role head Tester"/>
          <p:cNvSpPr txBox="1"/>
          <p:nvPr/>
        </p:nvSpPr>
        <p:spPr>
          <a:xfrm>
            <a:off x="3474720" y="1463040"/>
            <a:ext cx="2286000" cy="457200"/>
          </a:xfrm>
          <a:prstGeom prst="rect">
            <a:avLst/>
          </a:prstGeom>
          <a:noFill/>
          <a:ln/>
        </p:spPr>
        <p:txBody>
          <a:bodyPr wrap="square" lIns="0" tIns="0" rIns="0" bIns="0" rtlCol="0" anchor="t"/>
          <a:lstStyle/>
          <a:p>
            <a:pPr indent="0" marL="0">
              <a:buNone/>
            </a:pPr>
            <a:r>
              <a:rPr lang="en-US" sz="2000" b="1" dirty="0">
                <a:solidFill>
                  <a:schemeClr val="accent1"/>
                </a:solidFill>
              </a:rPr>
              <a:t>Tester</a:t>
            </a:r>
            <a:endParaRPr lang="en-US" sz="2000" dirty="0"/>
          </a:p>
        </p:txBody>
      </p:sp>
      <p:sp>
        <p:nvSpPr>
          <p:cNvPr id="9" name="role text Tester"/>
          <p:cNvSpPr txBox="1"/>
          <p:nvPr/>
        </p:nvSpPr>
        <p:spPr>
          <a:xfrm>
            <a:off x="3474720" y="1965960"/>
            <a:ext cx="2286000" cy="2011680"/>
          </a:xfrm>
          <a:prstGeom prst="rect">
            <a:avLst/>
          </a:prstGeom>
          <a:noFill/>
          <a:ln/>
        </p:spPr>
        <p:txBody>
          <a:bodyPr wrap="square" lIns="0" tIns="0" rIns="0" bIns="0" rtlCol="0" anchor="t"/>
          <a:lstStyle/>
          <a:p>
            <a:pPr indent="0" marL="0">
              <a:buNone/>
            </a:pPr>
            <a:r>
              <a:rPr lang="en-US" sz="1300" dirty="0">
                <a:solidFill>
                  <a:schemeClr val="tx1"/>
                </a:solidFill>
              </a:rPr>
              <a:t>Deploys and drives. Says exactly what happened.</a:t>
            </a:r>
            <a:endParaRPr lang="en-US" sz="1300" dirty="0"/>
          </a:p>
        </p:txBody>
      </p:sp>
      <p:sp>
        <p:nvSpPr>
          <p:cNvPr id="10" name="role Reader"/>
          <p:cNvSpPr/>
          <p:nvPr/>
        </p:nvSpPr>
        <p:spPr>
          <a:xfrm>
            <a:off x="6126480" y="1325880"/>
            <a:ext cx="2651760" cy="2743200"/>
          </a:xfrm>
          <a:prstGeom prst="roundRect">
            <a:avLst>
              <a:gd name="adj" fmla="val 4138"/>
            </a:avLst>
          </a:prstGeom>
          <a:solidFill>
            <a:schemeClr val="bg2"/>
          </a:solidFill>
          <a:ln w="12700">
            <a:solidFill>
              <a:schemeClr val="bg2"/>
            </a:solidFill>
            <a:prstDash val="solid"/>
          </a:ln>
        </p:spPr>
      </p:sp>
      <p:sp>
        <p:nvSpPr>
          <p:cNvPr id="11" name="role head Reader"/>
          <p:cNvSpPr txBox="1"/>
          <p:nvPr/>
        </p:nvSpPr>
        <p:spPr>
          <a:xfrm>
            <a:off x="6309360" y="1463040"/>
            <a:ext cx="2286000" cy="457200"/>
          </a:xfrm>
          <a:prstGeom prst="rect">
            <a:avLst/>
          </a:prstGeom>
          <a:noFill/>
          <a:ln/>
        </p:spPr>
        <p:txBody>
          <a:bodyPr wrap="square" lIns="0" tIns="0" rIns="0" bIns="0" rtlCol="0" anchor="t"/>
          <a:lstStyle/>
          <a:p>
            <a:pPr indent="0" marL="0">
              <a:buNone/>
            </a:pPr>
            <a:r>
              <a:rPr lang="en-US" sz="2000" b="1" dirty="0">
                <a:solidFill>
                  <a:schemeClr val="accent1"/>
                </a:solidFill>
              </a:rPr>
              <a:t>Reader</a:t>
            </a:r>
            <a:endParaRPr lang="en-US" sz="2000" dirty="0"/>
          </a:p>
        </p:txBody>
      </p:sp>
      <p:sp>
        <p:nvSpPr>
          <p:cNvPr id="12" name="role text Reader"/>
          <p:cNvSpPr txBox="1"/>
          <p:nvPr/>
        </p:nvSpPr>
        <p:spPr>
          <a:xfrm>
            <a:off x="6309360" y="1965960"/>
            <a:ext cx="2286000" cy="2011680"/>
          </a:xfrm>
          <a:prstGeom prst="rect">
            <a:avLst/>
          </a:prstGeom>
          <a:noFill/>
          <a:ln/>
        </p:spPr>
        <p:txBody>
          <a:bodyPr wrap="square" lIns="0" tIns="0" rIns="0" bIns="0" rtlCol="0" anchor="t"/>
          <a:lstStyle/>
          <a:p>
            <a:pPr indent="0" marL="0">
              <a:buNone/>
            </a:pPr>
            <a:r>
              <a:rPr lang="en-US" sz="1300" dirty="0">
                <a:solidFill>
                  <a:schemeClr val="tx1"/>
                </a:solidFill>
              </a:rPr>
              <a:t>Reads the generated code aloud and explains it. This is where the learning happens.</a:t>
            </a:r>
            <a:endParaRPr lang="en-US" sz="1300" dirty="0"/>
          </a:p>
        </p:txBody>
      </p:sp>
      <p:sp>
        <p:nvSpPr>
          <p:cNvPr id="13" name="role Coach"/>
          <p:cNvSpPr/>
          <p:nvPr/>
        </p:nvSpPr>
        <p:spPr>
          <a:xfrm>
            <a:off x="8961120" y="1325880"/>
            <a:ext cx="2651760" cy="2743200"/>
          </a:xfrm>
          <a:prstGeom prst="roundRect">
            <a:avLst>
              <a:gd name="adj" fmla="val 4138"/>
            </a:avLst>
          </a:prstGeom>
          <a:solidFill>
            <a:schemeClr val="bg2"/>
          </a:solidFill>
          <a:ln w="12700">
            <a:solidFill>
              <a:schemeClr val="bg2"/>
            </a:solidFill>
            <a:prstDash val="solid"/>
          </a:ln>
        </p:spPr>
      </p:sp>
      <p:sp>
        <p:nvSpPr>
          <p:cNvPr id="14" name="role head Coach"/>
          <p:cNvSpPr txBox="1"/>
          <p:nvPr/>
        </p:nvSpPr>
        <p:spPr>
          <a:xfrm>
            <a:off x="9144000" y="1463040"/>
            <a:ext cx="2286000" cy="457200"/>
          </a:xfrm>
          <a:prstGeom prst="rect">
            <a:avLst/>
          </a:prstGeom>
          <a:noFill/>
          <a:ln/>
        </p:spPr>
        <p:txBody>
          <a:bodyPr wrap="square" lIns="0" tIns="0" rIns="0" bIns="0" rtlCol="0" anchor="t"/>
          <a:lstStyle/>
          <a:p>
            <a:pPr indent="0" marL="0">
              <a:buNone/>
            </a:pPr>
            <a:r>
              <a:rPr lang="en-US" sz="2000" b="1" dirty="0">
                <a:solidFill>
                  <a:schemeClr val="accent1"/>
                </a:solidFill>
              </a:rPr>
              <a:t>Coach</a:t>
            </a:r>
            <a:endParaRPr lang="en-US" sz="2000" dirty="0"/>
          </a:p>
        </p:txBody>
      </p:sp>
      <p:sp>
        <p:nvSpPr>
          <p:cNvPr id="15" name="role text Coach"/>
          <p:cNvSpPr txBox="1"/>
          <p:nvPr/>
        </p:nvSpPr>
        <p:spPr>
          <a:xfrm>
            <a:off x="9144000" y="1965960"/>
            <a:ext cx="2286000" cy="2011680"/>
          </a:xfrm>
          <a:prstGeom prst="rect">
            <a:avLst/>
          </a:prstGeom>
          <a:noFill/>
          <a:ln/>
        </p:spPr>
        <p:txBody>
          <a:bodyPr wrap="square" lIns="0" tIns="0" rIns="0" bIns="0" rtlCol="0" anchor="t"/>
          <a:lstStyle/>
          <a:p>
            <a:pPr indent="0" marL="0">
              <a:buNone/>
            </a:pPr>
            <a:r>
              <a:rPr lang="en-US" sz="1300" dirty="0">
                <a:solidFill>
                  <a:schemeClr val="tx1"/>
                </a:solidFill>
              </a:rPr>
              <a:t>Asks “what did you tell it?” when something breaks. Doesn't type.</a:t>
            </a:r>
            <a:endParaRPr lang="en-US" sz="1300" dirty="0"/>
          </a:p>
        </p:txBody>
      </p:sp>
      <p:sp>
        <p:nvSpPr>
          <p:cNvPr id="16" name="rules head"/>
          <p:cNvSpPr txBox="1"/>
          <p:nvPr/>
        </p:nvSpPr>
        <p:spPr>
          <a:xfrm>
            <a:off x="457200" y="4297680"/>
            <a:ext cx="3657600" cy="365760"/>
          </a:xfrm>
          <a:prstGeom prst="rect">
            <a:avLst/>
          </a:prstGeom>
          <a:noFill/>
          <a:ln/>
        </p:spPr>
        <p:txBody>
          <a:bodyPr wrap="square" lIns="0" tIns="0" rIns="0" bIns="0" rtlCol="0" anchor="t"/>
          <a:lstStyle/>
          <a:p>
            <a:pPr indent="0" marL="0">
              <a:buNone/>
            </a:pPr>
            <a:r>
              <a:rPr lang="en-US" sz="1800" b="1" dirty="0">
                <a:solidFill>
                  <a:schemeClr val="tx1"/>
                </a:solidFill>
              </a:rPr>
              <a:t>Ground rules</a:t>
            </a:r>
            <a:endParaRPr lang="en-US" sz="1800" dirty="0"/>
          </a:p>
        </p:txBody>
      </p:sp>
      <p:sp>
        <p:nvSpPr>
          <p:cNvPr id="17" name="rules"/>
          <p:cNvSpPr txBox="1"/>
          <p:nvPr/>
        </p:nvSpPr>
        <p:spPr>
          <a:xfrm>
            <a:off x="457200" y="4709160"/>
            <a:ext cx="11247120" cy="137160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One change per prompt. Test after every change.</a:t>
            </a:r>
            <a:endParaRPr lang="en-US" sz="1400" dirty="0"/>
          </a:p>
          <a:p>
            <a:pPr marL="342900" indent="-342900">
              <a:spcAft>
                <a:spcPts val="400"/>
              </a:spcAft>
              <a:buSzPct val="100000"/>
              <a:buChar char="•"/>
            </a:pPr>
            <a:r>
              <a:rPr lang="en-US" sz="1400" dirty="0">
                <a:solidFill>
                  <a:schemeClr val="tx1"/>
                </a:solidFill>
              </a:rPr>
              <a:t>Commit (or copy the file) after every working test.</a:t>
            </a:r>
            <a:endParaRPr lang="en-US" sz="1400" dirty="0"/>
          </a:p>
          <a:p>
            <a:pPr marL="342900" indent="-342900">
              <a:spcAft>
                <a:spcPts val="400"/>
              </a:spcAft>
              <a:buSzPct val="100000"/>
              <a:buChar char="•"/>
            </a:pPr>
            <a:r>
              <a:rPr lang="en-US" sz="1400" dirty="0">
                <a:solidFill>
                  <a:schemeClr val="tx1"/>
                </a:solidFill>
              </a:rPr>
              <a:t>If Gemini rewrites something that worked, say “only change X.”</a:t>
            </a:r>
            <a:endParaRPr lang="en-US" sz="1400" dirty="0"/>
          </a:p>
          <a:p>
            <a:pPr marL="342900" indent="-342900">
              <a:spcAft>
                <a:spcPts val="400"/>
              </a:spcAft>
              <a:buSzPct val="100000"/>
              <a:buChar char="•"/>
            </a:pPr>
            <a:r>
              <a:rPr lang="en-US" sz="1400" dirty="0">
                <a:solidFill>
                  <a:schemeClr val="tx1"/>
                </a:solidFill>
              </a:rPr>
              <a:t>The Reader has to be able to explain the code before the team moves on.</a:t>
            </a:r>
            <a:endParaRPr lang="en-US" sz="14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What you need to start</a:t>
            </a:r>
            <a:endParaRPr lang="en-US" sz="3200" dirty="0"/>
          </a:p>
        </p:txBody>
      </p:sp>
      <p:sp>
        <p:nvSpPr>
          <p:cNvPr id="4" name="check 0"/>
          <p:cNvSpPr/>
          <p:nvPr/>
        </p:nvSpPr>
        <p:spPr>
          <a:xfrm>
            <a:off x="457200" y="1481328"/>
            <a:ext cx="384048" cy="384048"/>
          </a:xfrm>
          <a:prstGeom prst="hexagon">
            <a:avLst/>
          </a:prstGeom>
          <a:solidFill>
            <a:schemeClr val="bg1"/>
          </a:solidFill>
          <a:ln w="19050">
            <a:solidFill>
              <a:schemeClr val="accent1"/>
            </a:solidFill>
            <a:prstDash val="solid"/>
          </a:ln>
        </p:spPr>
      </p:sp>
      <p:sp>
        <p:nvSpPr>
          <p:cNvPr id="5" name="need 0"/>
          <p:cNvSpPr txBox="1"/>
          <p:nvPr/>
        </p:nvSpPr>
        <p:spPr>
          <a:xfrm>
            <a:off x="1051560" y="1371600"/>
            <a:ext cx="6949440" cy="603504"/>
          </a:xfrm>
          <a:prstGeom prst="rect">
            <a:avLst/>
          </a:prstGeom>
          <a:noFill/>
          <a:ln/>
        </p:spPr>
        <p:txBody>
          <a:bodyPr wrap="square" lIns="0" tIns="0" rIns="0" bIns="0" rtlCol="0" anchor="ctr"/>
          <a:lstStyle/>
          <a:p>
            <a:pPr indent="0" marL="0">
              <a:buNone/>
            </a:pPr>
            <a:r>
              <a:rPr lang="en-US" sz="1600" dirty="0">
                <a:solidFill>
                  <a:schemeClr val="tx1"/>
                </a:solidFill>
              </a:rPr>
              <a:t>A laptop that runs Android Studio (Windows, Mac or Linux)</a:t>
            </a:r>
            <a:endParaRPr lang="en-US" sz="1600" dirty="0"/>
          </a:p>
        </p:txBody>
      </p:sp>
      <p:sp>
        <p:nvSpPr>
          <p:cNvPr id="6" name="check 1"/>
          <p:cNvSpPr/>
          <p:nvPr/>
        </p:nvSpPr>
        <p:spPr>
          <a:xfrm>
            <a:off x="457200" y="2194560"/>
            <a:ext cx="384048" cy="384048"/>
          </a:xfrm>
          <a:prstGeom prst="hexagon">
            <a:avLst/>
          </a:prstGeom>
          <a:solidFill>
            <a:schemeClr val="bg1"/>
          </a:solidFill>
          <a:ln w="19050">
            <a:solidFill>
              <a:schemeClr val="accent1"/>
            </a:solidFill>
            <a:prstDash val="solid"/>
          </a:ln>
        </p:spPr>
      </p:sp>
      <p:sp>
        <p:nvSpPr>
          <p:cNvPr id="7" name="need 1"/>
          <p:cNvSpPr txBox="1"/>
          <p:nvPr/>
        </p:nvSpPr>
        <p:spPr>
          <a:xfrm>
            <a:off x="1051560" y="2084832"/>
            <a:ext cx="6949440" cy="603504"/>
          </a:xfrm>
          <a:prstGeom prst="rect">
            <a:avLst/>
          </a:prstGeom>
          <a:noFill/>
          <a:ln/>
        </p:spPr>
        <p:txBody>
          <a:bodyPr wrap="square" lIns="0" tIns="0" rIns="0" bIns="0" rtlCol="0" anchor="ctr"/>
          <a:lstStyle/>
          <a:p>
            <a:pPr indent="0" marL="0">
              <a:buNone/>
            </a:pPr>
            <a:r>
              <a:rPr lang="en-US" sz="1600" dirty="0">
                <a:solidFill>
                  <a:schemeClr val="tx1"/>
                </a:solidFill>
              </a:rPr>
              <a:t>A Google account signed in to Gemini in Android Studio</a:t>
            </a:r>
            <a:endParaRPr lang="en-US" sz="1600" dirty="0"/>
          </a:p>
        </p:txBody>
      </p:sp>
      <p:sp>
        <p:nvSpPr>
          <p:cNvPr id="8" name="check 2"/>
          <p:cNvSpPr/>
          <p:nvPr/>
        </p:nvSpPr>
        <p:spPr>
          <a:xfrm>
            <a:off x="457200" y="2907792"/>
            <a:ext cx="384048" cy="384048"/>
          </a:xfrm>
          <a:prstGeom prst="hexagon">
            <a:avLst/>
          </a:prstGeom>
          <a:solidFill>
            <a:schemeClr val="bg1"/>
          </a:solidFill>
          <a:ln w="19050">
            <a:solidFill>
              <a:schemeClr val="accent1"/>
            </a:solidFill>
            <a:prstDash val="solid"/>
          </a:ln>
        </p:spPr>
      </p:sp>
      <p:sp>
        <p:nvSpPr>
          <p:cNvPr id="9" name="need 2"/>
          <p:cNvSpPr txBox="1"/>
          <p:nvPr/>
        </p:nvSpPr>
        <p:spPr>
          <a:xfrm>
            <a:off x="1051560" y="2798064"/>
            <a:ext cx="6949440" cy="603504"/>
          </a:xfrm>
          <a:prstGeom prst="rect">
            <a:avLst/>
          </a:prstGeom>
          <a:noFill/>
          <a:ln/>
        </p:spPr>
        <p:txBody>
          <a:bodyPr wrap="square" lIns="0" tIns="0" rIns="0" bIns="0" rtlCol="0" anchor="ctr"/>
          <a:lstStyle/>
          <a:p>
            <a:pPr indent="0" marL="0">
              <a:buNone/>
            </a:pPr>
            <a:r>
              <a:rPr lang="en-US" sz="1600" dirty="0">
                <a:solidFill>
                  <a:schemeClr val="tx1"/>
                </a:solidFill>
              </a:rPr>
              <a:t>The FtcRobotController project cloned</a:t>
            </a:r>
            <a:endParaRPr lang="en-US" sz="1600" dirty="0"/>
          </a:p>
        </p:txBody>
      </p:sp>
      <p:sp>
        <p:nvSpPr>
          <p:cNvPr id="10" name="check 3"/>
          <p:cNvSpPr/>
          <p:nvPr/>
        </p:nvSpPr>
        <p:spPr>
          <a:xfrm>
            <a:off x="457200" y="3621024"/>
            <a:ext cx="384048" cy="384048"/>
          </a:xfrm>
          <a:prstGeom prst="hexagon">
            <a:avLst/>
          </a:prstGeom>
          <a:solidFill>
            <a:schemeClr val="bg1"/>
          </a:solidFill>
          <a:ln w="19050">
            <a:solidFill>
              <a:schemeClr val="accent1"/>
            </a:solidFill>
            <a:prstDash val="solid"/>
          </a:ln>
        </p:spPr>
      </p:sp>
      <p:sp>
        <p:nvSpPr>
          <p:cNvPr id="11" name="need 3"/>
          <p:cNvSpPr txBox="1"/>
          <p:nvPr/>
        </p:nvSpPr>
        <p:spPr>
          <a:xfrm>
            <a:off x="1051560" y="3511296"/>
            <a:ext cx="6949440" cy="603504"/>
          </a:xfrm>
          <a:prstGeom prst="rect">
            <a:avLst/>
          </a:prstGeom>
          <a:noFill/>
          <a:ln/>
        </p:spPr>
        <p:txBody>
          <a:bodyPr wrap="square" lIns="0" tIns="0" rIns="0" bIns="0" rtlCol="0" anchor="ctr"/>
          <a:lstStyle/>
          <a:p>
            <a:pPr indent="0" marL="0">
              <a:buNone/>
            </a:pPr>
            <a:r>
              <a:rPr lang="en-US" sz="1600" dirty="0">
                <a:solidFill>
                  <a:schemeClr val="tx1"/>
                </a:solidFill>
              </a:rPr>
              <a:t>Your robot's hardware config done on the Driver Hub — names and ports</a:t>
            </a:r>
            <a:endParaRPr lang="en-US" sz="1600" dirty="0"/>
          </a:p>
        </p:txBody>
      </p:sp>
      <p:sp>
        <p:nvSpPr>
          <p:cNvPr id="12" name="check 4"/>
          <p:cNvSpPr/>
          <p:nvPr/>
        </p:nvSpPr>
        <p:spPr>
          <a:xfrm>
            <a:off x="457200" y="4334256"/>
            <a:ext cx="384048" cy="384048"/>
          </a:xfrm>
          <a:prstGeom prst="hexagon">
            <a:avLst/>
          </a:prstGeom>
          <a:solidFill>
            <a:schemeClr val="bg1"/>
          </a:solidFill>
          <a:ln w="19050">
            <a:solidFill>
              <a:schemeClr val="accent1"/>
            </a:solidFill>
            <a:prstDash val="solid"/>
          </a:ln>
        </p:spPr>
      </p:sp>
      <p:sp>
        <p:nvSpPr>
          <p:cNvPr id="13" name="need 4"/>
          <p:cNvSpPr txBox="1"/>
          <p:nvPr/>
        </p:nvSpPr>
        <p:spPr>
          <a:xfrm>
            <a:off x="1051560" y="4224528"/>
            <a:ext cx="6949440" cy="603504"/>
          </a:xfrm>
          <a:prstGeom prst="rect">
            <a:avLst/>
          </a:prstGeom>
          <a:noFill/>
          <a:ln/>
        </p:spPr>
        <p:txBody>
          <a:bodyPr wrap="square" lIns="0" tIns="0" rIns="0" bIns="0" rtlCol="0" anchor="ctr"/>
          <a:lstStyle/>
          <a:p>
            <a:pPr indent="0" marL="0">
              <a:buNone/>
            </a:pPr>
            <a:r>
              <a:rPr lang="en-US" sz="1600" dirty="0">
                <a:solidFill>
                  <a:schemeClr val="tx1"/>
                </a:solidFill>
              </a:rPr>
              <a:t>A written list of every motor and servo: name, port, purpose, direction</a:t>
            </a:r>
            <a:endParaRPr lang="en-US" sz="1600" dirty="0"/>
          </a:p>
        </p:txBody>
      </p:sp>
      <p:sp>
        <p:nvSpPr>
          <p:cNvPr id="14" name="check 5"/>
          <p:cNvSpPr/>
          <p:nvPr/>
        </p:nvSpPr>
        <p:spPr>
          <a:xfrm>
            <a:off x="457200" y="5047488"/>
            <a:ext cx="384048" cy="384048"/>
          </a:xfrm>
          <a:prstGeom prst="hexagon">
            <a:avLst/>
          </a:prstGeom>
          <a:solidFill>
            <a:schemeClr val="bg1"/>
          </a:solidFill>
          <a:ln w="19050">
            <a:solidFill>
              <a:schemeClr val="accent1"/>
            </a:solidFill>
            <a:prstDash val="solid"/>
          </a:ln>
        </p:spPr>
      </p:sp>
      <p:sp>
        <p:nvSpPr>
          <p:cNvPr id="15" name="need 5"/>
          <p:cNvSpPr txBox="1"/>
          <p:nvPr/>
        </p:nvSpPr>
        <p:spPr>
          <a:xfrm>
            <a:off x="1051560" y="4937760"/>
            <a:ext cx="6949440" cy="603504"/>
          </a:xfrm>
          <a:prstGeom prst="rect">
            <a:avLst/>
          </a:prstGeom>
          <a:noFill/>
          <a:ln/>
        </p:spPr>
        <p:txBody>
          <a:bodyPr wrap="square" lIns="0" tIns="0" rIns="0" bIns="0" rtlCol="0" anchor="ctr"/>
          <a:lstStyle/>
          <a:p>
            <a:pPr indent="0" marL="0">
              <a:buNone/>
            </a:pPr>
            <a:r>
              <a:rPr lang="en-US" sz="1600" dirty="0">
                <a:solidFill>
                  <a:schemeClr val="tx1"/>
                </a:solidFill>
              </a:rPr>
              <a:t>The guide and videos: github.com/The-Hive-3747/Teaching-AI-Coding</a:t>
            </a:r>
            <a:endParaRPr lang="en-US" sz="1600" dirty="0"/>
          </a:p>
        </p:txBody>
      </p:sp>
      <p:sp>
        <p:nvSpPr>
          <p:cNvPr id="16" name="popups card"/>
          <p:cNvSpPr/>
          <p:nvPr/>
        </p:nvSpPr>
        <p:spPr>
          <a:xfrm>
            <a:off x="8412480" y="1371600"/>
            <a:ext cx="3319272" cy="4206240"/>
          </a:xfrm>
          <a:prstGeom prst="roundRect">
            <a:avLst>
              <a:gd name="adj" fmla="val 3306"/>
            </a:avLst>
          </a:prstGeom>
          <a:solidFill>
            <a:schemeClr val="bg2"/>
          </a:solidFill>
          <a:ln w="12700">
            <a:solidFill>
              <a:schemeClr val="bg2"/>
            </a:solidFill>
            <a:prstDash val="solid"/>
          </a:ln>
        </p:spPr>
      </p:sp>
      <p:sp>
        <p:nvSpPr>
          <p:cNvPr id="17" name="popups head"/>
          <p:cNvSpPr txBox="1"/>
          <p:nvPr/>
        </p:nvSpPr>
        <p:spPr>
          <a:xfrm>
            <a:off x="8595360" y="1508760"/>
            <a:ext cx="3017520" cy="640080"/>
          </a:xfrm>
          <a:prstGeom prst="rect">
            <a:avLst/>
          </a:prstGeom>
          <a:noFill/>
          <a:ln/>
        </p:spPr>
        <p:txBody>
          <a:bodyPr wrap="square" lIns="0" tIns="0" rIns="0" bIns="0" rtlCol="0" anchor="t"/>
          <a:lstStyle/>
          <a:p>
            <a:pPr indent="0" marL="0">
              <a:buNone/>
            </a:pPr>
            <a:r>
              <a:rPr lang="en-US" sz="1500" b="1" dirty="0">
                <a:solidFill>
                  <a:schemeClr val="accent1"/>
                </a:solidFill>
              </a:rPr>
              <a:t>First Gradle sync — three pop-ups</a:t>
            </a:r>
            <a:endParaRPr lang="en-US" sz="1500" dirty="0"/>
          </a:p>
        </p:txBody>
      </p:sp>
      <p:sp>
        <p:nvSpPr>
          <p:cNvPr id="18" name="popups"/>
          <p:cNvSpPr txBox="1"/>
          <p:nvPr/>
        </p:nvSpPr>
        <p:spPr>
          <a:xfrm>
            <a:off x="8595360" y="2194560"/>
            <a:ext cx="3017520" cy="3200400"/>
          </a:xfrm>
          <a:prstGeom prst="rect">
            <a:avLst/>
          </a:prstGeom>
          <a:noFill/>
          <a:ln/>
        </p:spPr>
        <p:txBody>
          <a:bodyPr wrap="square" lIns="0" tIns="0" rIns="0" bIns="0" rtlCol="0" anchor="t"/>
          <a:lstStyle/>
          <a:p>
            <a:pPr indent="0" marL="0">
              <a:buNone/>
            </a:pPr>
            <a:r>
              <a:rPr lang="en-US" sz="1400" b="1" dirty="0">
                <a:solidFill>
                  <a:schemeClr val="accent3"/>
                </a:solidFill>
              </a:rPr>
              <a:t>Accept</a:t>
            </a:r>
            <a:pPr indent="0" marL="0">
              <a:spcAft>
                <a:spcPts val="1000"/>
              </a:spcAft>
              <a:buNone/>
            </a:pPr>
            <a:r>
              <a:rPr lang="en-US" sz="1400" dirty="0">
                <a:solidFill>
                  <a:schemeClr val="tx1"/>
                </a:solidFill>
              </a:rPr>
              <a:t> the Daemon JVM toolchain migration</a:t>
            </a:r>
            <a:endParaRPr lang="en-US" sz="1400" dirty="0"/>
          </a:p>
          <a:p>
            <a:pPr indent="0" marL="0">
              <a:buNone/>
            </a:pPr>
            <a:r>
              <a:rPr lang="en-US" sz="1400" b="1" dirty="0">
                <a:solidFill>
                  <a:schemeClr val="accent4"/>
                </a:solidFill>
              </a:rPr>
              <a:t>Decline</a:t>
            </a:r>
            <a:pPr indent="0" marL="0">
              <a:spcAft>
                <a:spcPts val="1000"/>
              </a:spcAft>
              <a:buNone/>
            </a:pPr>
            <a:r>
              <a:rPr lang="en-US" sz="1400" dirty="0">
                <a:solidFill>
                  <a:schemeClr val="tx1"/>
                </a:solidFill>
              </a:rPr>
              <a:t> the Gradle / AGP upgrade — it breaks the FTC project</a:t>
            </a:r>
            <a:endParaRPr lang="en-US" sz="1400" dirty="0"/>
          </a:p>
          <a:p>
            <a:pPr indent="0" marL="0">
              <a:buNone/>
            </a:pPr>
            <a:r>
              <a:rPr lang="en-US" sz="1400" b="1" dirty="0">
                <a:solidFill>
                  <a:schemeClr val="accent3"/>
                </a:solidFill>
              </a:rPr>
              <a:t>Accept</a:t>
            </a:r>
            <a:pPr indent="0" marL="0">
              <a:buNone/>
            </a:pPr>
            <a:r>
              <a:rPr lang="en-US" sz="1400" dirty="0">
                <a:solidFill>
                  <a:schemeClr val="tx1"/>
                </a:solidFill>
              </a:rPr>
              <a:t> the Windows Defender exclusion, or builds crawl</a:t>
            </a:r>
            <a:endParaRPr lang="en-US" sz="1400" dirty="0"/>
          </a:p>
        </p:txBody>
      </p:sp>
      <p:sp>
        <p:nvSpPr>
          <p:cNvPr id="19" name="popups note"/>
          <p:cNvSpPr txBox="1"/>
          <p:nvPr/>
        </p:nvSpPr>
        <p:spPr>
          <a:xfrm>
            <a:off x="8595360" y="5120640"/>
            <a:ext cx="3017520" cy="365760"/>
          </a:xfrm>
          <a:prstGeom prst="rect">
            <a:avLst/>
          </a:prstGeom>
          <a:noFill/>
          <a:ln/>
        </p:spPr>
        <p:txBody>
          <a:bodyPr wrap="square" lIns="0" tIns="0" rIns="0" bIns="0" rtlCol="0" anchor="t"/>
          <a:lstStyle/>
          <a:p>
            <a:pPr indent="0" marL="0">
              <a:buNone/>
            </a:pPr>
            <a:r>
              <a:rPr lang="en-US" sz="1200" dirty="0">
                <a:solidFill>
                  <a:schemeClr val="tx2"/>
                </a:solidFill>
              </a:rPr>
              <a:t>Checkpoint 0 has all three.</a:t>
            </a:r>
            <a:endParaRPr lang="en-US" sz="12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logo" descr="/home/claude/teaching-ai-coding/docs/images/hive-logo.png">    </p:cNvPr>
          <p:cNvPicPr>
            <a:picLocks noChangeAspect="1"/>
          </p:cNvPicPr>
          <p:nvPr/>
        </p:nvPicPr>
        <p:blipFill>
          <a:blip r:embed="rId1"/>
          <a:stretch>
            <a:fillRect/>
          </a:stretch>
        </p:blipFill>
        <p:spPr>
          <a:xfrm>
            <a:off x="7498080" y="3931920"/>
            <a:ext cx="4389120" cy="2468880"/>
          </a:xfrm>
          <a:prstGeom prst="rect">
            <a:avLst/>
          </a:prstGeom>
        </p:spPr>
      </p:pic>
      <p:sp>
        <p:nvSpPr>
          <p:cNvPr id="3" name="close"/>
          <p:cNvSpPr txBox="1"/>
          <p:nvPr/>
        </p:nvSpPr>
        <p:spPr>
          <a:xfrm>
            <a:off x="640080" y="1097280"/>
            <a:ext cx="10515600" cy="3291840"/>
          </a:xfrm>
          <a:prstGeom prst="rect">
            <a:avLst/>
          </a:prstGeom>
          <a:noFill/>
          <a:ln/>
        </p:spPr>
        <p:txBody>
          <a:bodyPr wrap="square" lIns="0" tIns="0" rIns="0" bIns="0" rtlCol="0" anchor="ctr"/>
          <a:lstStyle/>
          <a:p>
            <a:pPr indent="0" marL="0">
              <a:buNone/>
            </a:pPr>
            <a:r>
              <a:rPr lang="en-US" sz="4000" b="1" dirty="0">
                <a:solidFill>
                  <a:schemeClr val="accent1"/>
                </a:solidFill>
              </a:rPr>
              <a:t>Start small.</a:t>
            </a:r>
            <a:endParaRPr lang="en-US" sz="4000" dirty="0"/>
          </a:p>
          <a:p>
            <a:pPr indent="0" marL="0">
              <a:buNone/>
            </a:pPr>
            <a:r>
              <a:rPr lang="en-US" sz="4000" b="1" dirty="0">
                <a:solidFill>
                  <a:schemeClr val="accent1"/>
                </a:solidFill>
              </a:rPr>
              <a:t>Test every step.</a:t>
            </a:r>
            <a:endParaRPr lang="en-US" sz="4000" dirty="0"/>
          </a:p>
          <a:p>
            <a:pPr indent="0" marL="0">
              <a:buNone/>
            </a:pPr>
            <a:r>
              <a:rPr lang="en-US" sz="4000" b="1" dirty="0">
                <a:solidFill>
                  <a:schemeClr val="accent1"/>
                </a:solidFill>
              </a:rPr>
              <a:t>When it's wrong, describe what was missing.</a:t>
            </a:r>
            <a:endParaRPr lang="en-US" sz="4000" dirty="0"/>
          </a:p>
        </p:txBody>
      </p:sp>
      <p:sp>
        <p:nvSpPr>
          <p:cNvPr id="4" name="repo"/>
          <p:cNvSpPr txBox="1"/>
          <p:nvPr/>
        </p:nvSpPr>
        <p:spPr>
          <a:xfrm>
            <a:off x="640080" y="4663440"/>
            <a:ext cx="6858000" cy="457200"/>
          </a:xfrm>
          <a:prstGeom prst="rect">
            <a:avLst/>
          </a:prstGeom>
          <a:noFill/>
          <a:ln/>
        </p:spPr>
        <p:txBody>
          <a:bodyPr wrap="square" lIns="0" tIns="0" rIns="0" bIns="0" rtlCol="0" anchor="ctr"/>
          <a:lstStyle/>
          <a:p>
            <a:pPr indent="0" marL="0">
              <a:buNone/>
            </a:pPr>
            <a:r>
              <a:rPr lang="en-US" sz="2000" dirty="0">
                <a:solidFill>
                  <a:schemeClr val="tx1"/>
                </a:solidFill>
              </a:rPr>
              <a:t>github.com/The-Hive-3747/Teaching-AI-Coding</a:t>
            </a:r>
            <a:endParaRPr lang="en-US" sz="2000" dirty="0"/>
          </a:p>
        </p:txBody>
      </p:sp>
      <p:sp>
        <p:nvSpPr>
          <p:cNvPr id="5" name="find us"/>
          <p:cNvSpPr txBox="1"/>
          <p:nvPr/>
        </p:nvSpPr>
        <p:spPr>
          <a:xfrm>
            <a:off x="640080" y="5212080"/>
            <a:ext cx="6858000" cy="914400"/>
          </a:xfrm>
          <a:prstGeom prst="rect">
            <a:avLst/>
          </a:prstGeom>
          <a:noFill/>
          <a:ln/>
        </p:spPr>
        <p:txBody>
          <a:bodyPr wrap="square" lIns="0" tIns="0" rIns="0" bIns="0" rtlCol="0" anchor="ctr"/>
          <a:lstStyle/>
          <a:p>
            <a:pPr indent="0" marL="0">
              <a:buNone/>
            </a:pPr>
            <a:r>
              <a:rPr lang="en-US" sz="1600" dirty="0">
                <a:solidFill>
                  <a:schemeClr val="tx2"/>
                </a:solidFill>
              </a:rPr>
              <a:t>Guide, videos, every real prompt, and the code — all of it.</a:t>
            </a:r>
            <a:endParaRPr lang="en-US" sz="1600" dirty="0"/>
          </a:p>
          <a:p>
            <a:pPr indent="0" marL="0">
              <a:buNone/>
            </a:pPr>
            <a:r>
              <a:rPr lang="en-US" sz="1600" dirty="0">
                <a:solidFill>
                  <a:schemeClr val="tx2"/>
                </a:solidFill>
              </a:rPr>
              <a:t>Find us at the pits: The Hive, FTC 3747.</a:t>
            </a:r>
            <a:endParaRPr lang="en-US" sz="1600" dirty="0"/>
          </a:p>
        </p:txBody>
      </p:sp>
    </p:spTree>
  </p:cSld>
  <p:clrMapOvr>
    <a:masterClrMapping/>
  </p:clrMapOvr>
</p:sld>
</file>

<file path=ppt/theme/theme1.xml><?xml version="1.0" encoding="utf-8"?>
<a:theme xmlns:a="http://schemas.openxmlformats.org/drawingml/2006/main" name="The Hive">
  <a:themeElements>
    <a:clrScheme name="The Hive">
      <a:dk1>
        <a:srgbClr val="FFFFFF"/>
      </a:dk1>
      <a:lt1>
        <a:srgbClr val="000000"/>
      </a:lt1>
      <a:dk2>
        <a:srgbClr val="C8C8C8"/>
      </a:dk2>
      <a:lt2>
        <a:srgbClr val="161616"/>
      </a:lt2>
      <a:accent1>
        <a:srgbClr val="F9BE14"/>
      </a:accent1>
      <a:accent2>
        <a:srgbClr val="FFD75E"/>
      </a:accent2>
      <a:accent3>
        <a:srgbClr val="3DDC84"/>
      </a:accent3>
      <a:accent4>
        <a:srgbClr val="FF5C5C"/>
      </a:accent4>
      <a:accent5>
        <a:srgbClr val="8AB4F8"/>
      </a:accent5>
      <a:accent6>
        <a:srgbClr val="9E9E9E"/>
      </a:accent6>
      <a:hlink>
        <a:srgbClr val="F9BE14"/>
      </a:hlink>
      <a:folHlink>
        <a:srgbClr val="C8C8C8"/>
      </a:folHlink>
    </a:clrScheme>
    <a:fontScheme name="The Hiv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Describe your robot. Let AI write the code. Test. Repeat.</dc:title>
  <dc:subject>PptxGenJS Presentation</dc:subject>
  <dc:creator>The Hive, FTC 3747</dc:creator>
  <cp:lastModifiedBy>The Hive, FTC 3747</cp:lastModifiedBy>
  <cp:revision>1</cp:revision>
  <dcterms:created xsi:type="dcterms:W3CDTF">2026-10-03T17:03:04Z</dcterms:created>
  <dcterms:modified xsi:type="dcterms:W3CDTF">2026-10-03T17:03:04Z</dcterms:modified>
</cp:coreProperties>
</file>