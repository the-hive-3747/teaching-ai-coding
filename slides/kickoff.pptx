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people sit down. No talking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slowly. The whole talk hangs on it. Make the split clear: our robot was ours, coded by us, typed by us. The mentor robot was the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"How many teams have exactly one person who can write Java?" Then: "How many of those people are also the coach?" Let it land. This is the pain the method solves. If you want, say which of us is the one programmer on The 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not a list. Be precise about who did what, because coaches will ask: Ben described the architecture on night one and got the first TeleOp and the first autonomous. From then on it was a pair — Asim at the robot deciding what to change, Ben at the keyboard typing it — and for eight prompts Asim at the keyboard himself: tank drive, the strafe fix, the spitting-balls pair, a whole experimental autonomous with three rounds of tuning. The point for the room: the person who understands the robot drives the prompt, whoever's hands are on the keys. Two things make the experiment honest, and say both: Ben CAN write Java, so choosing to describe instead of type was a choice; Asim can't, and made most of the changes anyway. The quotes are verbatim, typos and all. The screenshot is the 'spitting balls out' prompt exactly as typed, with Gemini's answer. If there's time, play docs/video/scrimmage-match3-auto.mp4 from the laptop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up and let it sit for a few seconds. Then: the person who understands the robot drives the prompt, whoever's hands are on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that's ours. The right column is from the mentor transcript (docs/verbatim-transcript.md); the left column is yours to fill from your own week — be concrete and be fair to both. The honest comparison is not 'AI was faster': it's WHERE THE BOTTLENECK WAS. On our robot every change went through whoever could type Java. On the mentor robot the bottleneck moved to describing precisely — and that's a skill the mechanical people already had. That's the thing we want every Utah team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Coaches worry about this. Say it plainly: you still have to understand what a motor is, which way it spins, what a state machine does. You just don't have to type the Java. Be honest that this hasn't been run with students yet — the mentors ran it on the mentor robot, and we're the first team trying to turn it into something students do. That's why there's a Reader role later. Drop this slide if the demo runs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whole workshop. Every checkpoint in the guide is one trip around it. The skill you build is DESCRIBE and REFINE: being specific about names, directions, timing and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'test' comes after every step. The single biggest mistake is asking for everything at once. Small steps mean when something breaks, you know which description caused it. There's a guide page and a video per checkpoint — show the repo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Names: exactly as in the Robot Controller config — 'front_left_drive', not 'the front left motor'. If Gemini has to guess any of the five, it will, and the guess is where the bug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vague one and ask the room what Gemini would have to guess. Then the specific one: everything it would have guessed is now stated. The third one is verbatim, called out from over the robot — no code words at all, it describes a sequence — and that's why it was a one-line fix in Intake.java. This is the slide for the mechanical kids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Android Studio. One of you drives the laptop, one narrates, one handles the robot. 1) Show the Gemini panel with the robot description already there. 2) Type the mecanum drive prompt live and send it; narrate what you asked for while it generates. 3) Show the generated OpMode — point at the hardware names, they match the config. 4) Build, deploy, drive. 5) Type the real refinement: "hey, in the latest push, holding both joysticks left made the robot strafe right, and vice versa. please fix" — deploy, drive again. 6) Stop there: "That's the whole method. Everything else is more trips around the loop." If it breaks, that's the method too: say what you see, paste the error into the panel, let the room watch the refine step. Don't apologize — a live fix is a better demo than a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happened on the mentor robot; the italic ones are the actual prompts. The pattern: when it's wrong, the description was missing something. Say the missing thing. The fake-gamepad row is the one Ben cares most about: the auto worked, but it was tied to the TeleOp button map because nobody said an auto was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role is the answer to 'aren't they just cheating.' If a student can explain what the state machine does and why the timings are what they are, they learned it. Tell the room which of these roles each of you would take on The Hive. The Describer on the mentor robot was Asim, the mechanical mentor — he can't write Java, and he made most of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list is the one thing to do BEFORE opening Gemini. For anyone installing tonight: during the first Gradle sync, Android Studio pops up three things. Accept the Daemon JVM toolchain migration. DECLINE the Gradle/AGP upgrade — it breaks the FTC project. On Windows, accept the Defender exclusion or builds crawl. Checkpoint 0 in the guide has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Q&amp;A slot, so say where people can find you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home/claude/teaching-ai-coding/docs/images/hive-mark.png">    </p:cNvPr>
          <p:cNvPicPr>
            <a:picLocks noChangeAspect="1"/>
          </p:cNvPicPr>
          <p:nvPr/>
        </p:nvPicPr>
        <p:blipFill>
          <a:blip r:embed="rId1"/>
          <a:stretch>
            <a:fillRect/>
          </a:stretch>
        </p:blipFill>
        <p:spPr>
          <a:xfrm>
            <a:off x="457200" y="6263640"/>
            <a:ext cx="384048" cy="393192"/>
          </a:xfrm>
          <a:prstGeom prst="rect">
            <a:avLst/>
          </a:prstGeom>
        </p:spPr>
      </p:pic>
      <p:sp>
        <p:nvSpPr>
          <p:cNvPr id="3" name="Text 0"/>
          <p:cNvSpPr/>
          <p:nvPr/>
        </p:nvSpPr>
        <p:spPr>
          <a:xfrm>
            <a:off x="914400" y="6263640"/>
            <a:ext cx="8229600" cy="393192"/>
          </a:xfrm>
          <a:prstGeom prst="rect">
            <a:avLst/>
          </a:prstGeom>
          <a:noFill/>
          <a:ln/>
        </p:spPr>
        <p:txBody>
          <a:bodyPr wrap="square" lIns="0" tIns="0" rIns="0" bIns="0" rtlCol="0" anchor="ctr"/>
          <a:lstStyle/>
          <a:p>
            <a:pPr indent="0" marL="0">
              <a:buNone/>
            </a:pPr>
            <a:r>
              <a:rPr lang="en-US" sz="1000" dirty="0">
                <a:solidFill>
                  <a:schemeClr val="tx2"/>
                </a:solidFill>
              </a:rPr>
              <a:t>The Hive · FTC 3747 · github.com/The-Hive-3747/Teaching-AI-Coding</a:t>
            </a:r>
            <a:endParaRPr lang="en-US" sz="1000" dirty="0"/>
          </a:p>
        </p:txBody>
      </p:sp>
      <p:sp>
        <p:nvSpPr>
          <p:cNvPr id="4" name="Text 1"/>
          <p:cNvSpPr/>
          <p:nvPr>
            <p:ph idx="102" type="title" hasCustomPrompt="1"/>
          </p:nvPr>
        </p:nvSpPr>
        <p:spPr>
          <a:xfrm>
            <a:off x="457200" y="365760"/>
            <a:ext cx="11274552" cy="82296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obot photo" descr="/home/claude/teaching-ai-coding/docs/images/match-closeup-green-leds.jpg">    </p:cNvPr>
          <p:cNvPicPr>
            <a:picLocks noChangeAspect="1"/>
          </p:cNvPicPr>
          <p:nvPr/>
        </p:nvPicPr>
        <p:blipFill>
          <a:blip r:embed="rId1">
            <a:alphaModFix amt="85000"/>
          </a:blip>
          <a:srcRect l="0" r="0" t="0" b="0"/>
          <a:stretch/>
        </p:blipFill>
        <p:spPr>
          <a:xfrm>
            <a:off x="6400800" y="0"/>
            <a:ext cx="5788152" cy="6858000"/>
          </a:xfrm>
          <a:prstGeom prst="rect">
            <a:avLst/>
          </a:prstGeom>
        </p:spPr>
      </p:pic>
      <p:pic>
        <p:nvPicPr>
          <p:cNvPr id="3" name="logo mark" descr="/home/claude/teaching-ai-coding/docs/images/hive-mark.png">    </p:cNvPr>
          <p:cNvPicPr>
            <a:picLocks noChangeAspect="1"/>
          </p:cNvPicPr>
          <p:nvPr/>
        </p:nvPicPr>
        <p:blipFill>
          <a:blip r:embed="rId2"/>
          <a:stretch>
            <a:fillRect/>
          </a:stretch>
        </p:blipFill>
        <p:spPr>
          <a:xfrm>
            <a:off x="640080" y="548640"/>
            <a:ext cx="1005840" cy="1033272"/>
          </a:xfrm>
          <a:prstGeom prst="rect">
            <a:avLst/>
          </a:prstGeom>
        </p:spPr>
      </p:pic>
      <p:sp>
        <p:nvSpPr>
          <p:cNvPr id="4" name="title"/>
          <p:cNvSpPr txBox="1"/>
          <p:nvPr/>
        </p:nvSpPr>
        <p:spPr>
          <a:xfrm>
            <a:off x="640080" y="1828800"/>
            <a:ext cx="5669280" cy="2651760"/>
          </a:xfrm>
          <a:prstGeom prst="rect">
            <a:avLst/>
          </a:prstGeom>
          <a:noFill/>
          <a:ln/>
        </p:spPr>
        <p:txBody>
          <a:bodyPr wrap="square" lIns="0" tIns="0" rIns="0" bIns="0" rtlCol="0" anchor="t"/>
          <a:lstStyle/>
          <a:p>
            <a:pPr indent="0" marL="0">
              <a:buNone/>
            </a:pPr>
            <a:r>
              <a:rPr lang="en-US" sz="4400" b="1" dirty="0">
                <a:solidFill>
                  <a:schemeClr val="accent1"/>
                </a:solidFill>
              </a:rPr>
              <a:t>Describe your robot.</a:t>
            </a:r>
            <a:endParaRPr lang="en-US" sz="4400" dirty="0"/>
          </a:p>
          <a:p>
            <a:pPr indent="0" marL="0">
              <a:buNone/>
            </a:pPr>
            <a:r>
              <a:rPr lang="en-US" sz="4400" b="1" dirty="0">
                <a:solidFill>
                  <a:schemeClr val="accent1"/>
                </a:solidFill>
              </a:rPr>
              <a:t>Let AI write the code.</a:t>
            </a:r>
            <a:endParaRPr lang="en-US" sz="4400" dirty="0"/>
          </a:p>
          <a:p>
            <a:pPr indent="0" marL="0">
              <a:buNone/>
            </a:pPr>
            <a:r>
              <a:rPr lang="en-US" sz="4400" b="1" dirty="0">
                <a:solidFill>
                  <a:schemeClr val="accent1"/>
                </a:solidFill>
              </a:rPr>
              <a:t>Test. Repeat.</a:t>
            </a:r>
            <a:endParaRPr lang="en-US" sz="4400" dirty="0"/>
          </a:p>
        </p:txBody>
      </p:sp>
      <p:sp>
        <p:nvSpPr>
          <p:cNvPr id="5" name="subtitle"/>
          <p:cNvSpPr txBox="1"/>
          <p:nvPr/>
        </p:nvSpPr>
        <p:spPr>
          <a:xfrm>
            <a:off x="640080" y="4572000"/>
            <a:ext cx="5486400" cy="1188720"/>
          </a:xfrm>
          <a:prstGeom prst="rect">
            <a:avLst/>
          </a:prstGeom>
          <a:noFill/>
          <a:ln/>
        </p:spPr>
        <p:txBody>
          <a:bodyPr wrap="square" lIns="0" tIns="0" rIns="0" bIns="0" rtlCol="0" anchor="ctr"/>
          <a:lstStyle/>
          <a:p>
            <a:pPr indent="0" marL="0">
              <a:buNone/>
            </a:pPr>
            <a:r>
              <a:rPr lang="en-US" sz="1600" dirty="0">
                <a:solidFill>
                  <a:schemeClr val="tx1"/>
                </a:solidFill>
              </a:rPr>
              <a:t>What The Hive learned watching our mentors code a robot in one week with Gemini in Android Studio — and how your team can do it too.</a:t>
            </a:r>
            <a:endParaRPr lang="en-US" sz="1600" dirty="0"/>
          </a:p>
        </p:txBody>
      </p:sp>
      <p:sp>
        <p:nvSpPr>
          <p:cNvPr id="6" name="footer"/>
          <p:cNvSpPr txBox="1"/>
          <p:nvPr/>
        </p:nvSpPr>
        <p:spPr>
          <a:xfrm>
            <a:off x="640080" y="5943600"/>
            <a:ext cx="7315200" cy="365760"/>
          </a:xfrm>
          <a:prstGeom prst="rect">
            <a:avLst/>
          </a:prstGeom>
          <a:noFill/>
          <a:ln/>
        </p:spPr>
        <p:txBody>
          <a:bodyPr wrap="square" lIns="0" tIns="0" rIns="0" bIns="0" rtlCol="0" anchor="ctr"/>
          <a:lstStyle/>
          <a:p>
            <a:pPr indent="0" marL="0">
              <a:buNone/>
            </a:pPr>
            <a:r>
              <a:rPr lang="en-US" sz="1400" dirty="0">
                <a:solidFill>
                  <a:schemeClr val="tx2"/>
                </a:solidFill>
              </a:rPr>
              <a:t>The Hive · FTC 3747 · Beehive Academy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we are, and what this is</a:t>
            </a:r>
            <a:endParaRPr lang="en-US" sz="3200" dirty="0"/>
          </a:p>
        </p:txBody>
      </p:sp>
      <p:sp>
        <p:nvSpPr>
          <p:cNvPr id="4" name="hex 1"/>
          <p:cNvSpPr/>
          <p:nvPr/>
        </p:nvSpPr>
        <p:spPr>
          <a:xfrm>
            <a:off x="457200" y="1554480"/>
            <a:ext cx="731520" cy="731520"/>
          </a:xfrm>
          <a:prstGeom prst="hexagon">
            <a:avLst/>
          </a:prstGeom>
          <a:solidFill>
            <a:schemeClr val="bg1"/>
          </a:solidFill>
          <a:ln w="25400">
            <a:solidFill>
              <a:schemeClr val="accent1"/>
            </a:solidFill>
            <a:prstDash val="solid"/>
          </a:ln>
        </p:spPr>
      </p:sp>
      <p:sp>
        <p:nvSpPr>
          <p:cNvPr id="5" name="hex label 1"/>
          <p:cNvSpPr txBox="1"/>
          <p:nvPr/>
        </p:nvSpPr>
        <p:spPr>
          <a:xfrm>
            <a:off x="457200" y="155448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line 1"/>
          <p:cNvSpPr txBox="1"/>
          <p:nvPr/>
        </p:nvSpPr>
        <p:spPr>
          <a:xfrm>
            <a:off x="1463040" y="155448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We're The Hive, FTC 3747. At Robot in One Week we built and coded our robot by hand — the normal way.</a:t>
            </a:r>
            <a:endParaRPr lang="en-US" sz="1800" dirty="0"/>
          </a:p>
        </p:txBody>
      </p:sp>
      <p:sp>
        <p:nvSpPr>
          <p:cNvPr id="7" name="hex 2"/>
          <p:cNvSpPr/>
          <p:nvPr/>
        </p:nvSpPr>
        <p:spPr>
          <a:xfrm>
            <a:off x="457200" y="2880360"/>
            <a:ext cx="731520" cy="731520"/>
          </a:xfrm>
          <a:prstGeom prst="hexagon">
            <a:avLst/>
          </a:prstGeom>
          <a:solidFill>
            <a:schemeClr val="bg1"/>
          </a:solidFill>
          <a:ln w="25400">
            <a:solidFill>
              <a:schemeClr val="accent1"/>
            </a:solidFill>
            <a:prstDash val="solid"/>
          </a:ln>
        </p:spPr>
      </p:sp>
      <p:sp>
        <p:nvSpPr>
          <p:cNvPr id="8" name="hex label 2"/>
          <p:cNvSpPr txBox="1"/>
          <p:nvPr/>
        </p:nvSpPr>
        <p:spPr>
          <a:xfrm>
            <a:off x="457200" y="288036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9" name="line 2"/>
          <p:cNvSpPr txBox="1"/>
          <p:nvPr/>
        </p:nvSpPr>
        <p:spPr>
          <a:xfrm>
            <a:off x="1463040" y="2880360"/>
            <a:ext cx="6309360" cy="1097280"/>
          </a:xfrm>
          <a:prstGeom prst="rect">
            <a:avLst/>
          </a:prstGeom>
          <a:noFill/>
          <a:ln/>
        </p:spPr>
        <p:txBody>
          <a:bodyPr wrap="square" lIns="0" tIns="0" rIns="0" bIns="0" rtlCol="0" anchor="ctr"/>
          <a:lstStyle/>
          <a:p>
            <a:pPr indent="0" marL="0">
              <a:buNone/>
            </a:pPr>
            <a:r>
              <a:rPr lang="en-US" sz="1800" dirty="0">
                <a:solidFill>
                  <a:schemeClr val="tx1"/>
                </a:solidFill>
              </a:rPr>
              <a:t>Our mentors had their own robot for the mentor competition. They ran an experiment on it: no hand-written Java. Everything described to Gemini.</a:t>
            </a:r>
            <a:endParaRPr lang="en-US" sz="1800" dirty="0"/>
          </a:p>
        </p:txBody>
      </p:sp>
      <p:sp>
        <p:nvSpPr>
          <p:cNvPr id="10" name="hex 3"/>
          <p:cNvSpPr/>
          <p:nvPr/>
        </p:nvSpPr>
        <p:spPr>
          <a:xfrm>
            <a:off x="457200" y="4206240"/>
            <a:ext cx="731520" cy="731520"/>
          </a:xfrm>
          <a:prstGeom prst="hexagon">
            <a:avLst/>
          </a:prstGeom>
          <a:solidFill>
            <a:schemeClr val="bg1"/>
          </a:solidFill>
          <a:ln w="25400">
            <a:solidFill>
              <a:schemeClr val="accent1"/>
            </a:solidFill>
            <a:prstDash val="solid"/>
          </a:ln>
        </p:spPr>
      </p:sp>
      <p:sp>
        <p:nvSpPr>
          <p:cNvPr id="11" name="hex label 3"/>
          <p:cNvSpPr txBox="1"/>
          <p:nvPr/>
        </p:nvSpPr>
        <p:spPr>
          <a:xfrm>
            <a:off x="457200" y="420624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2" name="line 3"/>
          <p:cNvSpPr txBox="1"/>
          <p:nvPr/>
        </p:nvSpPr>
        <p:spPr>
          <a:xfrm>
            <a:off x="1463040" y="420624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 watched both happen. This is what we learned, and what you can use.</a:t>
            </a:r>
            <a:endParaRPr lang="en-US" sz="1800" dirty="0"/>
          </a:p>
        </p:txBody>
      </p:sp>
      <p:pic>
        <p:nvPicPr>
          <p:cNvPr id="13" name="shooting photo" descr="/home/claude/teaching-ai-coding/docs/images/match-shooting-at-goal.jpg">    </p:cNvPr>
          <p:cNvPicPr>
            <a:picLocks noChangeAspect="1"/>
          </p:cNvPicPr>
          <p:nvPr/>
        </p:nvPicPr>
        <p:blipFill>
          <a:blip r:embed="rId1"/>
          <a:stretch>
            <a:fillRect/>
          </a:stretch>
        </p:blipFill>
        <p:spPr>
          <a:xfrm>
            <a:off x="8321040" y="1371600"/>
            <a:ext cx="2377440" cy="4389120"/>
          </a:xfrm>
          <a:prstGeom prst="rect">
            <a:avLst/>
          </a:prstGeom>
        </p:spPr>
      </p:pic>
      <p:sp>
        <p:nvSpPr>
          <p:cNvPr id="14" name="caption"/>
          <p:cNvSpPr txBox="1"/>
          <p:nvPr/>
        </p:nvSpPr>
        <p:spPr>
          <a:xfrm>
            <a:off x="8321040" y="5806440"/>
            <a:ext cx="2926080" cy="274320"/>
          </a:xfrm>
          <a:prstGeom prst="rect">
            <a:avLst/>
          </a:prstGeom>
          <a:noFill/>
          <a:ln/>
        </p:spPr>
        <p:txBody>
          <a:bodyPr wrap="square" lIns="0" tIns="0" rIns="0" bIns="0" rtlCol="0" anchor="ctr"/>
          <a:lstStyle/>
          <a:p>
            <a:pPr indent="0" marL="0">
              <a:buNone/>
            </a:pPr>
            <a:r>
              <a:rPr lang="en-US" sz="1000" dirty="0">
                <a:solidFill>
                  <a:schemeClr val="tx2"/>
                </a:solidFill>
              </a:rPr>
              <a:t>The mentor robot, scrimmage day</a:t>
            </a:r>
            <a:endParaRPr lang="en-US" sz="1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problem every team has</a:t>
            </a:r>
            <a:endParaRPr lang="en-US" sz="3200" dirty="0"/>
          </a:p>
        </p:txBody>
      </p:sp>
      <p:sp>
        <p:nvSpPr>
          <p:cNvPr id="4" name="card 0"/>
          <p:cNvSpPr/>
          <p:nvPr/>
        </p:nvSpPr>
        <p:spPr>
          <a:xfrm>
            <a:off x="457200" y="1554480"/>
            <a:ext cx="3566160" cy="4206240"/>
          </a:xfrm>
          <a:prstGeom prst="roundRect">
            <a:avLst>
              <a:gd name="adj" fmla="val 3077"/>
            </a:avLst>
          </a:prstGeom>
          <a:solidFill>
            <a:schemeClr val="bg2"/>
          </a:solidFill>
          <a:ln w="12700">
            <a:solidFill>
              <a:schemeClr val="bg2"/>
            </a:solidFill>
            <a:prstDash val="solid"/>
          </a:ln>
        </p:spPr>
      </p:sp>
      <p:sp>
        <p:nvSpPr>
          <p:cNvPr id="5" name="hex 1"/>
          <p:cNvSpPr/>
          <p:nvPr/>
        </p:nvSpPr>
        <p:spPr>
          <a:xfrm>
            <a:off x="731520" y="1828800"/>
            <a:ext cx="914400" cy="914400"/>
          </a:xfrm>
          <a:prstGeom prst="hexagon">
            <a:avLst/>
          </a:prstGeom>
          <a:solidFill>
            <a:schemeClr val="bg1"/>
          </a:solidFill>
          <a:ln w="25400">
            <a:solidFill>
              <a:schemeClr val="accent1"/>
            </a:solidFill>
            <a:prstDash val="solid"/>
          </a:ln>
        </p:spPr>
      </p:sp>
      <p:sp>
        <p:nvSpPr>
          <p:cNvPr id="6" name="hex label 1"/>
          <p:cNvSpPr txBox="1"/>
          <p:nvPr/>
        </p:nvSpPr>
        <p:spPr>
          <a:xfrm>
            <a:off x="73152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1</a:t>
            </a:r>
            <a:endParaRPr lang="en-US" sz="2400" dirty="0"/>
          </a:p>
        </p:txBody>
      </p:sp>
      <p:sp>
        <p:nvSpPr>
          <p:cNvPr id="7" name="head 0"/>
          <p:cNvSpPr txBox="1"/>
          <p:nvPr/>
        </p:nvSpPr>
        <p:spPr>
          <a:xfrm>
            <a:off x="73152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Most teams have 1 programmer.</a:t>
            </a:r>
            <a:endParaRPr lang="en-US" sz="2200" dirty="0"/>
          </a:p>
        </p:txBody>
      </p:sp>
      <p:sp>
        <p:nvSpPr>
          <p:cNvPr id="8" name="sub 0"/>
          <p:cNvSpPr txBox="1"/>
          <p:nvPr/>
        </p:nvSpPr>
        <p:spPr>
          <a:xfrm>
            <a:off x="73152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Sometimes 0.</a:t>
            </a:r>
            <a:endParaRPr lang="en-US" sz="1800" dirty="0"/>
          </a:p>
        </p:txBody>
      </p:sp>
      <p:sp>
        <p:nvSpPr>
          <p:cNvPr id="9" name="card 1"/>
          <p:cNvSpPr/>
          <p:nvPr/>
        </p:nvSpPr>
        <p:spPr>
          <a:xfrm>
            <a:off x="4297680" y="1554480"/>
            <a:ext cx="3566160" cy="4206240"/>
          </a:xfrm>
          <a:prstGeom prst="roundRect">
            <a:avLst>
              <a:gd name="adj" fmla="val 3077"/>
            </a:avLst>
          </a:prstGeom>
          <a:solidFill>
            <a:schemeClr val="bg2"/>
          </a:solidFill>
          <a:ln w="12700">
            <a:solidFill>
              <a:schemeClr val="bg2"/>
            </a:solidFill>
            <a:prstDash val="solid"/>
          </a:ln>
        </p:spPr>
      </p:sp>
      <p:sp>
        <p:nvSpPr>
          <p:cNvPr id="10" name="hex ⏳"/>
          <p:cNvSpPr/>
          <p:nvPr/>
        </p:nvSpPr>
        <p:spPr>
          <a:xfrm>
            <a:off x="4572000" y="1828800"/>
            <a:ext cx="914400" cy="914400"/>
          </a:xfrm>
          <a:prstGeom prst="hexagon">
            <a:avLst/>
          </a:prstGeom>
          <a:solidFill>
            <a:schemeClr val="bg1"/>
          </a:solidFill>
          <a:ln w="25400">
            <a:solidFill>
              <a:schemeClr val="accent1"/>
            </a:solidFill>
            <a:prstDash val="solid"/>
          </a:ln>
        </p:spPr>
      </p:sp>
      <p:sp>
        <p:nvSpPr>
          <p:cNvPr id="11" name="hex label ⏳"/>
          <p:cNvSpPr txBox="1"/>
          <p:nvPr/>
        </p:nvSpPr>
        <p:spPr>
          <a:xfrm>
            <a:off x="457200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head 1"/>
          <p:cNvSpPr txBox="1"/>
          <p:nvPr/>
        </p:nvSpPr>
        <p:spPr>
          <a:xfrm>
            <a:off x="457200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Every mechanical change waits</a:t>
            </a:r>
            <a:endParaRPr lang="en-US" sz="2200" dirty="0"/>
          </a:p>
        </p:txBody>
      </p:sp>
      <p:sp>
        <p:nvSpPr>
          <p:cNvPr id="13" name="sub 1"/>
          <p:cNvSpPr txBox="1"/>
          <p:nvPr/>
        </p:nvSpPr>
        <p:spPr>
          <a:xfrm>
            <a:off x="457200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on that one person.</a:t>
            </a:r>
            <a:endParaRPr lang="en-US" sz="1800" dirty="0"/>
          </a:p>
        </p:txBody>
      </p:sp>
      <p:sp>
        <p:nvSpPr>
          <p:cNvPr id="14" name="card 2"/>
          <p:cNvSpPr/>
          <p:nvPr/>
        </p:nvSpPr>
        <p:spPr>
          <a:xfrm>
            <a:off x="8138160" y="1554480"/>
            <a:ext cx="3566160" cy="4206240"/>
          </a:xfrm>
          <a:prstGeom prst="roundRect">
            <a:avLst>
              <a:gd name="adj" fmla="val 3077"/>
            </a:avLst>
          </a:prstGeom>
          <a:solidFill>
            <a:schemeClr val="bg2"/>
          </a:solidFill>
          <a:ln w="12700">
            <a:solidFill>
              <a:schemeClr val="bg2"/>
            </a:solidFill>
            <a:prstDash val="solid"/>
          </a:ln>
        </p:spPr>
      </p:sp>
      <p:sp>
        <p:nvSpPr>
          <p:cNvPr id="15" name="hex ?"/>
          <p:cNvSpPr/>
          <p:nvPr/>
        </p:nvSpPr>
        <p:spPr>
          <a:xfrm>
            <a:off x="8412480" y="1828800"/>
            <a:ext cx="914400" cy="914400"/>
          </a:xfrm>
          <a:prstGeom prst="hexagon">
            <a:avLst/>
          </a:prstGeom>
          <a:solidFill>
            <a:schemeClr val="bg1"/>
          </a:solidFill>
          <a:ln w="25400">
            <a:solidFill>
              <a:schemeClr val="accent1"/>
            </a:solidFill>
            <a:prstDash val="solid"/>
          </a:ln>
        </p:spPr>
      </p:sp>
      <p:sp>
        <p:nvSpPr>
          <p:cNvPr id="16" name="hex label ?"/>
          <p:cNvSpPr txBox="1"/>
          <p:nvPr/>
        </p:nvSpPr>
        <p:spPr>
          <a:xfrm>
            <a:off x="841248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7" name="head 2"/>
          <p:cNvSpPr txBox="1"/>
          <p:nvPr/>
        </p:nvSpPr>
        <p:spPr>
          <a:xfrm>
            <a:off x="841248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The mechanical people know what the robot should do.</a:t>
            </a:r>
            <a:endParaRPr lang="en-US" sz="2200" dirty="0"/>
          </a:p>
        </p:txBody>
      </p:sp>
      <p:sp>
        <p:nvSpPr>
          <p:cNvPr id="18" name="sub 2"/>
          <p:cNvSpPr txBox="1"/>
          <p:nvPr/>
        </p:nvSpPr>
        <p:spPr>
          <a:xfrm>
            <a:off x="841248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They just can't type it in Java.</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the mentors did — the week</a:t>
            </a:r>
            <a:endParaRPr lang="en-US" sz="3200" dirty="0"/>
          </a:p>
        </p:txBody>
      </p:sp>
      <p:sp>
        <p:nvSpPr>
          <p:cNvPr id="4" name="timeline"/>
          <p:cNvSpPr/>
          <p:nvPr/>
        </p:nvSpPr>
        <p:spPr>
          <a:xfrm>
            <a:off x="713232" y="1508760"/>
            <a:ext cx="0" cy="4242816"/>
          </a:xfrm>
          <a:prstGeom prst="line">
            <a:avLst/>
          </a:prstGeom>
          <a:noFill/>
          <a:ln w="19050">
            <a:solidFill>
              <a:schemeClr val="accent1"/>
            </a:solidFill>
            <a:prstDash val="solid"/>
          </a:ln>
        </p:spPr>
      </p:sp>
      <p:sp>
        <p:nvSpPr>
          <p:cNvPr id="5" name="dot 0"/>
          <p:cNvSpPr/>
          <p:nvPr/>
        </p:nvSpPr>
        <p:spPr>
          <a:xfrm>
            <a:off x="594360" y="1389888"/>
            <a:ext cx="237744" cy="237744"/>
          </a:xfrm>
          <a:prstGeom prst="hexagon">
            <a:avLst/>
          </a:prstGeom>
          <a:solidFill>
            <a:schemeClr val="accent1"/>
          </a:solidFill>
          <a:ln w="12700">
            <a:solidFill>
              <a:schemeClr val="accent1"/>
            </a:solidFill>
            <a:prstDash val="solid"/>
          </a:ln>
        </p:spPr>
      </p:sp>
      <p:sp>
        <p:nvSpPr>
          <p:cNvPr id="6" name="time 0"/>
          <p:cNvSpPr txBox="1"/>
          <p:nvPr/>
        </p:nvSpPr>
        <p:spPr>
          <a:xfrm>
            <a:off x="960120" y="1371600"/>
            <a:ext cx="1188720" cy="274320"/>
          </a:xfrm>
          <a:prstGeom prst="rect">
            <a:avLst/>
          </a:prstGeom>
          <a:noFill/>
          <a:ln/>
        </p:spPr>
        <p:txBody>
          <a:bodyPr wrap="square" lIns="0" tIns="0" rIns="0" bIns="0" rtlCol="0" anchor="t"/>
          <a:lstStyle/>
          <a:p>
            <a:pPr indent="0" marL="0">
              <a:buNone/>
            </a:pPr>
            <a:r>
              <a:rPr lang="en-US" sz="1100" b="1" dirty="0">
                <a:solidFill>
                  <a:schemeClr val="accent1"/>
                </a:solidFill>
              </a:rPr>
              <a:t>Wed 10:26 PM</a:t>
            </a:r>
            <a:endParaRPr lang="en-US" sz="1100" dirty="0"/>
          </a:p>
        </p:txBody>
      </p:sp>
      <p:sp>
        <p:nvSpPr>
          <p:cNvPr id="7" name="event 0"/>
          <p:cNvSpPr txBox="1"/>
          <p:nvPr/>
        </p:nvSpPr>
        <p:spPr>
          <a:xfrm>
            <a:off x="2148840" y="1371600"/>
            <a:ext cx="4343400" cy="530352"/>
          </a:xfrm>
          <a:prstGeom prst="rect">
            <a:avLst/>
          </a:prstGeom>
          <a:noFill/>
          <a:ln/>
        </p:spPr>
        <p:txBody>
          <a:bodyPr wrap="square" lIns="0" tIns="0" rIns="0" bIns="0" rtlCol="0" anchor="t"/>
          <a:lstStyle/>
          <a:p>
            <a:pPr indent="0" marL="0">
              <a:buNone/>
            </a:pPr>
            <a:r>
              <a:rPr lang="en-US" sz="1100" dirty="0">
                <a:solidFill>
                  <a:schemeClr val="tx2"/>
                </a:solidFill>
              </a:rPr>
              <a:t>Ben (coordinator) describes the whole robot → working TeleOp, subsystem classes</a:t>
            </a:r>
            <a:endParaRPr lang="en-US" sz="1100" dirty="0"/>
          </a:p>
        </p:txBody>
      </p:sp>
      <p:sp>
        <p:nvSpPr>
          <p:cNvPr id="8" name="dot 1"/>
          <p:cNvSpPr/>
          <p:nvPr/>
        </p:nvSpPr>
        <p:spPr>
          <a:xfrm>
            <a:off x="594360" y="1920240"/>
            <a:ext cx="237744" cy="237744"/>
          </a:xfrm>
          <a:prstGeom prst="hexagon">
            <a:avLst/>
          </a:prstGeom>
          <a:solidFill>
            <a:schemeClr val="accent1"/>
          </a:solidFill>
          <a:ln w="12700">
            <a:solidFill>
              <a:schemeClr val="accent1"/>
            </a:solidFill>
            <a:prstDash val="solid"/>
          </a:ln>
        </p:spPr>
      </p:sp>
      <p:sp>
        <p:nvSpPr>
          <p:cNvPr id="9" name="time 1"/>
          <p:cNvSpPr txBox="1"/>
          <p:nvPr/>
        </p:nvSpPr>
        <p:spPr>
          <a:xfrm>
            <a:off x="960120" y="1901952"/>
            <a:ext cx="1188720" cy="274320"/>
          </a:xfrm>
          <a:prstGeom prst="rect">
            <a:avLst/>
          </a:prstGeom>
          <a:noFill/>
          <a:ln/>
        </p:spPr>
        <p:txBody>
          <a:bodyPr wrap="square" lIns="0" tIns="0" rIns="0" bIns="0" rtlCol="0" anchor="t"/>
          <a:lstStyle/>
          <a:p>
            <a:pPr indent="0" marL="0">
              <a:buNone/>
            </a:pPr>
            <a:r>
              <a:rPr lang="en-US" sz="1100" b="1" dirty="0">
                <a:solidFill>
                  <a:schemeClr val="accent1"/>
                </a:solidFill>
              </a:rPr>
              <a:t>Thu 9:50 PM</a:t>
            </a:r>
            <a:endParaRPr lang="en-US" sz="1100" dirty="0"/>
          </a:p>
        </p:txBody>
      </p:sp>
      <p:sp>
        <p:nvSpPr>
          <p:cNvPr id="10" name="event 1"/>
          <p:cNvSpPr txBox="1"/>
          <p:nvPr/>
        </p:nvSpPr>
        <p:spPr>
          <a:xfrm>
            <a:off x="2148840" y="1901952"/>
            <a:ext cx="4343400" cy="530352"/>
          </a:xfrm>
          <a:prstGeom prst="rect">
            <a:avLst/>
          </a:prstGeom>
          <a:noFill/>
          <a:ln/>
        </p:spPr>
        <p:txBody>
          <a:bodyPr wrap="square" lIns="0" tIns="0" rIns="0" bIns="0" rtlCol="0" anchor="t"/>
          <a:lstStyle/>
          <a:p>
            <a:pPr indent="0" marL="0">
              <a:buNone/>
            </a:pPr>
            <a:r>
              <a:rPr lang="en-US" sz="1100" dirty="0">
                <a:solidFill>
                  <a:schemeClr val="tx2"/>
                </a:solidFill>
              </a:rPr>
              <a:t>First autonomous state machines: Shoot First / Shoot Delayed</a:t>
            </a:r>
            <a:endParaRPr lang="en-US" sz="1100" dirty="0"/>
          </a:p>
        </p:txBody>
      </p:sp>
      <p:sp>
        <p:nvSpPr>
          <p:cNvPr id="11" name="dot 2"/>
          <p:cNvSpPr/>
          <p:nvPr/>
        </p:nvSpPr>
        <p:spPr>
          <a:xfrm>
            <a:off x="594360" y="2450592"/>
            <a:ext cx="237744" cy="237744"/>
          </a:xfrm>
          <a:prstGeom prst="hexagon">
            <a:avLst/>
          </a:prstGeom>
          <a:solidFill>
            <a:schemeClr val="accent1"/>
          </a:solidFill>
          <a:ln w="12700">
            <a:solidFill>
              <a:schemeClr val="accent1"/>
            </a:solidFill>
            <a:prstDash val="solid"/>
          </a:ln>
        </p:spPr>
      </p:sp>
      <p:sp>
        <p:nvSpPr>
          <p:cNvPr id="12" name="time 2"/>
          <p:cNvSpPr txBox="1"/>
          <p:nvPr/>
        </p:nvSpPr>
        <p:spPr>
          <a:xfrm>
            <a:off x="960120" y="2432304"/>
            <a:ext cx="1188720" cy="274320"/>
          </a:xfrm>
          <a:prstGeom prst="rect">
            <a:avLst/>
          </a:prstGeom>
          <a:noFill/>
          <a:ln/>
        </p:spPr>
        <p:txBody>
          <a:bodyPr wrap="square" lIns="0" tIns="0" rIns="0" bIns="0" rtlCol="0" anchor="t"/>
          <a:lstStyle/>
          <a:p>
            <a:pPr indent="0" marL="0">
              <a:buNone/>
            </a:pPr>
            <a:r>
              <a:rPr lang="en-US" sz="1100" b="1" dirty="0">
                <a:solidFill>
                  <a:schemeClr val="accent1"/>
                </a:solidFill>
              </a:rPr>
              <a:t>Fri 8:29 AM</a:t>
            </a:r>
            <a:endParaRPr lang="en-US" sz="1100" dirty="0"/>
          </a:p>
        </p:txBody>
      </p:sp>
      <p:sp>
        <p:nvSpPr>
          <p:cNvPr id="13" name="event 2"/>
          <p:cNvSpPr txBox="1"/>
          <p:nvPr/>
        </p:nvSpPr>
        <p:spPr>
          <a:xfrm>
            <a:off x="2148840" y="2432304"/>
            <a:ext cx="4343400" cy="530352"/>
          </a:xfrm>
          <a:prstGeom prst="rect">
            <a:avLst/>
          </a:prstGeom>
          <a:noFill/>
          <a:ln/>
        </p:spPr>
        <p:txBody>
          <a:bodyPr wrap="square" lIns="0" tIns="0" rIns="0" bIns="0" rtlCol="0" anchor="t"/>
          <a:lstStyle/>
          <a:p>
            <a:pPr indent="0" marL="0">
              <a:buNone/>
            </a:pPr>
            <a:r>
              <a:rPr lang="en-US" sz="1100" dirty="0">
                <a:solidFill>
                  <a:schemeClr val="tx2"/>
                </a:solidFill>
              </a:rPr>
              <a:t>Asim (mechanical): “holding both joysticks left made the robot strafe right, and vice versa. please fix”</a:t>
            </a:r>
            <a:endParaRPr lang="en-US" sz="1100" dirty="0"/>
          </a:p>
        </p:txBody>
      </p:sp>
      <p:sp>
        <p:nvSpPr>
          <p:cNvPr id="14" name="dot 3"/>
          <p:cNvSpPr/>
          <p:nvPr/>
        </p:nvSpPr>
        <p:spPr>
          <a:xfrm>
            <a:off x="594360" y="2980944"/>
            <a:ext cx="237744" cy="237744"/>
          </a:xfrm>
          <a:prstGeom prst="hexagon">
            <a:avLst/>
          </a:prstGeom>
          <a:solidFill>
            <a:schemeClr val="accent1"/>
          </a:solidFill>
          <a:ln w="12700">
            <a:solidFill>
              <a:schemeClr val="accent1"/>
            </a:solidFill>
            <a:prstDash val="solid"/>
          </a:ln>
        </p:spPr>
      </p:sp>
      <p:sp>
        <p:nvSpPr>
          <p:cNvPr id="15" name="time 3"/>
          <p:cNvSpPr txBox="1"/>
          <p:nvPr/>
        </p:nvSpPr>
        <p:spPr>
          <a:xfrm>
            <a:off x="960120" y="2962656"/>
            <a:ext cx="1188720" cy="274320"/>
          </a:xfrm>
          <a:prstGeom prst="rect">
            <a:avLst/>
          </a:prstGeom>
          <a:noFill/>
          <a:ln/>
        </p:spPr>
        <p:txBody>
          <a:bodyPr wrap="square" lIns="0" tIns="0" rIns="0" bIns="0" rtlCol="0" anchor="t"/>
          <a:lstStyle/>
          <a:p>
            <a:pPr indent="0" marL="0">
              <a:buNone/>
            </a:pPr>
            <a:r>
              <a:rPr lang="en-US" sz="1100" b="1" dirty="0">
                <a:solidFill>
                  <a:schemeClr val="accent1"/>
                </a:solidFill>
              </a:rPr>
              <a:t>Fri 8:36 AM</a:t>
            </a:r>
            <a:endParaRPr lang="en-US" sz="1100" dirty="0"/>
          </a:p>
        </p:txBody>
      </p:sp>
      <p:sp>
        <p:nvSpPr>
          <p:cNvPr id="16" name="event 3"/>
          <p:cNvSpPr txBox="1"/>
          <p:nvPr/>
        </p:nvSpPr>
        <p:spPr>
          <a:xfrm>
            <a:off x="2148840" y="2962656"/>
            <a:ext cx="4343400" cy="530352"/>
          </a:xfrm>
          <a:prstGeom prst="rect">
            <a:avLst/>
          </a:prstGeom>
          <a:noFill/>
          <a:ln/>
        </p:spPr>
        <p:txBody>
          <a:bodyPr wrap="square" lIns="0" tIns="0" rIns="0" bIns="0" rtlCol="0" anchor="t"/>
          <a:lstStyle/>
          <a:p>
            <a:pPr indent="0" marL="0">
              <a:buNone/>
            </a:pPr>
            <a:r>
              <a:rPr lang="en-US" sz="1100" i="1" dirty="0">
                <a:solidFill>
                  <a:schemeClr val="tx1"/>
                </a:solidFill>
              </a:rPr>
              <a:t>“it is spitting balls out, so i would like to shorten it” — reverse bump 200 → 100 ms</a:t>
            </a:r>
            <a:endParaRPr lang="en-US" sz="1100" dirty="0"/>
          </a:p>
        </p:txBody>
      </p:sp>
      <p:sp>
        <p:nvSpPr>
          <p:cNvPr id="17" name="dot 4"/>
          <p:cNvSpPr/>
          <p:nvPr/>
        </p:nvSpPr>
        <p:spPr>
          <a:xfrm>
            <a:off x="594360" y="3511296"/>
            <a:ext cx="237744" cy="237744"/>
          </a:xfrm>
          <a:prstGeom prst="hexagon">
            <a:avLst/>
          </a:prstGeom>
          <a:solidFill>
            <a:schemeClr val="accent1"/>
          </a:solidFill>
          <a:ln w="12700">
            <a:solidFill>
              <a:schemeClr val="accent1"/>
            </a:solidFill>
            <a:prstDash val="solid"/>
          </a:ln>
        </p:spPr>
      </p:sp>
      <p:sp>
        <p:nvSpPr>
          <p:cNvPr id="18" name="time 4"/>
          <p:cNvSpPr txBox="1"/>
          <p:nvPr/>
        </p:nvSpPr>
        <p:spPr>
          <a:xfrm>
            <a:off x="960120" y="3493008"/>
            <a:ext cx="1188720" cy="274320"/>
          </a:xfrm>
          <a:prstGeom prst="rect">
            <a:avLst/>
          </a:prstGeom>
          <a:noFill/>
          <a:ln/>
        </p:spPr>
        <p:txBody>
          <a:bodyPr wrap="square" lIns="0" tIns="0" rIns="0" bIns="0" rtlCol="0" anchor="t"/>
          <a:lstStyle/>
          <a:p>
            <a:pPr indent="0" marL="0">
              <a:buNone/>
            </a:pPr>
            <a:r>
              <a:rPr lang="en-US" sz="1100" b="1" dirty="0">
                <a:solidFill>
                  <a:schemeClr val="accent1"/>
                </a:solidFill>
              </a:rPr>
              <a:t>Fri 8:40 AM</a:t>
            </a:r>
            <a:endParaRPr lang="en-US" sz="1100" dirty="0"/>
          </a:p>
        </p:txBody>
      </p:sp>
      <p:sp>
        <p:nvSpPr>
          <p:cNvPr id="19" name="event 4"/>
          <p:cNvSpPr txBox="1"/>
          <p:nvPr/>
        </p:nvSpPr>
        <p:spPr>
          <a:xfrm>
            <a:off x="2148840" y="3493008"/>
            <a:ext cx="4343400" cy="530352"/>
          </a:xfrm>
          <a:prstGeom prst="rect">
            <a:avLst/>
          </a:prstGeom>
          <a:noFill/>
          <a:ln/>
        </p:spPr>
        <p:txBody>
          <a:bodyPr wrap="square" lIns="0" tIns="0" rIns="0" bIns="0" rtlCol="0" anchor="t"/>
          <a:lstStyle/>
          <a:p>
            <a:pPr indent="0" marL="0">
              <a:buNone/>
            </a:pPr>
            <a:r>
              <a:rPr lang="en-US" sz="1100" i="1" dirty="0">
                <a:solidFill>
                  <a:schemeClr val="tx1"/>
                </a:solidFill>
              </a:rPr>
              <a:t>“we get points for not touching the wall. Can we add a backup after the turn and drive forward?”</a:t>
            </a:r>
            <a:endParaRPr lang="en-US" sz="1100" dirty="0"/>
          </a:p>
        </p:txBody>
      </p:sp>
      <p:sp>
        <p:nvSpPr>
          <p:cNvPr id="20" name="dot 5"/>
          <p:cNvSpPr/>
          <p:nvPr/>
        </p:nvSpPr>
        <p:spPr>
          <a:xfrm>
            <a:off x="594360" y="4041648"/>
            <a:ext cx="237744" cy="237744"/>
          </a:xfrm>
          <a:prstGeom prst="hexagon">
            <a:avLst/>
          </a:prstGeom>
          <a:solidFill>
            <a:schemeClr val="accent1"/>
          </a:solidFill>
          <a:ln w="12700">
            <a:solidFill>
              <a:schemeClr val="accent1"/>
            </a:solidFill>
            <a:prstDash val="solid"/>
          </a:ln>
        </p:spPr>
      </p:sp>
      <p:sp>
        <p:nvSpPr>
          <p:cNvPr id="21" name="time 5"/>
          <p:cNvSpPr txBox="1"/>
          <p:nvPr/>
        </p:nvSpPr>
        <p:spPr>
          <a:xfrm>
            <a:off x="960120" y="4023360"/>
            <a:ext cx="1188720" cy="274320"/>
          </a:xfrm>
          <a:prstGeom prst="rect">
            <a:avLst/>
          </a:prstGeom>
          <a:noFill/>
          <a:ln/>
        </p:spPr>
        <p:txBody>
          <a:bodyPr wrap="square" lIns="0" tIns="0" rIns="0" bIns="0" rtlCol="0" anchor="t"/>
          <a:lstStyle/>
          <a:p>
            <a:pPr indent="0" marL="0">
              <a:buNone/>
            </a:pPr>
            <a:r>
              <a:rPr lang="en-US" sz="1100" b="1" dirty="0">
                <a:solidFill>
                  <a:schemeClr val="accent1"/>
                </a:solidFill>
              </a:rPr>
              <a:t>Fri 11:35 AM</a:t>
            </a:r>
            <a:endParaRPr lang="en-US" sz="1100" dirty="0"/>
          </a:p>
        </p:txBody>
      </p:sp>
      <p:sp>
        <p:nvSpPr>
          <p:cNvPr id="22" name="event 5"/>
          <p:cNvSpPr txBox="1"/>
          <p:nvPr/>
        </p:nvSpPr>
        <p:spPr>
          <a:xfrm>
            <a:off x="2148840" y="4023360"/>
            <a:ext cx="4343400" cy="530352"/>
          </a:xfrm>
          <a:prstGeom prst="rect">
            <a:avLst/>
          </a:prstGeom>
          <a:noFill/>
          <a:ln/>
        </p:spPr>
        <p:txBody>
          <a:bodyPr wrap="square" lIns="0" tIns="0" rIns="0" bIns="0" rtlCol="0" anchor="t"/>
          <a:lstStyle/>
          <a:p>
            <a:pPr indent="0" marL="0">
              <a:buNone/>
            </a:pPr>
            <a:r>
              <a:rPr lang="en-US" sz="1100" i="1" dirty="0">
                <a:solidFill>
                  <a:schemeClr val="tx1"/>
                </a:solidFill>
              </a:rPr>
              <a:t>“I thought gamepad 1 dpad was slow mode, not tuning the flywheel.”</a:t>
            </a:r>
            <a:endParaRPr lang="en-US" sz="1100" dirty="0"/>
          </a:p>
        </p:txBody>
      </p:sp>
      <p:sp>
        <p:nvSpPr>
          <p:cNvPr id="23" name="dot 6"/>
          <p:cNvSpPr/>
          <p:nvPr/>
        </p:nvSpPr>
        <p:spPr>
          <a:xfrm>
            <a:off x="594360" y="4572000"/>
            <a:ext cx="237744" cy="237744"/>
          </a:xfrm>
          <a:prstGeom prst="hexagon">
            <a:avLst/>
          </a:prstGeom>
          <a:solidFill>
            <a:schemeClr val="accent1"/>
          </a:solidFill>
          <a:ln w="12700">
            <a:solidFill>
              <a:schemeClr val="accent1"/>
            </a:solidFill>
            <a:prstDash val="solid"/>
          </a:ln>
        </p:spPr>
      </p:sp>
      <p:sp>
        <p:nvSpPr>
          <p:cNvPr id="24" name="time 6"/>
          <p:cNvSpPr txBox="1"/>
          <p:nvPr/>
        </p:nvSpPr>
        <p:spPr>
          <a:xfrm>
            <a:off x="960120" y="4553712"/>
            <a:ext cx="1188720" cy="274320"/>
          </a:xfrm>
          <a:prstGeom prst="rect">
            <a:avLst/>
          </a:prstGeom>
          <a:noFill/>
          <a:ln/>
        </p:spPr>
        <p:txBody>
          <a:bodyPr wrap="square" lIns="0" tIns="0" rIns="0" bIns="0" rtlCol="0" anchor="t"/>
          <a:lstStyle/>
          <a:p>
            <a:pPr indent="0" marL="0">
              <a:buNone/>
            </a:pPr>
            <a:r>
              <a:rPr lang="en-US" sz="1100" b="1" dirty="0">
                <a:solidFill>
                  <a:schemeClr val="accent1"/>
                </a:solidFill>
              </a:rPr>
              <a:t>Fri 11:37 AM</a:t>
            </a:r>
            <a:endParaRPr lang="en-US" sz="1100" dirty="0"/>
          </a:p>
        </p:txBody>
      </p:sp>
      <p:sp>
        <p:nvSpPr>
          <p:cNvPr id="25" name="event 6"/>
          <p:cNvSpPr txBox="1"/>
          <p:nvPr/>
        </p:nvSpPr>
        <p:spPr>
          <a:xfrm>
            <a:off x="2148840" y="4553712"/>
            <a:ext cx="4343400" cy="530352"/>
          </a:xfrm>
          <a:prstGeom prst="rect">
            <a:avLst/>
          </a:prstGeom>
          <a:noFill/>
          <a:ln/>
        </p:spPr>
        <p:txBody>
          <a:bodyPr wrap="square" lIns="0" tIns="0" rIns="0" bIns="0" rtlCol="0" anchor="t"/>
          <a:lstStyle/>
          <a:p>
            <a:pPr indent="0" marL="0">
              <a:buNone/>
            </a:pPr>
            <a:r>
              <a:rPr lang="en-US" sz="1100" i="1" dirty="0">
                <a:solidFill>
                  <a:schemeClr val="tx1"/>
                </a:solidFill>
              </a:rPr>
              <a:t>“I don't want the intake to resume. I want the intake to stop (whether it was stopped or running).”</a:t>
            </a:r>
            <a:endParaRPr lang="en-US" sz="1100" dirty="0"/>
          </a:p>
        </p:txBody>
      </p:sp>
      <p:sp>
        <p:nvSpPr>
          <p:cNvPr id="26" name="dot 7"/>
          <p:cNvSpPr/>
          <p:nvPr/>
        </p:nvSpPr>
        <p:spPr>
          <a:xfrm>
            <a:off x="594360" y="5102352"/>
            <a:ext cx="237744" cy="237744"/>
          </a:xfrm>
          <a:prstGeom prst="hexagon">
            <a:avLst/>
          </a:prstGeom>
          <a:solidFill>
            <a:schemeClr val="accent1"/>
          </a:solidFill>
          <a:ln w="12700">
            <a:solidFill>
              <a:schemeClr val="accent1"/>
            </a:solidFill>
            <a:prstDash val="solid"/>
          </a:ln>
        </p:spPr>
      </p:sp>
      <p:sp>
        <p:nvSpPr>
          <p:cNvPr id="27" name="time 7"/>
          <p:cNvSpPr txBox="1"/>
          <p:nvPr/>
        </p:nvSpPr>
        <p:spPr>
          <a:xfrm>
            <a:off x="960120" y="5084064"/>
            <a:ext cx="1188720" cy="274320"/>
          </a:xfrm>
          <a:prstGeom prst="rect">
            <a:avLst/>
          </a:prstGeom>
          <a:noFill/>
          <a:ln/>
        </p:spPr>
        <p:txBody>
          <a:bodyPr wrap="square" lIns="0" tIns="0" rIns="0" bIns="0" rtlCol="0" anchor="t"/>
          <a:lstStyle/>
          <a:p>
            <a:pPr indent="0" marL="0">
              <a:buNone/>
            </a:pPr>
            <a:r>
              <a:rPr lang="en-US" sz="1100" b="1" dirty="0">
                <a:solidFill>
                  <a:schemeClr val="accent1"/>
                </a:solidFill>
              </a:rPr>
              <a:t>Fri 2:57 PM</a:t>
            </a:r>
            <a:endParaRPr lang="en-US" sz="1100" dirty="0"/>
          </a:p>
        </p:txBody>
      </p:sp>
      <p:sp>
        <p:nvSpPr>
          <p:cNvPr id="28" name="event 7"/>
          <p:cNvSpPr txBox="1"/>
          <p:nvPr/>
        </p:nvSpPr>
        <p:spPr>
          <a:xfrm>
            <a:off x="2148840" y="5084064"/>
            <a:ext cx="4343400" cy="530352"/>
          </a:xfrm>
          <a:prstGeom prst="rect">
            <a:avLst/>
          </a:prstGeom>
          <a:noFill/>
          <a:ln/>
        </p:spPr>
        <p:txBody>
          <a:bodyPr wrap="square" lIns="0" tIns="0" rIns="0" bIns="0" rtlCol="0" anchor="t"/>
          <a:lstStyle/>
          <a:p>
            <a:pPr indent="0" marL="0">
              <a:buNone/>
            </a:pPr>
            <a:r>
              <a:rPr lang="en-US" sz="1100" i="1" dirty="0">
                <a:solidFill>
                  <a:schemeClr val="tx1"/>
                </a:solidFill>
              </a:rPr>
              <a:t>“Let's set the default speed to 0.95” — tuned value baked in</a:t>
            </a:r>
            <a:endParaRPr lang="en-US" sz="1100" dirty="0"/>
          </a:p>
        </p:txBody>
      </p:sp>
      <p:sp>
        <p:nvSpPr>
          <p:cNvPr id="29" name="dot 8"/>
          <p:cNvSpPr/>
          <p:nvPr/>
        </p:nvSpPr>
        <p:spPr>
          <a:xfrm>
            <a:off x="594360" y="5632704"/>
            <a:ext cx="237744" cy="237744"/>
          </a:xfrm>
          <a:prstGeom prst="hexagon">
            <a:avLst/>
          </a:prstGeom>
          <a:solidFill>
            <a:schemeClr val="accent1"/>
          </a:solidFill>
          <a:ln w="12700">
            <a:solidFill>
              <a:schemeClr val="accent1"/>
            </a:solidFill>
            <a:prstDash val="solid"/>
          </a:ln>
        </p:spPr>
      </p:sp>
      <p:sp>
        <p:nvSpPr>
          <p:cNvPr id="30" name="time 8"/>
          <p:cNvSpPr txBox="1"/>
          <p:nvPr/>
        </p:nvSpPr>
        <p:spPr>
          <a:xfrm>
            <a:off x="960120" y="5614416"/>
            <a:ext cx="1188720" cy="274320"/>
          </a:xfrm>
          <a:prstGeom prst="rect">
            <a:avLst/>
          </a:prstGeom>
          <a:noFill/>
          <a:ln/>
        </p:spPr>
        <p:txBody>
          <a:bodyPr wrap="square" lIns="0" tIns="0" rIns="0" bIns="0" rtlCol="0" anchor="t"/>
          <a:lstStyle/>
          <a:p>
            <a:pPr indent="0" marL="0">
              <a:buNone/>
            </a:pPr>
            <a:r>
              <a:rPr lang="en-US" sz="1100" b="1" dirty="0">
                <a:solidFill>
                  <a:schemeClr val="accent1"/>
                </a:solidFill>
              </a:rPr>
              <a:t>Sat</a:t>
            </a:r>
            <a:endParaRPr lang="en-US" sz="1100" dirty="0"/>
          </a:p>
        </p:txBody>
      </p:sp>
      <p:sp>
        <p:nvSpPr>
          <p:cNvPr id="31" name="event 8"/>
          <p:cNvSpPr txBox="1"/>
          <p:nvPr/>
        </p:nvSpPr>
        <p:spPr>
          <a:xfrm>
            <a:off x="2148840" y="5614416"/>
            <a:ext cx="4343400" cy="530352"/>
          </a:xfrm>
          <a:prstGeom prst="rect">
            <a:avLst/>
          </a:prstGeom>
          <a:noFill/>
          <a:ln/>
        </p:spPr>
        <p:txBody>
          <a:bodyPr wrap="square" lIns="0" tIns="0" rIns="0" bIns="0" rtlCol="0" anchor="t"/>
          <a:lstStyle/>
          <a:p>
            <a:pPr indent="0" marL="0">
              <a:buNone/>
            </a:pPr>
            <a:r>
              <a:rPr lang="en-US" sz="1100" dirty="0">
                <a:solidFill>
                  <a:schemeClr val="tx2"/>
                </a:solidFill>
              </a:rPr>
              <a:t>Scrimmage. Autonomous scored; TeleOp drove.</a:t>
            </a:r>
            <a:endParaRPr lang="en-US" sz="1100" dirty="0"/>
          </a:p>
        </p:txBody>
      </p:sp>
      <p:pic>
        <p:nvPicPr>
          <p:cNvPr id="32" name="spitting balls screenshot" descr="/home/claude/teaching-ai-coding/docs/images/android-studio-spitting-balls-prompt.png">    </p:cNvPr>
          <p:cNvPicPr>
            <a:picLocks noChangeAspect="1"/>
          </p:cNvPicPr>
          <p:nvPr/>
        </p:nvPicPr>
        <p:blipFill>
          <a:blip r:embed="rId1"/>
          <a:stretch>
            <a:fillRect/>
          </a:stretch>
        </p:blipFill>
        <p:spPr>
          <a:xfrm>
            <a:off x="6766560" y="1371600"/>
            <a:ext cx="4965192" cy="2944368"/>
          </a:xfrm>
          <a:prstGeom prst="rect">
            <a:avLst/>
          </a:prstGeom>
        </p:spPr>
      </p:pic>
      <p:sp>
        <p:nvSpPr>
          <p:cNvPr id="33" name="screenshot caption"/>
          <p:cNvSpPr txBox="1"/>
          <p:nvPr/>
        </p:nvSpPr>
        <p:spPr>
          <a:xfrm>
            <a:off x="6766560" y="4389120"/>
            <a:ext cx="4965192" cy="731520"/>
          </a:xfrm>
          <a:prstGeom prst="rect">
            <a:avLst/>
          </a:prstGeom>
          <a:noFill/>
          <a:ln/>
        </p:spPr>
        <p:txBody>
          <a:bodyPr wrap="square" lIns="0" tIns="0" rIns="0" bIns="0" rtlCol="0" anchor="t"/>
          <a:lstStyle/>
          <a:p>
            <a:pPr indent="0" marL="0">
              <a:buNone/>
            </a:pPr>
            <a:r>
              <a:rPr lang="en-US" sz="1100" dirty="0">
                <a:solidFill>
                  <a:schemeClr val="tx2"/>
                </a:solidFill>
              </a:rPr>
              <a:t>Fri 8:36 AM, as typed — and Gemini's reply: it reports the numbers (200 ms at −0.5, 300 ms pause) and offers two options before changing anything.</a:t>
            </a:r>
            <a:endParaRPr lang="en-US" sz="1100" dirty="0"/>
          </a:p>
        </p:txBody>
      </p:sp>
      <p:sp>
        <p:nvSpPr>
          <p:cNvPr id="34" name="stat"/>
          <p:cNvSpPr txBox="1"/>
          <p:nvPr/>
        </p:nvSpPr>
        <p:spPr>
          <a:xfrm>
            <a:off x="6766560" y="5212080"/>
            <a:ext cx="4965192" cy="731520"/>
          </a:xfrm>
          <a:prstGeom prst="rect">
            <a:avLst/>
          </a:prstGeom>
          <a:noFill/>
          <a:ln/>
        </p:spPr>
        <p:txBody>
          <a:bodyPr wrap="square" lIns="0" tIns="0" rIns="0" bIns="0" rtlCol="0" anchor="t"/>
          <a:lstStyle/>
          <a:p>
            <a:pPr indent="0" marL="0">
              <a:buNone/>
            </a:pPr>
            <a:r>
              <a:rPr lang="en-US" sz="2000" b="1" dirty="0">
                <a:solidFill>
                  <a:schemeClr val="accent1"/>
                </a:solidFill>
              </a:rPr>
              <a:t>74 prompts over three days. 0 lines of Java typed.</a:t>
            </a:r>
            <a:endParaRPr lang="en-US" sz="2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ex decoration"/>
          <p:cNvSpPr/>
          <p:nvPr/>
        </p:nvSpPr>
        <p:spPr>
          <a:xfrm>
            <a:off x="-2743200" y="1097280"/>
            <a:ext cx="4572000" cy="4754880"/>
          </a:xfrm>
          <a:prstGeom prst="hexagon">
            <a:avLst/>
          </a:prstGeom>
          <a:solidFill>
            <a:srgbClr val="000000">
              <a:alpha val="0"/>
            </a:srgbClr>
          </a:solidFill>
          <a:ln w="25400">
            <a:solidFill>
              <a:schemeClr val="accent1"/>
            </a:solidFill>
            <a:prstDash val="solid"/>
          </a:ln>
        </p:spPr>
      </p:sp>
      <p:sp>
        <p:nvSpPr>
          <p:cNvPr id="3" name="quote"/>
          <p:cNvSpPr txBox="1"/>
          <p:nvPr/>
        </p:nvSpPr>
        <p:spPr>
          <a:xfrm>
            <a:off x="2377440" y="1280160"/>
            <a:ext cx="9052560" cy="3657600"/>
          </a:xfrm>
          <a:prstGeom prst="rect">
            <a:avLst/>
          </a:prstGeom>
          <a:noFill/>
          <a:ln/>
        </p:spPr>
        <p:txBody>
          <a:bodyPr wrap="square" lIns="0" tIns="0" rIns="0" bIns="0" rtlCol="0" anchor="ctr"/>
          <a:lstStyle/>
          <a:p>
            <a:pPr indent="0" marL="0">
              <a:buNone/>
            </a:pPr>
            <a:r>
              <a:rPr lang="en-US" sz="2800" dirty="0">
                <a:solidFill>
                  <a:schemeClr val="tx1"/>
                </a:solidFill>
              </a:rPr>
              <a:t>“I've written Java for twenty-five years. I didn't type a line of it. After the first build, the changes came from the mechanical mentors — sometimes typed by them, sometimes called out from over the robot while I typed. They don't write Java.”</a:t>
            </a:r>
            <a:endParaRPr lang="en-US" sz="2800" dirty="0"/>
          </a:p>
        </p:txBody>
      </p:sp>
      <p:sp>
        <p:nvSpPr>
          <p:cNvPr id="4" name="attribution"/>
          <p:cNvSpPr txBox="1"/>
          <p:nvPr/>
        </p:nvSpPr>
        <p:spPr>
          <a:xfrm>
            <a:off x="2377440" y="5029200"/>
            <a:ext cx="9144000" cy="457200"/>
          </a:xfrm>
          <a:prstGeom prst="rect">
            <a:avLst/>
          </a:prstGeom>
          <a:noFill/>
          <a:ln/>
        </p:spPr>
        <p:txBody>
          <a:bodyPr wrap="square" lIns="0" tIns="0" rIns="0" bIns="0" rtlCol="0" anchor="ctr"/>
          <a:lstStyle/>
          <a:p>
            <a:pPr indent="0" marL="0">
              <a:buNone/>
            </a:pPr>
            <a:r>
              <a:rPr lang="en-US" sz="1800" dirty="0">
                <a:solidFill>
                  <a:schemeClr val="accent1"/>
                </a:solidFill>
              </a:rPr>
              <a:t>— Ben, our coordinator</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Hand-coding vs. architecting with AI</a:t>
            </a:r>
            <a:endParaRPr lang="en-US" sz="3200" dirty="0"/>
          </a:p>
        </p:txBody>
      </p:sp>
      <p:sp>
        <p:nvSpPr>
          <p:cNvPr id="4" name="col1 head"/>
          <p:cNvSpPr txBox="1"/>
          <p:nvPr/>
        </p:nvSpPr>
        <p:spPr>
          <a:xfrm>
            <a:off x="457200" y="1280160"/>
            <a:ext cx="5394960" cy="457200"/>
          </a:xfrm>
          <a:prstGeom prst="rect">
            <a:avLst/>
          </a:prstGeom>
          <a:noFill/>
          <a:ln/>
        </p:spPr>
        <p:txBody>
          <a:bodyPr wrap="square" lIns="0" tIns="0" rIns="0" bIns="0" rtlCol="0" anchor="t"/>
          <a:lstStyle/>
          <a:p>
            <a:pPr indent="0" marL="0">
              <a:buNone/>
            </a:pPr>
            <a:r>
              <a:rPr lang="en-US" sz="2000" b="1" dirty="0">
                <a:solidFill>
                  <a:schemeClr val="tx1"/>
                </a:solidFill>
              </a:rPr>
              <a:t>Our robot — hand-coded by us</a:t>
            </a:r>
            <a:endParaRPr lang="en-US" sz="2000" dirty="0"/>
          </a:p>
        </p:txBody>
      </p:sp>
      <p:sp>
        <p:nvSpPr>
          <p:cNvPr id="5" name="col2 head"/>
          <p:cNvSpPr txBox="1"/>
          <p:nvPr/>
        </p:nvSpPr>
        <p:spPr>
          <a:xfrm>
            <a:off x="6309360" y="1280160"/>
            <a:ext cx="5394960" cy="457200"/>
          </a:xfrm>
          <a:prstGeom prst="rect">
            <a:avLst/>
          </a:prstGeom>
          <a:noFill/>
          <a:ln/>
        </p:spPr>
        <p:txBody>
          <a:bodyPr wrap="square" lIns="0" tIns="0" rIns="0" bIns="0" rtlCol="0" anchor="t"/>
          <a:lstStyle/>
          <a:p>
            <a:pPr indent="0" marL="0">
              <a:buNone/>
            </a:pPr>
            <a:r>
              <a:rPr lang="en-US" sz="2000" b="1" dirty="0">
                <a:solidFill>
                  <a:schemeClr val="accent1"/>
                </a:solidFill>
              </a:rPr>
              <a:t>Mentor robot — described to Gemini</a:t>
            </a:r>
            <a:endParaRPr lang="en-US" sz="2000" dirty="0"/>
          </a:p>
        </p:txBody>
      </p:sp>
      <p:sp>
        <p:nvSpPr>
          <p:cNvPr id="6" name="l0"/>
          <p:cNvSpPr/>
          <p:nvPr/>
        </p:nvSpPr>
        <p:spPr>
          <a:xfrm>
            <a:off x="457200" y="1828800"/>
            <a:ext cx="5394960" cy="658368"/>
          </a:xfrm>
          <a:prstGeom prst="roundRect">
            <a:avLst>
              <a:gd name="adj" fmla="val 16667"/>
            </a:avLst>
          </a:prstGeom>
          <a:solidFill>
            <a:schemeClr val="bg2"/>
          </a:solidFill>
          <a:ln w="12700">
            <a:solidFill>
              <a:schemeClr val="bg2"/>
            </a:solidFill>
            <a:prstDash val="solid"/>
          </a:ln>
        </p:spPr>
      </p:sp>
      <p:sp>
        <p:nvSpPr>
          <p:cNvPr id="7" name="r0"/>
          <p:cNvSpPr/>
          <p:nvPr/>
        </p:nvSpPr>
        <p:spPr>
          <a:xfrm>
            <a:off x="6309360" y="1828800"/>
            <a:ext cx="5394960" cy="658368"/>
          </a:xfrm>
          <a:prstGeom prst="roundRect">
            <a:avLst>
              <a:gd name="adj" fmla="val 16667"/>
            </a:avLst>
          </a:prstGeom>
          <a:solidFill>
            <a:schemeClr val="bg2"/>
          </a:solidFill>
          <a:ln w="12700">
            <a:solidFill>
              <a:schemeClr val="bg2"/>
            </a:solidFill>
            <a:prstDash val="solid"/>
          </a:ln>
        </p:spPr>
      </p:sp>
      <p:sp>
        <p:nvSpPr>
          <p:cNvPr id="8" name="lt0"/>
          <p:cNvSpPr txBox="1"/>
          <p:nvPr/>
        </p:nvSpPr>
        <p:spPr>
          <a:xfrm>
            <a:off x="640080" y="1828800"/>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how many of us could write the code?]</a:t>
            </a:r>
            <a:endParaRPr lang="en-US" sz="1300" dirty="0"/>
          </a:p>
        </p:txBody>
      </p:sp>
      <p:sp>
        <p:nvSpPr>
          <p:cNvPr id="9" name="rt0"/>
          <p:cNvSpPr txBox="1"/>
          <p:nvPr/>
        </p:nvSpPr>
        <p:spPr>
          <a:xfrm>
            <a:off x="6492240" y="1828800"/>
            <a:ext cx="5029200" cy="658368"/>
          </a:xfrm>
          <a:prstGeom prst="rect">
            <a:avLst/>
          </a:prstGeom>
          <a:noFill/>
          <a:ln/>
        </p:spPr>
        <p:txBody>
          <a:bodyPr wrap="square" lIns="0" tIns="0" rIns="0" bIns="0" rtlCol="0" anchor="ctr"/>
          <a:lstStyle/>
          <a:p>
            <a:pPr indent="0" marL="0">
              <a:buNone/>
            </a:pPr>
            <a:r>
              <a:rPr lang="en-US" sz="1300" dirty="0">
                <a:solidFill>
                  <a:schemeClr val="tx1"/>
                </a:solidFill>
              </a:rPr>
              <a:t>2 people wrote prompts — one writes Java, one doesn't</a:t>
            </a:r>
            <a:endParaRPr lang="en-US" sz="1300" dirty="0"/>
          </a:p>
        </p:txBody>
      </p:sp>
      <p:sp>
        <p:nvSpPr>
          <p:cNvPr id="10" name="l1"/>
          <p:cNvSpPr/>
          <p:nvPr/>
        </p:nvSpPr>
        <p:spPr>
          <a:xfrm>
            <a:off x="457200" y="2578608"/>
            <a:ext cx="5394960" cy="658368"/>
          </a:xfrm>
          <a:prstGeom prst="roundRect">
            <a:avLst>
              <a:gd name="adj" fmla="val 16667"/>
            </a:avLst>
          </a:prstGeom>
          <a:solidFill>
            <a:schemeClr val="bg2"/>
          </a:solidFill>
          <a:ln w="12700">
            <a:solidFill>
              <a:schemeClr val="bg2"/>
            </a:solidFill>
            <a:prstDash val="solid"/>
          </a:ln>
        </p:spPr>
      </p:sp>
      <p:sp>
        <p:nvSpPr>
          <p:cNvPr id="11" name="r1"/>
          <p:cNvSpPr/>
          <p:nvPr/>
        </p:nvSpPr>
        <p:spPr>
          <a:xfrm>
            <a:off x="6309360" y="2578608"/>
            <a:ext cx="5394960" cy="658368"/>
          </a:xfrm>
          <a:prstGeom prst="roundRect">
            <a:avLst>
              <a:gd name="adj" fmla="val 16667"/>
            </a:avLst>
          </a:prstGeom>
          <a:solidFill>
            <a:schemeClr val="bg2"/>
          </a:solidFill>
          <a:ln w="12700">
            <a:solidFill>
              <a:schemeClr val="bg2"/>
            </a:solidFill>
            <a:prstDash val="solid"/>
          </a:ln>
        </p:spPr>
      </p:sp>
      <p:sp>
        <p:nvSpPr>
          <p:cNvPr id="12" name="lt1"/>
          <p:cNvSpPr txBox="1"/>
          <p:nvPr/>
        </p:nvSpPr>
        <p:spPr>
          <a:xfrm>
            <a:off x="640080" y="2578608"/>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hours spent coding during the week]</a:t>
            </a:r>
            <a:endParaRPr lang="en-US" sz="1300" dirty="0"/>
          </a:p>
        </p:txBody>
      </p:sp>
      <p:sp>
        <p:nvSpPr>
          <p:cNvPr id="13" name="rt1"/>
          <p:cNvSpPr txBox="1"/>
          <p:nvPr/>
        </p:nvSpPr>
        <p:spPr>
          <a:xfrm>
            <a:off x="6492240" y="2578608"/>
            <a:ext cx="5029200" cy="658368"/>
          </a:xfrm>
          <a:prstGeom prst="rect">
            <a:avLst/>
          </a:prstGeom>
          <a:noFill/>
          <a:ln/>
        </p:spPr>
        <p:txBody>
          <a:bodyPr wrap="square" lIns="0" tIns="0" rIns="0" bIns="0" rtlCol="0" anchor="ctr"/>
          <a:lstStyle/>
          <a:p>
            <a:pPr indent="0" marL="0">
              <a:buNone/>
            </a:pPr>
            <a:r>
              <a:rPr lang="en-US" sz="1300" dirty="0">
                <a:solidFill>
                  <a:schemeClr val="tx1"/>
                </a:solidFill>
              </a:rPr>
              <a:t>74 prompts over three days; working TeleOp on night one</a:t>
            </a:r>
            <a:endParaRPr lang="en-US" sz="1300" dirty="0"/>
          </a:p>
        </p:txBody>
      </p:sp>
      <p:sp>
        <p:nvSpPr>
          <p:cNvPr id="14" name="l2"/>
          <p:cNvSpPr/>
          <p:nvPr/>
        </p:nvSpPr>
        <p:spPr>
          <a:xfrm>
            <a:off x="457200" y="3328416"/>
            <a:ext cx="5394960" cy="658368"/>
          </a:xfrm>
          <a:prstGeom prst="roundRect">
            <a:avLst>
              <a:gd name="adj" fmla="val 16667"/>
            </a:avLst>
          </a:prstGeom>
          <a:solidFill>
            <a:schemeClr val="bg2"/>
          </a:solidFill>
          <a:ln w="12700">
            <a:solidFill>
              <a:schemeClr val="bg2"/>
            </a:solidFill>
            <a:prstDash val="solid"/>
          </a:ln>
        </p:spPr>
      </p:sp>
      <p:sp>
        <p:nvSpPr>
          <p:cNvPr id="15" name="r2"/>
          <p:cNvSpPr/>
          <p:nvPr/>
        </p:nvSpPr>
        <p:spPr>
          <a:xfrm>
            <a:off x="6309360" y="3328416"/>
            <a:ext cx="5394960" cy="658368"/>
          </a:xfrm>
          <a:prstGeom prst="roundRect">
            <a:avLst>
              <a:gd name="adj" fmla="val 16667"/>
            </a:avLst>
          </a:prstGeom>
          <a:solidFill>
            <a:schemeClr val="bg2"/>
          </a:solidFill>
          <a:ln w="12700">
            <a:solidFill>
              <a:schemeClr val="bg2"/>
            </a:solidFill>
            <a:prstDash val="solid"/>
          </a:ln>
        </p:spPr>
      </p:sp>
      <p:sp>
        <p:nvSpPr>
          <p:cNvPr id="16" name="lt2"/>
          <p:cNvSpPr txBox="1"/>
          <p:nvPr/>
        </p:nvSpPr>
        <p:spPr>
          <a:xfrm>
            <a:off x="640080" y="3328416"/>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what broke, and who could fix it]</a:t>
            </a:r>
            <a:endParaRPr lang="en-US" sz="1300" dirty="0"/>
          </a:p>
        </p:txBody>
      </p:sp>
      <p:sp>
        <p:nvSpPr>
          <p:cNvPr id="17" name="rt2"/>
          <p:cNvSpPr txBox="1"/>
          <p:nvPr/>
        </p:nvSpPr>
        <p:spPr>
          <a:xfrm>
            <a:off x="6492240" y="3328416"/>
            <a:ext cx="5029200" cy="658368"/>
          </a:xfrm>
          <a:prstGeom prst="rect">
            <a:avLst/>
          </a:prstGeom>
          <a:noFill/>
          <a:ln/>
        </p:spPr>
        <p:txBody>
          <a:bodyPr wrap="square" lIns="0" tIns="0" rIns="0" bIns="0" rtlCol="0" anchor="ctr"/>
          <a:lstStyle/>
          <a:p>
            <a:pPr indent="0" marL="0">
              <a:buNone/>
            </a:pPr>
            <a:r>
              <a:rPr lang="en-US" sz="1300" dirty="0">
                <a:solidFill>
                  <a:schemeClr val="tx1"/>
                </a:solidFill>
              </a:rPr>
              <a:t>Mechanical mentor fixed strafe, flywheel bump, controls — in English, from over the robot</a:t>
            </a:r>
            <a:endParaRPr lang="en-US" sz="1300" dirty="0"/>
          </a:p>
        </p:txBody>
      </p:sp>
      <p:sp>
        <p:nvSpPr>
          <p:cNvPr id="18" name="l3"/>
          <p:cNvSpPr/>
          <p:nvPr/>
        </p:nvSpPr>
        <p:spPr>
          <a:xfrm>
            <a:off x="457200" y="4078224"/>
            <a:ext cx="5394960" cy="658368"/>
          </a:xfrm>
          <a:prstGeom prst="roundRect">
            <a:avLst>
              <a:gd name="adj" fmla="val 16667"/>
            </a:avLst>
          </a:prstGeom>
          <a:solidFill>
            <a:schemeClr val="bg2"/>
          </a:solidFill>
          <a:ln w="12700">
            <a:solidFill>
              <a:schemeClr val="bg2"/>
            </a:solidFill>
            <a:prstDash val="solid"/>
          </a:ln>
        </p:spPr>
      </p:sp>
      <p:sp>
        <p:nvSpPr>
          <p:cNvPr id="19" name="r3"/>
          <p:cNvSpPr/>
          <p:nvPr/>
        </p:nvSpPr>
        <p:spPr>
          <a:xfrm>
            <a:off x="6309360" y="4078224"/>
            <a:ext cx="5394960" cy="658368"/>
          </a:xfrm>
          <a:prstGeom prst="roundRect">
            <a:avLst>
              <a:gd name="adj" fmla="val 16667"/>
            </a:avLst>
          </a:prstGeom>
          <a:solidFill>
            <a:schemeClr val="bg2"/>
          </a:solidFill>
          <a:ln w="12700">
            <a:solidFill>
              <a:schemeClr val="bg2"/>
            </a:solidFill>
            <a:prstDash val="solid"/>
          </a:ln>
        </p:spPr>
      </p:sp>
      <p:sp>
        <p:nvSpPr>
          <p:cNvPr id="20" name="lt3"/>
          <p:cNvSpPr txBox="1"/>
          <p:nvPr/>
        </p:nvSpPr>
        <p:spPr>
          <a:xfrm>
            <a:off x="640080" y="4078224"/>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how a mechanical change reached the code]</a:t>
            </a:r>
            <a:endParaRPr lang="en-US" sz="1300" dirty="0"/>
          </a:p>
        </p:txBody>
      </p:sp>
      <p:sp>
        <p:nvSpPr>
          <p:cNvPr id="21" name="rt3"/>
          <p:cNvSpPr txBox="1"/>
          <p:nvPr/>
        </p:nvSpPr>
        <p:spPr>
          <a:xfrm>
            <a:off x="6492240" y="4078224"/>
            <a:ext cx="5029200" cy="658368"/>
          </a:xfrm>
          <a:prstGeom prst="rect">
            <a:avLst/>
          </a:prstGeom>
          <a:noFill/>
          <a:ln/>
        </p:spPr>
        <p:txBody>
          <a:bodyPr wrap="square" lIns="0" tIns="0" rIns="0" bIns="0" rtlCol="0" anchor="ctr"/>
          <a:lstStyle/>
          <a:p>
            <a:pPr indent="0" marL="0">
              <a:buNone/>
            </a:pPr>
            <a:r>
              <a:rPr lang="en-US" sz="1300" dirty="0">
                <a:solidFill>
                  <a:schemeClr val="tx1"/>
                </a:solidFill>
              </a:rPr>
              <a:t>Transfer servos pulled Sep 18, 7:50 PM; code reworked that night by describing the new design</a:t>
            </a:r>
            <a:endParaRPr lang="en-US" sz="1300" dirty="0"/>
          </a:p>
        </p:txBody>
      </p:sp>
      <p:sp>
        <p:nvSpPr>
          <p:cNvPr id="22" name="l4"/>
          <p:cNvSpPr/>
          <p:nvPr/>
        </p:nvSpPr>
        <p:spPr>
          <a:xfrm>
            <a:off x="457200" y="4828032"/>
            <a:ext cx="5394960" cy="658368"/>
          </a:xfrm>
          <a:prstGeom prst="roundRect">
            <a:avLst>
              <a:gd name="adj" fmla="val 16667"/>
            </a:avLst>
          </a:prstGeom>
          <a:solidFill>
            <a:schemeClr val="bg2"/>
          </a:solidFill>
          <a:ln w="12700">
            <a:solidFill>
              <a:schemeClr val="bg2"/>
            </a:solidFill>
            <a:prstDash val="solid"/>
          </a:ln>
        </p:spPr>
      </p:sp>
      <p:sp>
        <p:nvSpPr>
          <p:cNvPr id="23" name="r4"/>
          <p:cNvSpPr/>
          <p:nvPr/>
        </p:nvSpPr>
        <p:spPr>
          <a:xfrm>
            <a:off x="6309360" y="4828032"/>
            <a:ext cx="5394960" cy="658368"/>
          </a:xfrm>
          <a:prstGeom prst="roundRect">
            <a:avLst>
              <a:gd name="adj" fmla="val 16667"/>
            </a:avLst>
          </a:prstGeom>
          <a:solidFill>
            <a:schemeClr val="bg2"/>
          </a:solidFill>
          <a:ln w="12700">
            <a:solidFill>
              <a:schemeClr val="bg2"/>
            </a:solidFill>
            <a:prstDash val="solid"/>
          </a:ln>
        </p:spPr>
      </p:sp>
      <p:sp>
        <p:nvSpPr>
          <p:cNvPr id="24" name="lt4"/>
          <p:cNvSpPr txBox="1"/>
          <p:nvPr/>
        </p:nvSpPr>
        <p:spPr>
          <a:xfrm>
            <a:off x="640080" y="4828032"/>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what we understood about our code]</a:t>
            </a:r>
            <a:endParaRPr lang="en-US" sz="1300" dirty="0"/>
          </a:p>
        </p:txBody>
      </p:sp>
      <p:sp>
        <p:nvSpPr>
          <p:cNvPr id="25" name="rt4"/>
          <p:cNvSpPr txBox="1"/>
          <p:nvPr/>
        </p:nvSpPr>
        <p:spPr>
          <a:xfrm>
            <a:off x="6492240" y="4828032"/>
            <a:ext cx="5029200" cy="658368"/>
          </a:xfrm>
          <a:prstGeom prst="rect">
            <a:avLst/>
          </a:prstGeom>
          <a:noFill/>
          <a:ln/>
        </p:spPr>
        <p:txBody>
          <a:bodyPr wrap="square" lIns="0" tIns="0" rIns="0" bIns="0" rtlCol="0" anchor="ctr"/>
          <a:lstStyle/>
          <a:p>
            <a:pPr indent="0" marL="0">
              <a:buNone/>
            </a:pPr>
            <a:r>
              <a:rPr lang="en-US" sz="1300" dirty="0">
                <a:solidFill>
                  <a:schemeClr val="tx1"/>
                </a:solidFill>
              </a:rPr>
              <a:t>Someone still has to read what Gemini wrote — the Reader role</a:t>
            </a:r>
            <a:endParaRPr lang="en-US" sz="1300" dirty="0"/>
          </a:p>
        </p:txBody>
      </p:sp>
      <p:sp>
        <p:nvSpPr>
          <p:cNvPr id="26" name="takeaway"/>
          <p:cNvSpPr txBox="1"/>
          <p:nvPr/>
        </p:nvSpPr>
        <p:spPr>
          <a:xfrm>
            <a:off x="457200" y="5715000"/>
            <a:ext cx="11247120" cy="411480"/>
          </a:xfrm>
          <a:prstGeom prst="rect">
            <a:avLst/>
          </a:prstGeom>
          <a:noFill/>
          <a:ln/>
        </p:spPr>
        <p:txBody>
          <a:bodyPr wrap="square" lIns="0" tIns="0" rIns="0" bIns="0" rtlCol="0" anchor="t"/>
          <a:lstStyle/>
          <a:p>
            <a:pPr indent="0" marL="0">
              <a:buNone/>
            </a:pPr>
            <a:r>
              <a:rPr lang="en-US" sz="1500" b="1" dirty="0">
                <a:solidFill>
                  <a:schemeClr val="accent1"/>
                </a:solidFill>
              </a:rPr>
              <a:t>The bottleneck moved: from “who can type Java” to “who can describe the robot precisely.”</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this is — and isn't</a:t>
            </a:r>
            <a:endParaRPr lang="en-US" sz="3200" dirty="0"/>
          </a:p>
        </p:txBody>
      </p:sp>
      <p:sp>
        <p:nvSpPr>
          <p:cNvPr id="4" name="is card"/>
          <p:cNvSpPr/>
          <p:nvPr/>
        </p:nvSpPr>
        <p:spPr>
          <a:xfrm>
            <a:off x="457200" y="1371600"/>
            <a:ext cx="5394960" cy="4480560"/>
          </a:xfrm>
          <a:prstGeom prst="roundRect">
            <a:avLst>
              <a:gd name="adj" fmla="val 2449"/>
            </a:avLst>
          </a:prstGeom>
          <a:solidFill>
            <a:schemeClr val="bg2"/>
          </a:solidFill>
          <a:ln w="12700">
            <a:solidFill>
              <a:schemeClr val="bg2"/>
            </a:solidFill>
            <a:prstDash val="solid"/>
          </a:ln>
        </p:spPr>
      </p:sp>
      <p:sp>
        <p:nvSpPr>
          <p:cNvPr id="5" name="isnt card"/>
          <p:cNvSpPr/>
          <p:nvPr/>
        </p:nvSpPr>
        <p:spPr>
          <a:xfrm>
            <a:off x="6309360" y="1371600"/>
            <a:ext cx="5394960" cy="4480560"/>
          </a:xfrm>
          <a:prstGeom prst="roundRect">
            <a:avLst>
              <a:gd name="adj" fmla="val 2449"/>
            </a:avLst>
          </a:prstGeom>
          <a:solidFill>
            <a:schemeClr val="bg2"/>
          </a:solidFill>
          <a:ln w="12700">
            <a:solidFill>
              <a:schemeClr val="bg2"/>
            </a:solidFill>
            <a:prstDash val="solid"/>
          </a:ln>
        </p:spPr>
      </p:sp>
      <p:sp>
        <p:nvSpPr>
          <p:cNvPr id="6" name="is head"/>
          <p:cNvSpPr txBox="1"/>
          <p:nvPr/>
        </p:nvSpPr>
        <p:spPr>
          <a:xfrm>
            <a:off x="822960" y="1554480"/>
            <a:ext cx="4572000" cy="548640"/>
          </a:xfrm>
          <a:prstGeom prst="rect">
            <a:avLst/>
          </a:prstGeom>
          <a:noFill/>
          <a:ln/>
        </p:spPr>
        <p:txBody>
          <a:bodyPr wrap="square" lIns="0" tIns="0" rIns="0" bIns="0" rtlCol="0" anchor="t"/>
          <a:lstStyle/>
          <a:p>
            <a:pPr indent="0" marL="0">
              <a:buNone/>
            </a:pPr>
            <a:r>
              <a:rPr lang="en-US" sz="2600" b="1" dirty="0">
                <a:solidFill>
                  <a:schemeClr val="accent3"/>
                </a:solidFill>
              </a:rPr>
              <a:t>It is</a:t>
            </a:r>
            <a:endParaRPr lang="en-US" sz="2600" dirty="0"/>
          </a:p>
        </p:txBody>
      </p:sp>
      <p:sp>
        <p:nvSpPr>
          <p:cNvPr id="7" name="isnt head"/>
          <p:cNvSpPr txBox="1"/>
          <p:nvPr/>
        </p:nvSpPr>
        <p:spPr>
          <a:xfrm>
            <a:off x="6675120" y="1554480"/>
            <a:ext cx="4572000" cy="548640"/>
          </a:xfrm>
          <a:prstGeom prst="rect">
            <a:avLst/>
          </a:prstGeom>
          <a:noFill/>
          <a:ln/>
        </p:spPr>
        <p:txBody>
          <a:bodyPr wrap="square" lIns="0" tIns="0" rIns="0" bIns="0" rtlCol="0" anchor="t"/>
          <a:lstStyle/>
          <a:p>
            <a:pPr indent="0" marL="0">
              <a:buNone/>
            </a:pPr>
            <a:r>
              <a:rPr lang="en-US" sz="2600" b="1" dirty="0">
                <a:solidFill>
                  <a:schemeClr val="accent4"/>
                </a:solidFill>
              </a:rPr>
              <a:t>It isn't</a:t>
            </a:r>
            <a:endParaRPr lang="en-US" sz="2600" dirty="0"/>
          </a:p>
        </p:txBody>
      </p:sp>
      <p:sp>
        <p:nvSpPr>
          <p:cNvPr id="8" name="is list"/>
          <p:cNvSpPr txBox="1"/>
          <p:nvPr/>
        </p:nvSpPr>
        <p:spPr>
          <a:xfrm>
            <a:off x="822960" y="2286000"/>
            <a:ext cx="4663440" cy="338328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chemeClr val="tx1"/>
                </a:solidFill>
              </a:rPr>
              <a:t>Describing what the robot should do, in English</a:t>
            </a:r>
            <a:endParaRPr lang="en-US" sz="1700" dirty="0"/>
          </a:p>
          <a:p>
            <a:pPr marL="342900" indent="-342900">
              <a:spcAft>
                <a:spcPts val="1400"/>
              </a:spcAft>
              <a:buSzPct val="100000"/>
              <a:buChar char="•"/>
            </a:pPr>
            <a:r>
              <a:rPr lang="en-US" sz="1700" dirty="0">
                <a:solidFill>
                  <a:schemeClr val="tx1"/>
                </a:solidFill>
              </a:rPr>
              <a:t>Testing after every change</a:t>
            </a:r>
            <a:endParaRPr lang="en-US" sz="1700" dirty="0"/>
          </a:p>
          <a:p>
            <a:pPr marL="342900" indent="-342900">
              <a:spcAft>
                <a:spcPts val="1400"/>
              </a:spcAft>
              <a:buSzPct val="100000"/>
              <a:buChar char="•"/>
            </a:pPr>
            <a:r>
              <a:rPr lang="en-US" sz="1700" dirty="0">
                <a:solidFill>
                  <a:schemeClr val="tx1"/>
                </a:solidFill>
              </a:rPr>
              <a:t>Learning what your robot's parts are called and how they interact</a:t>
            </a:r>
            <a:endParaRPr lang="en-US" sz="1700" dirty="0"/>
          </a:p>
          <a:p>
            <a:pPr marL="342900" indent="-342900">
              <a:spcAft>
                <a:spcPts val="1400"/>
              </a:spcAft>
              <a:buSzPct val="100000"/>
              <a:buChar char="•"/>
            </a:pPr>
            <a:r>
              <a:rPr lang="en-US" sz="1700" dirty="0">
                <a:solidFill>
                  <a:schemeClr val="tx1"/>
                </a:solidFill>
              </a:rPr>
              <a:t>A way for the whole team to change code</a:t>
            </a:r>
            <a:endParaRPr lang="en-US" sz="1700" dirty="0"/>
          </a:p>
        </p:txBody>
      </p:sp>
      <p:sp>
        <p:nvSpPr>
          <p:cNvPr id="9" name="isnt list"/>
          <p:cNvSpPr txBox="1"/>
          <p:nvPr/>
        </p:nvSpPr>
        <p:spPr>
          <a:xfrm>
            <a:off x="6675120" y="2286000"/>
            <a:ext cx="4663440" cy="338328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chemeClr val="tx1"/>
                </a:solidFill>
              </a:rPr>
              <a:t>Copy-pasting code you don't understand</a:t>
            </a:r>
            <a:endParaRPr lang="en-US" sz="1700" dirty="0"/>
          </a:p>
          <a:p>
            <a:pPr marL="342900" indent="-342900">
              <a:spcAft>
                <a:spcPts val="1400"/>
              </a:spcAft>
              <a:buSzPct val="100000"/>
              <a:buChar char="•"/>
            </a:pPr>
            <a:r>
              <a:rPr lang="en-US" sz="1700" dirty="0">
                <a:solidFill>
                  <a:schemeClr val="tx1"/>
                </a:solidFill>
              </a:rPr>
              <a:t>Asking for the whole robot at once</a:t>
            </a:r>
            <a:endParaRPr lang="en-US" sz="1700" dirty="0"/>
          </a:p>
          <a:p>
            <a:pPr marL="342900" indent="-342900">
              <a:spcAft>
                <a:spcPts val="1400"/>
              </a:spcAft>
              <a:buSzPct val="100000"/>
              <a:buChar char="•"/>
            </a:pPr>
            <a:r>
              <a:rPr lang="en-US" sz="1700" dirty="0">
                <a:solidFill>
                  <a:schemeClr val="tx1"/>
                </a:solidFill>
              </a:rPr>
              <a:t>Skipping the learning</a:t>
            </a:r>
            <a:endParaRPr lang="en-US" sz="1700" dirty="0"/>
          </a:p>
          <a:p>
            <a:pPr marL="342900" indent="-342900">
              <a:spcAft>
                <a:spcPts val="1400"/>
              </a:spcAft>
              <a:buSzPct val="100000"/>
              <a:buChar char="•"/>
            </a:pPr>
            <a:r>
              <a:rPr lang="en-US" sz="1700" dirty="0">
                <a:solidFill>
                  <a:schemeClr val="tx1"/>
                </a:solidFill>
              </a:rPr>
              <a:t>A way to avoid having anyone learn code</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method: describe → generate → test → refine</a:t>
            </a:r>
            <a:endParaRPr lang="en-US" sz="3200" dirty="0"/>
          </a:p>
        </p:txBody>
      </p:sp>
      <p:sp>
        <p:nvSpPr>
          <p:cNvPr id="4" name="step DESCRIBE"/>
          <p:cNvSpPr/>
          <p:nvPr/>
        </p:nvSpPr>
        <p:spPr>
          <a:xfrm>
            <a:off x="457200" y="2103120"/>
            <a:ext cx="2468880" cy="914400"/>
          </a:xfrm>
          <a:prstGeom prst="hexagon">
            <a:avLst/>
          </a:prstGeom>
          <a:solidFill>
            <a:schemeClr val="accent1"/>
          </a:solidFill>
          <a:ln w="25400">
            <a:solidFill>
              <a:schemeClr val="accent1"/>
            </a:solidFill>
            <a:prstDash val="solid"/>
          </a:ln>
        </p:spPr>
      </p:sp>
      <p:sp>
        <p:nvSpPr>
          <p:cNvPr id="5" name="step label DESCRIBE"/>
          <p:cNvSpPr txBox="1"/>
          <p:nvPr/>
        </p:nvSpPr>
        <p:spPr>
          <a:xfrm>
            <a:off x="45720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DESCRIBE</a:t>
            </a:r>
            <a:endParaRPr lang="en-US" sz="2000" dirty="0"/>
          </a:p>
        </p:txBody>
      </p:sp>
      <p:sp>
        <p:nvSpPr>
          <p:cNvPr id="6" name="arrow 0"/>
          <p:cNvSpPr/>
          <p:nvPr/>
        </p:nvSpPr>
        <p:spPr>
          <a:xfrm>
            <a:off x="2971800" y="2377440"/>
            <a:ext cx="320040" cy="365760"/>
          </a:xfrm>
          <a:prstGeom prst="rightArrow">
            <a:avLst/>
          </a:prstGeom>
          <a:solidFill>
            <a:schemeClr val="accent1"/>
          </a:solidFill>
          <a:ln w="12700">
            <a:solidFill>
              <a:schemeClr val="accent1"/>
            </a:solidFill>
            <a:prstDash val="solid"/>
          </a:ln>
        </p:spPr>
      </p:sp>
      <p:sp>
        <p:nvSpPr>
          <p:cNvPr id="7" name="step text DESCRIBE"/>
          <p:cNvSpPr txBox="1"/>
          <p:nvPr/>
        </p:nvSpPr>
        <p:spPr>
          <a:xfrm>
            <a:off x="45720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“The intake is a motor named ‘intake’ plus two CR servos. A toggles collect at 0.5 power…”</a:t>
            </a:r>
            <a:endParaRPr lang="en-US" sz="1300" dirty="0"/>
          </a:p>
        </p:txBody>
      </p:sp>
      <p:sp>
        <p:nvSpPr>
          <p:cNvPr id="8" name="step GENERATE"/>
          <p:cNvSpPr/>
          <p:nvPr/>
        </p:nvSpPr>
        <p:spPr>
          <a:xfrm>
            <a:off x="3337560" y="2103120"/>
            <a:ext cx="2468880" cy="914400"/>
          </a:xfrm>
          <a:prstGeom prst="hexagon">
            <a:avLst/>
          </a:prstGeom>
          <a:solidFill>
            <a:schemeClr val="bg2"/>
          </a:solidFill>
          <a:ln w="25400">
            <a:solidFill>
              <a:schemeClr val="accent1"/>
            </a:solidFill>
            <a:prstDash val="solid"/>
          </a:ln>
        </p:spPr>
      </p:sp>
      <p:sp>
        <p:nvSpPr>
          <p:cNvPr id="9" name="step label GENERATE"/>
          <p:cNvSpPr txBox="1"/>
          <p:nvPr/>
        </p:nvSpPr>
        <p:spPr>
          <a:xfrm>
            <a:off x="333756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GENERATE</a:t>
            </a:r>
            <a:endParaRPr lang="en-US" sz="2000" dirty="0"/>
          </a:p>
        </p:txBody>
      </p:sp>
      <p:sp>
        <p:nvSpPr>
          <p:cNvPr id="10" name="arrow 1"/>
          <p:cNvSpPr/>
          <p:nvPr/>
        </p:nvSpPr>
        <p:spPr>
          <a:xfrm>
            <a:off x="5852160" y="2377440"/>
            <a:ext cx="320040" cy="365760"/>
          </a:xfrm>
          <a:prstGeom prst="rightArrow">
            <a:avLst/>
          </a:prstGeom>
          <a:solidFill>
            <a:schemeClr val="accent1"/>
          </a:solidFill>
          <a:ln w="12700">
            <a:solidFill>
              <a:schemeClr val="accent1"/>
            </a:solidFill>
            <a:prstDash val="solid"/>
          </a:ln>
        </p:spPr>
      </p:sp>
      <p:sp>
        <p:nvSpPr>
          <p:cNvPr id="11" name="step text GENERATE"/>
          <p:cNvSpPr txBox="1"/>
          <p:nvPr/>
        </p:nvSpPr>
        <p:spPr>
          <a:xfrm>
            <a:off x="333756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Gemini writes or edits the OpMode</a:t>
            </a:r>
            <a:endParaRPr lang="en-US" sz="1300" dirty="0"/>
          </a:p>
        </p:txBody>
      </p:sp>
      <p:sp>
        <p:nvSpPr>
          <p:cNvPr id="12" name="step TEST"/>
          <p:cNvSpPr/>
          <p:nvPr/>
        </p:nvSpPr>
        <p:spPr>
          <a:xfrm>
            <a:off x="6217920" y="2103120"/>
            <a:ext cx="2468880" cy="914400"/>
          </a:xfrm>
          <a:prstGeom prst="hexagon">
            <a:avLst/>
          </a:prstGeom>
          <a:solidFill>
            <a:schemeClr val="bg2"/>
          </a:solidFill>
          <a:ln w="25400">
            <a:solidFill>
              <a:schemeClr val="accent1"/>
            </a:solidFill>
            <a:prstDash val="solid"/>
          </a:ln>
        </p:spPr>
      </p:sp>
      <p:sp>
        <p:nvSpPr>
          <p:cNvPr id="13" name="step label TEST"/>
          <p:cNvSpPr txBox="1"/>
          <p:nvPr/>
        </p:nvSpPr>
        <p:spPr>
          <a:xfrm>
            <a:off x="621792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TEST</a:t>
            </a:r>
            <a:endParaRPr lang="en-US" sz="2000" dirty="0"/>
          </a:p>
        </p:txBody>
      </p:sp>
      <p:sp>
        <p:nvSpPr>
          <p:cNvPr id="14" name="arrow 2"/>
          <p:cNvSpPr/>
          <p:nvPr/>
        </p:nvSpPr>
        <p:spPr>
          <a:xfrm>
            <a:off x="8732520" y="2377440"/>
            <a:ext cx="320040" cy="365760"/>
          </a:xfrm>
          <a:prstGeom prst="rightArrow">
            <a:avLst/>
          </a:prstGeom>
          <a:solidFill>
            <a:schemeClr val="accent1"/>
          </a:solidFill>
          <a:ln w="12700">
            <a:solidFill>
              <a:schemeClr val="accent1"/>
            </a:solidFill>
            <a:prstDash val="solid"/>
          </a:ln>
        </p:spPr>
      </p:sp>
      <p:sp>
        <p:nvSpPr>
          <p:cNvPr id="15" name="step text TEST"/>
          <p:cNvSpPr txBox="1"/>
          <p:nvPr/>
        </p:nvSpPr>
        <p:spPr>
          <a:xfrm>
            <a:off x="621792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Deploy to the robot. Try it.</a:t>
            </a:r>
            <a:endParaRPr lang="en-US" sz="1300" dirty="0"/>
          </a:p>
        </p:txBody>
      </p:sp>
      <p:sp>
        <p:nvSpPr>
          <p:cNvPr id="16" name="step REFINE"/>
          <p:cNvSpPr/>
          <p:nvPr/>
        </p:nvSpPr>
        <p:spPr>
          <a:xfrm>
            <a:off x="9098280" y="2103120"/>
            <a:ext cx="2468880" cy="914400"/>
          </a:xfrm>
          <a:prstGeom prst="hexagon">
            <a:avLst/>
          </a:prstGeom>
          <a:solidFill>
            <a:schemeClr val="accent1"/>
          </a:solidFill>
          <a:ln w="25400">
            <a:solidFill>
              <a:schemeClr val="accent1"/>
            </a:solidFill>
            <a:prstDash val="solid"/>
          </a:ln>
        </p:spPr>
      </p:sp>
      <p:sp>
        <p:nvSpPr>
          <p:cNvPr id="17" name="step label REFINE"/>
          <p:cNvSpPr txBox="1"/>
          <p:nvPr/>
        </p:nvSpPr>
        <p:spPr>
          <a:xfrm>
            <a:off x="909828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REFINE</a:t>
            </a:r>
            <a:endParaRPr lang="en-US" sz="2000" dirty="0"/>
          </a:p>
        </p:txBody>
      </p:sp>
      <p:sp>
        <p:nvSpPr>
          <p:cNvPr id="18" name="step text REFINE"/>
          <p:cNvSpPr txBox="1"/>
          <p:nvPr/>
        </p:nvSpPr>
        <p:spPr>
          <a:xfrm>
            <a:off x="909828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“it is spitting balls out, so i would like to shorten it”</a:t>
            </a:r>
            <a:endParaRPr lang="en-US" sz="1300" dirty="0"/>
          </a:p>
        </p:txBody>
      </p:sp>
      <p:sp>
        <p:nvSpPr>
          <p:cNvPr id="19" name="return line"/>
          <p:cNvSpPr/>
          <p:nvPr/>
        </p:nvSpPr>
        <p:spPr>
          <a:xfrm>
            <a:off x="4572000" y="4937760"/>
            <a:ext cx="5760720" cy="0"/>
          </a:xfrm>
          <a:prstGeom prst="line">
            <a:avLst/>
          </a:prstGeom>
          <a:noFill/>
          <a:ln w="19050">
            <a:solidFill>
              <a:schemeClr val="accent1"/>
            </a:solidFill>
            <a:prstDash val="solid"/>
            <a:headEnd type="triangle"/>
          </a:ln>
        </p:spPr>
      </p:sp>
      <p:sp>
        <p:nvSpPr>
          <p:cNvPr id="20" name="return label"/>
          <p:cNvSpPr txBox="1"/>
          <p:nvPr/>
        </p:nvSpPr>
        <p:spPr>
          <a:xfrm>
            <a:off x="4754880" y="5029200"/>
            <a:ext cx="5486400" cy="365760"/>
          </a:xfrm>
          <a:prstGeom prst="rect">
            <a:avLst/>
          </a:prstGeom>
          <a:noFill/>
          <a:ln/>
        </p:spPr>
        <p:txBody>
          <a:bodyPr wrap="square" lIns="0" tIns="0" rIns="0" bIns="0" rtlCol="0" anchor="t"/>
          <a:lstStyle/>
          <a:p>
            <a:pPr indent="0" marL="0">
              <a:buNone/>
            </a:pPr>
            <a:r>
              <a:rPr lang="en-US" sz="1200" dirty="0">
                <a:solidFill>
                  <a:schemeClr val="tx2"/>
                </a:solidFill>
              </a:rPr>
              <a:t>…and back to GENERATE</a:t>
            </a:r>
            <a:endParaRPr lang="en-US" sz="1200" dirty="0"/>
          </a:p>
        </p:txBody>
      </p:sp>
      <p:sp>
        <p:nvSpPr>
          <p:cNvPr id="21" name="takeaway"/>
          <p:cNvSpPr txBox="1"/>
          <p:nvPr/>
        </p:nvSpPr>
        <p:spPr>
          <a:xfrm>
            <a:off x="457200" y="566928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The skill you build is DESCRIBE and REFINE: names, directions, timing, order.</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checkpoints — one trip around the loop each</a:t>
            </a:r>
            <a:endParaRPr lang="en-US" sz="3200" dirty="0"/>
          </a:p>
        </p:txBody>
      </p:sp>
      <p:sp>
        <p:nvSpPr>
          <p:cNvPr id="4" name="hex 0"/>
          <p:cNvSpPr/>
          <p:nvPr/>
        </p:nvSpPr>
        <p:spPr>
          <a:xfrm>
            <a:off x="457200" y="1417320"/>
            <a:ext cx="640080" cy="640080"/>
          </a:xfrm>
          <a:prstGeom prst="hexagon">
            <a:avLst/>
          </a:prstGeom>
          <a:solidFill>
            <a:schemeClr val="bg1"/>
          </a:solidFill>
          <a:ln w="25400">
            <a:solidFill>
              <a:schemeClr val="accent1"/>
            </a:solidFill>
            <a:prstDash val="solid"/>
          </a:ln>
        </p:spPr>
      </p:sp>
      <p:sp>
        <p:nvSpPr>
          <p:cNvPr id="5" name="hex label 0"/>
          <p:cNvSpPr txBox="1"/>
          <p:nvPr/>
        </p:nvSpPr>
        <p:spPr>
          <a:xfrm>
            <a:off x="45720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6" name="cp 0"/>
          <p:cNvSpPr txBox="1"/>
          <p:nvPr/>
        </p:nvSpPr>
        <p:spPr>
          <a:xfrm>
            <a:off x="128016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Install Android Studio + FtcRobotController, sign in to Gemini</a:t>
            </a:r>
            <a:endParaRPr lang="en-US" sz="1400" dirty="0"/>
          </a:p>
        </p:txBody>
      </p:sp>
      <p:sp>
        <p:nvSpPr>
          <p:cNvPr id="7" name="hex 1"/>
          <p:cNvSpPr/>
          <p:nvPr/>
        </p:nvSpPr>
        <p:spPr>
          <a:xfrm>
            <a:off x="457200" y="2313432"/>
            <a:ext cx="640080" cy="640080"/>
          </a:xfrm>
          <a:prstGeom prst="hexagon">
            <a:avLst/>
          </a:prstGeom>
          <a:solidFill>
            <a:schemeClr val="bg1"/>
          </a:solidFill>
          <a:ln w="25400">
            <a:solidFill>
              <a:schemeClr val="accent1"/>
            </a:solidFill>
            <a:prstDash val="solid"/>
          </a:ln>
        </p:spPr>
      </p:sp>
      <p:sp>
        <p:nvSpPr>
          <p:cNvPr id="8" name="hex label 1"/>
          <p:cNvSpPr txBox="1"/>
          <p:nvPr/>
        </p:nvSpPr>
        <p:spPr>
          <a:xfrm>
            <a:off x="45720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9" name="cp 1"/>
          <p:cNvSpPr txBox="1"/>
          <p:nvPr/>
        </p:nvSpPr>
        <p:spPr>
          <a:xfrm>
            <a:off x="128016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Describe the robot: names, ports, purposes, directions</a:t>
            </a:r>
            <a:endParaRPr lang="en-US" sz="1400" dirty="0"/>
          </a:p>
        </p:txBody>
      </p:sp>
      <p:sp>
        <p:nvSpPr>
          <p:cNvPr id="10" name="hex 2"/>
          <p:cNvSpPr/>
          <p:nvPr/>
        </p:nvSpPr>
        <p:spPr>
          <a:xfrm>
            <a:off x="457200" y="3209544"/>
            <a:ext cx="640080" cy="640080"/>
          </a:xfrm>
          <a:prstGeom prst="hexagon">
            <a:avLst/>
          </a:prstGeom>
          <a:solidFill>
            <a:schemeClr val="bg1"/>
          </a:solidFill>
          <a:ln w="25400">
            <a:solidFill>
              <a:schemeClr val="accent1"/>
            </a:solidFill>
            <a:prstDash val="solid"/>
          </a:ln>
        </p:spPr>
      </p:sp>
      <p:sp>
        <p:nvSpPr>
          <p:cNvPr id="11" name="hex label 2"/>
          <p:cNvSpPr txBox="1"/>
          <p:nvPr/>
        </p:nvSpPr>
        <p:spPr>
          <a:xfrm>
            <a:off x="45720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2" name="cp 2"/>
          <p:cNvSpPr txBox="1"/>
          <p:nvPr/>
        </p:nvSpPr>
        <p:spPr>
          <a:xfrm>
            <a:off x="128016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Mecanum drive</a:t>
            </a:r>
            <a:pPr indent="0" marL="0">
              <a:buNone/>
            </a:pPr>
            <a:r>
              <a:rPr lang="en-US" sz="1400" b="1" dirty="0">
                <a:solidFill>
                  <a:schemeClr val="accent3"/>
                </a:solidFill>
              </a:rPr>
              <a:t>  → test</a:t>
            </a:r>
            <a:endParaRPr lang="en-US" sz="1400" dirty="0"/>
          </a:p>
        </p:txBody>
      </p:sp>
      <p:sp>
        <p:nvSpPr>
          <p:cNvPr id="13" name="hex 3"/>
          <p:cNvSpPr/>
          <p:nvPr/>
        </p:nvSpPr>
        <p:spPr>
          <a:xfrm>
            <a:off x="457200" y="4105656"/>
            <a:ext cx="640080" cy="640080"/>
          </a:xfrm>
          <a:prstGeom prst="hexagon">
            <a:avLst/>
          </a:prstGeom>
          <a:solidFill>
            <a:schemeClr val="bg1"/>
          </a:solidFill>
          <a:ln w="25400">
            <a:solidFill>
              <a:schemeClr val="accent1"/>
            </a:solidFill>
            <a:prstDash val="solid"/>
          </a:ln>
        </p:spPr>
      </p:sp>
      <p:sp>
        <p:nvSpPr>
          <p:cNvPr id="14" name="hex label 3"/>
          <p:cNvSpPr txBox="1"/>
          <p:nvPr/>
        </p:nvSpPr>
        <p:spPr>
          <a:xfrm>
            <a:off x="45720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5" name="cp 3"/>
          <p:cNvSpPr txBox="1"/>
          <p:nvPr/>
        </p:nvSpPr>
        <p:spPr>
          <a:xfrm>
            <a:off x="128016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Intake</a:t>
            </a:r>
            <a:pPr indent="0" marL="0">
              <a:buNone/>
            </a:pPr>
            <a:r>
              <a:rPr lang="en-US" sz="1400" b="1" dirty="0">
                <a:solidFill>
                  <a:schemeClr val="accent3"/>
                </a:solidFill>
              </a:rPr>
              <a:t>  → test</a:t>
            </a:r>
            <a:endParaRPr lang="en-US" sz="1400" dirty="0"/>
          </a:p>
        </p:txBody>
      </p:sp>
      <p:sp>
        <p:nvSpPr>
          <p:cNvPr id="16" name="hex 4"/>
          <p:cNvSpPr/>
          <p:nvPr/>
        </p:nvSpPr>
        <p:spPr>
          <a:xfrm>
            <a:off x="457200" y="5001768"/>
            <a:ext cx="640080" cy="640080"/>
          </a:xfrm>
          <a:prstGeom prst="hexagon">
            <a:avLst/>
          </a:prstGeom>
          <a:solidFill>
            <a:schemeClr val="bg1"/>
          </a:solidFill>
          <a:ln w="25400">
            <a:solidFill>
              <a:schemeClr val="accent1"/>
            </a:solidFill>
            <a:prstDash val="solid"/>
          </a:ln>
        </p:spPr>
      </p:sp>
      <p:sp>
        <p:nvSpPr>
          <p:cNvPr id="17" name="hex label 4"/>
          <p:cNvSpPr txBox="1"/>
          <p:nvPr/>
        </p:nvSpPr>
        <p:spPr>
          <a:xfrm>
            <a:off x="45720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cp 4"/>
          <p:cNvSpPr txBox="1"/>
          <p:nvPr/>
        </p:nvSpPr>
        <p:spPr>
          <a:xfrm>
            <a:off x="128016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Shooter: flywheel startup sequence + pulsed feed</a:t>
            </a:r>
            <a:pPr indent="0" marL="0">
              <a:buNone/>
            </a:pPr>
            <a:r>
              <a:rPr lang="en-US" sz="1400" b="1" dirty="0">
                <a:solidFill>
                  <a:schemeClr val="accent3"/>
                </a:solidFill>
              </a:rPr>
              <a:t>  → test</a:t>
            </a:r>
            <a:endParaRPr lang="en-US" sz="1400" dirty="0"/>
          </a:p>
        </p:txBody>
      </p:sp>
      <p:sp>
        <p:nvSpPr>
          <p:cNvPr id="19" name="hex 5"/>
          <p:cNvSpPr/>
          <p:nvPr/>
        </p:nvSpPr>
        <p:spPr>
          <a:xfrm>
            <a:off x="6217920" y="1417320"/>
            <a:ext cx="640080" cy="640080"/>
          </a:xfrm>
          <a:prstGeom prst="hexagon">
            <a:avLst/>
          </a:prstGeom>
          <a:solidFill>
            <a:schemeClr val="bg1"/>
          </a:solidFill>
          <a:ln w="25400">
            <a:solidFill>
              <a:schemeClr val="accent1"/>
            </a:solidFill>
            <a:prstDash val="solid"/>
          </a:ln>
        </p:spPr>
      </p:sp>
      <p:sp>
        <p:nvSpPr>
          <p:cNvPr id="20" name="hex label 5"/>
          <p:cNvSpPr txBox="1"/>
          <p:nvPr/>
        </p:nvSpPr>
        <p:spPr>
          <a:xfrm>
            <a:off x="621792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1" name="cp 5"/>
          <p:cNvSpPr txBox="1"/>
          <p:nvPr/>
        </p:nvSpPr>
        <p:spPr>
          <a:xfrm>
            <a:off x="704088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Refine: the mechanical mentor's four real prompts</a:t>
            </a:r>
            <a:endParaRPr lang="en-US" sz="1400" dirty="0"/>
          </a:p>
        </p:txBody>
      </p:sp>
      <p:sp>
        <p:nvSpPr>
          <p:cNvPr id="22" name="hex 6"/>
          <p:cNvSpPr/>
          <p:nvPr/>
        </p:nvSpPr>
        <p:spPr>
          <a:xfrm>
            <a:off x="6217920" y="2313432"/>
            <a:ext cx="640080" cy="640080"/>
          </a:xfrm>
          <a:prstGeom prst="hexagon">
            <a:avLst/>
          </a:prstGeom>
          <a:solidFill>
            <a:schemeClr val="bg1"/>
          </a:solidFill>
          <a:ln w="25400">
            <a:solidFill>
              <a:schemeClr val="accent1"/>
            </a:solidFill>
            <a:prstDash val="solid"/>
          </a:ln>
        </p:spPr>
      </p:sp>
      <p:sp>
        <p:nvSpPr>
          <p:cNvPr id="23" name="hex label 6"/>
          <p:cNvSpPr txBox="1"/>
          <p:nvPr/>
        </p:nvSpPr>
        <p:spPr>
          <a:xfrm>
            <a:off x="621792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24" name="cp 6"/>
          <p:cNvSpPr txBox="1"/>
          <p:nvPr/>
        </p:nvSpPr>
        <p:spPr>
          <a:xfrm>
            <a:off x="704088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v1: back off the wall and shoot</a:t>
            </a:r>
            <a:pPr indent="0" marL="0">
              <a:buNone/>
            </a:pPr>
            <a:r>
              <a:rPr lang="en-US" sz="1400" b="1" dirty="0">
                <a:solidFill>
                  <a:schemeClr val="accent3"/>
                </a:solidFill>
              </a:rPr>
              <a:t>  → test</a:t>
            </a:r>
            <a:endParaRPr lang="en-US" sz="1400" dirty="0"/>
          </a:p>
        </p:txBody>
      </p:sp>
      <p:sp>
        <p:nvSpPr>
          <p:cNvPr id="25" name="hex 7"/>
          <p:cNvSpPr/>
          <p:nvPr/>
        </p:nvSpPr>
        <p:spPr>
          <a:xfrm>
            <a:off x="6217920" y="3209544"/>
            <a:ext cx="640080" cy="640080"/>
          </a:xfrm>
          <a:prstGeom prst="hexagon">
            <a:avLst/>
          </a:prstGeom>
          <a:solidFill>
            <a:schemeClr val="bg1"/>
          </a:solidFill>
          <a:ln w="25400">
            <a:solidFill>
              <a:schemeClr val="accent1"/>
            </a:solidFill>
            <a:prstDash val="solid"/>
          </a:ln>
        </p:spPr>
      </p:sp>
      <p:sp>
        <p:nvSpPr>
          <p:cNvPr id="26" name="hex label 7"/>
          <p:cNvSpPr txBox="1"/>
          <p:nvPr/>
        </p:nvSpPr>
        <p:spPr>
          <a:xfrm>
            <a:off x="621792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27" name="cp 7"/>
          <p:cNvSpPr txBox="1"/>
          <p:nvPr/>
        </p:nvSpPr>
        <p:spPr>
          <a:xfrm>
            <a:off x="704088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v2: Shoot First / Shoot Delayed, which parks</a:t>
            </a:r>
            <a:pPr indent="0" marL="0">
              <a:buNone/>
            </a:pPr>
            <a:r>
              <a:rPr lang="en-US" sz="1400" b="1" dirty="0">
                <a:solidFill>
                  <a:schemeClr val="accent3"/>
                </a:solidFill>
              </a:rPr>
              <a:t>  → test</a:t>
            </a:r>
            <a:endParaRPr lang="en-US" sz="1400" dirty="0"/>
          </a:p>
        </p:txBody>
      </p:sp>
      <p:sp>
        <p:nvSpPr>
          <p:cNvPr id="28" name="hex 8"/>
          <p:cNvSpPr/>
          <p:nvPr/>
        </p:nvSpPr>
        <p:spPr>
          <a:xfrm>
            <a:off x="6217920" y="4105656"/>
            <a:ext cx="640080" cy="640080"/>
          </a:xfrm>
          <a:prstGeom prst="hexagon">
            <a:avLst/>
          </a:prstGeom>
          <a:solidFill>
            <a:schemeClr val="bg1"/>
          </a:solidFill>
          <a:ln w="25400">
            <a:solidFill>
              <a:schemeClr val="accent1"/>
            </a:solidFill>
            <a:prstDash val="solid"/>
          </a:ln>
        </p:spPr>
      </p:sp>
      <p:sp>
        <p:nvSpPr>
          <p:cNvPr id="29" name="hex label 8"/>
          <p:cNvSpPr txBox="1"/>
          <p:nvPr/>
        </p:nvSpPr>
        <p:spPr>
          <a:xfrm>
            <a:off x="621792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30" name="cp 8"/>
          <p:cNvSpPr txBox="1"/>
          <p:nvPr/>
        </p:nvSpPr>
        <p:spPr>
          <a:xfrm>
            <a:off x="704088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v3: under 30 seconds, keep the LEAVE points</a:t>
            </a:r>
            <a:pPr indent="0" marL="0">
              <a:buNone/>
            </a:pPr>
            <a:r>
              <a:rPr lang="en-US" sz="1400" b="1" dirty="0">
                <a:solidFill>
                  <a:schemeClr val="accent3"/>
                </a:solidFill>
              </a:rPr>
              <a:t>  → test</a:t>
            </a:r>
            <a:endParaRPr lang="en-US" sz="1400" dirty="0"/>
          </a:p>
        </p:txBody>
      </p:sp>
      <p:sp>
        <p:nvSpPr>
          <p:cNvPr id="31" name="hex 9"/>
          <p:cNvSpPr/>
          <p:nvPr/>
        </p:nvSpPr>
        <p:spPr>
          <a:xfrm>
            <a:off x="6217920" y="5001768"/>
            <a:ext cx="640080" cy="640080"/>
          </a:xfrm>
          <a:prstGeom prst="hexagon">
            <a:avLst/>
          </a:prstGeom>
          <a:solidFill>
            <a:schemeClr val="bg1"/>
          </a:solidFill>
          <a:ln w="25400">
            <a:solidFill>
              <a:schemeClr val="accent1"/>
            </a:solidFill>
            <a:prstDash val="solid"/>
          </a:ln>
        </p:spPr>
      </p:sp>
      <p:sp>
        <p:nvSpPr>
          <p:cNvPr id="32" name="hex label 9"/>
          <p:cNvSpPr txBox="1"/>
          <p:nvPr/>
        </p:nvSpPr>
        <p:spPr>
          <a:xfrm>
            <a:off x="621792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9</a:t>
            </a:r>
            <a:endParaRPr lang="en-US" sz="1800" dirty="0"/>
          </a:p>
        </p:txBody>
      </p:sp>
      <p:sp>
        <p:nvSpPr>
          <p:cNvPr id="33" name="cp 9"/>
          <p:cNvSpPr txBox="1"/>
          <p:nvPr/>
        </p:nvSpPr>
        <p:spPr>
          <a:xfrm>
            <a:off x="704088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Extras: LEDs, endgame rumble, the 4-ball experiment</a:t>
            </a:r>
            <a:endParaRPr lang="en-US" sz="1400" dirty="0"/>
          </a:p>
        </p:txBody>
      </p:sp>
      <p:sp>
        <p:nvSpPr>
          <p:cNvPr id="34" name="repo"/>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dirty="0">
                <a:solidFill>
                  <a:schemeClr val="accent1"/>
                </a:solidFill>
              </a:rPr>
              <a:t>github.com/The-Hive-3747/Teaching-AI-Coding — a guide page and a video per checkpoint</a:t>
            </a:r>
            <a:endParaRPr lang="en-US" sz="13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a good description has</a:t>
            </a:r>
            <a:endParaRPr lang="en-US" sz="3200" dirty="0"/>
          </a:p>
        </p:txBody>
      </p:sp>
      <p:sp>
        <p:nvSpPr>
          <p:cNvPr id="4" name="hex 1"/>
          <p:cNvSpPr/>
          <p:nvPr/>
        </p:nvSpPr>
        <p:spPr>
          <a:xfrm>
            <a:off x="457200" y="1371600"/>
            <a:ext cx="685800" cy="685800"/>
          </a:xfrm>
          <a:prstGeom prst="hexagon">
            <a:avLst/>
          </a:prstGeom>
          <a:solidFill>
            <a:schemeClr val="bg1"/>
          </a:solidFill>
          <a:ln w="25400">
            <a:solidFill>
              <a:schemeClr val="accent1"/>
            </a:solidFill>
            <a:prstDash val="solid"/>
          </a:ln>
        </p:spPr>
      </p:sp>
      <p:sp>
        <p:nvSpPr>
          <p:cNvPr id="5" name="hex label 1"/>
          <p:cNvSpPr txBox="1"/>
          <p:nvPr/>
        </p:nvSpPr>
        <p:spPr>
          <a:xfrm>
            <a:off x="457200" y="13716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k0"/>
          <p:cNvSpPr txBox="1"/>
          <p:nvPr/>
        </p:nvSpPr>
        <p:spPr>
          <a:xfrm>
            <a:off x="1371600" y="13716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Names</a:t>
            </a:r>
            <a:endParaRPr lang="en-US" sz="2000" dirty="0"/>
          </a:p>
        </p:txBody>
      </p:sp>
      <p:sp>
        <p:nvSpPr>
          <p:cNvPr id="7" name="v0"/>
          <p:cNvSpPr txBox="1"/>
          <p:nvPr/>
        </p:nvSpPr>
        <p:spPr>
          <a:xfrm>
            <a:off x="4023360" y="1371600"/>
            <a:ext cx="7680960" cy="685800"/>
          </a:xfrm>
          <a:prstGeom prst="rect">
            <a:avLst/>
          </a:prstGeom>
          <a:noFill/>
          <a:ln/>
        </p:spPr>
        <p:txBody>
          <a:bodyPr wrap="square" lIns="0" tIns="0" rIns="0" bIns="0" rtlCol="0" anchor="ctr"/>
          <a:lstStyle/>
          <a:p>
            <a:pPr indent="0" marL="0">
              <a:buNone/>
            </a:pPr>
            <a:r>
              <a:rPr lang="en-US" sz="1500" dirty="0">
                <a:solidFill>
                  <a:schemeClr val="tx2"/>
                </a:solidFill>
              </a:rPr>
              <a:t>exactly as in the Robot Controller config: front_left_drive, not “the front left motor”</a:t>
            </a:r>
            <a:endParaRPr lang="en-US" sz="1500" dirty="0"/>
          </a:p>
        </p:txBody>
      </p:sp>
      <p:sp>
        <p:nvSpPr>
          <p:cNvPr id="8" name="hex 2"/>
          <p:cNvSpPr/>
          <p:nvPr/>
        </p:nvSpPr>
        <p:spPr>
          <a:xfrm>
            <a:off x="457200" y="2286000"/>
            <a:ext cx="685800" cy="685800"/>
          </a:xfrm>
          <a:prstGeom prst="hexagon">
            <a:avLst/>
          </a:prstGeom>
          <a:solidFill>
            <a:schemeClr val="bg1"/>
          </a:solidFill>
          <a:ln w="25400">
            <a:solidFill>
              <a:schemeClr val="accent1"/>
            </a:solidFill>
            <a:prstDash val="solid"/>
          </a:ln>
        </p:spPr>
      </p:sp>
      <p:sp>
        <p:nvSpPr>
          <p:cNvPr id="9" name="hex label 2"/>
          <p:cNvSpPr txBox="1"/>
          <p:nvPr/>
        </p:nvSpPr>
        <p:spPr>
          <a:xfrm>
            <a:off x="457200" y="22860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0" name="k1"/>
          <p:cNvSpPr txBox="1"/>
          <p:nvPr/>
        </p:nvSpPr>
        <p:spPr>
          <a:xfrm>
            <a:off x="1371600" y="22860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Purpose</a:t>
            </a:r>
            <a:endParaRPr lang="en-US" sz="2000" dirty="0"/>
          </a:p>
        </p:txBody>
      </p:sp>
      <p:sp>
        <p:nvSpPr>
          <p:cNvPr id="11" name="v1"/>
          <p:cNvSpPr txBox="1"/>
          <p:nvPr/>
        </p:nvSpPr>
        <p:spPr>
          <a:xfrm>
            <a:off x="4023360" y="22860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the part does for the robot</a:t>
            </a:r>
            <a:endParaRPr lang="en-US" sz="1500" dirty="0"/>
          </a:p>
        </p:txBody>
      </p:sp>
      <p:sp>
        <p:nvSpPr>
          <p:cNvPr id="12" name="hex 3"/>
          <p:cNvSpPr/>
          <p:nvPr/>
        </p:nvSpPr>
        <p:spPr>
          <a:xfrm>
            <a:off x="457200" y="3200400"/>
            <a:ext cx="685800" cy="685800"/>
          </a:xfrm>
          <a:prstGeom prst="hexagon">
            <a:avLst/>
          </a:prstGeom>
          <a:solidFill>
            <a:schemeClr val="bg1"/>
          </a:solidFill>
          <a:ln w="25400">
            <a:solidFill>
              <a:schemeClr val="accent1"/>
            </a:solidFill>
            <a:prstDash val="solid"/>
          </a:ln>
        </p:spPr>
      </p:sp>
      <p:sp>
        <p:nvSpPr>
          <p:cNvPr id="13" name="hex label 3"/>
          <p:cNvSpPr txBox="1"/>
          <p:nvPr/>
        </p:nvSpPr>
        <p:spPr>
          <a:xfrm>
            <a:off x="457200" y="32004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4" name="k2"/>
          <p:cNvSpPr txBox="1"/>
          <p:nvPr/>
        </p:nvSpPr>
        <p:spPr>
          <a:xfrm>
            <a:off x="1371600" y="32004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Direction</a:t>
            </a:r>
            <a:endParaRPr lang="en-US" sz="2000" dirty="0"/>
          </a:p>
        </p:txBody>
      </p:sp>
      <p:sp>
        <p:nvSpPr>
          <p:cNvPr id="15" name="v2"/>
          <p:cNvSpPr txBox="1"/>
          <p:nvPr/>
        </p:nvSpPr>
        <p:spPr>
          <a:xfrm>
            <a:off x="4023360" y="32004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way is “forward”; which motors are mounted mirrored</a:t>
            </a:r>
            <a:endParaRPr lang="en-US" sz="1500" dirty="0"/>
          </a:p>
        </p:txBody>
      </p:sp>
      <p:sp>
        <p:nvSpPr>
          <p:cNvPr id="16" name="hex 4"/>
          <p:cNvSpPr/>
          <p:nvPr/>
        </p:nvSpPr>
        <p:spPr>
          <a:xfrm>
            <a:off x="457200" y="4114800"/>
            <a:ext cx="685800" cy="685800"/>
          </a:xfrm>
          <a:prstGeom prst="hexagon">
            <a:avLst/>
          </a:prstGeom>
          <a:solidFill>
            <a:schemeClr val="bg1"/>
          </a:solidFill>
          <a:ln w="25400">
            <a:solidFill>
              <a:schemeClr val="accent1"/>
            </a:solidFill>
            <a:prstDash val="solid"/>
          </a:ln>
        </p:spPr>
      </p:sp>
      <p:sp>
        <p:nvSpPr>
          <p:cNvPr id="17" name="hex label 4"/>
          <p:cNvSpPr txBox="1"/>
          <p:nvPr/>
        </p:nvSpPr>
        <p:spPr>
          <a:xfrm>
            <a:off x="457200" y="41148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k3"/>
          <p:cNvSpPr txBox="1"/>
          <p:nvPr/>
        </p:nvSpPr>
        <p:spPr>
          <a:xfrm>
            <a:off x="1371600" y="41148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Control</a:t>
            </a:r>
            <a:endParaRPr lang="en-US" sz="2000" dirty="0"/>
          </a:p>
        </p:txBody>
      </p:sp>
      <p:sp>
        <p:nvSpPr>
          <p:cNvPr id="19" name="v3"/>
          <p:cNvSpPr txBox="1"/>
          <p:nvPr/>
        </p:nvSpPr>
        <p:spPr>
          <a:xfrm>
            <a:off x="4023360" y="41148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button or stick; toggle or hold; what happens on release</a:t>
            </a:r>
            <a:endParaRPr lang="en-US" sz="1500" dirty="0"/>
          </a:p>
        </p:txBody>
      </p:sp>
      <p:sp>
        <p:nvSpPr>
          <p:cNvPr id="20" name="hex 5"/>
          <p:cNvSpPr/>
          <p:nvPr/>
        </p:nvSpPr>
        <p:spPr>
          <a:xfrm>
            <a:off x="457200" y="5029200"/>
            <a:ext cx="685800" cy="685800"/>
          </a:xfrm>
          <a:prstGeom prst="hexagon">
            <a:avLst/>
          </a:prstGeom>
          <a:solidFill>
            <a:schemeClr val="bg1"/>
          </a:solidFill>
          <a:ln w="25400">
            <a:solidFill>
              <a:schemeClr val="accent1"/>
            </a:solidFill>
            <a:prstDash val="solid"/>
          </a:ln>
        </p:spPr>
      </p:sp>
      <p:sp>
        <p:nvSpPr>
          <p:cNvPr id="21" name="hex label 5"/>
          <p:cNvSpPr txBox="1"/>
          <p:nvPr/>
        </p:nvSpPr>
        <p:spPr>
          <a:xfrm>
            <a:off x="457200" y="50292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2" name="k4"/>
          <p:cNvSpPr txBox="1"/>
          <p:nvPr/>
        </p:nvSpPr>
        <p:spPr>
          <a:xfrm>
            <a:off x="1371600" y="50292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Timing and order</a:t>
            </a:r>
            <a:endParaRPr lang="en-US" sz="2000" dirty="0"/>
          </a:p>
        </p:txBody>
      </p:sp>
      <p:sp>
        <p:nvSpPr>
          <p:cNvPr id="23" name="v4"/>
          <p:cNvSpPr txBox="1"/>
          <p:nvPr/>
        </p:nvSpPr>
        <p:spPr>
          <a:xfrm>
            <a:off x="4023360" y="50292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has to happen before what, and for how long</a:t>
            </a:r>
            <a:endParaRPr lang="en-US" sz="1500" dirty="0"/>
          </a:p>
        </p:txBody>
      </p:sp>
      <p:sp>
        <p:nvSpPr>
          <p:cNvPr id="24"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500" b="1" dirty="0">
                <a:solidFill>
                  <a:schemeClr val="accent1"/>
                </a:solidFill>
              </a:rPr>
              <a:t>Anything you leave out, Gemini guesses.</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Vague vs. specific</a:t>
            </a:r>
            <a:endParaRPr lang="en-US" sz="3200" dirty="0"/>
          </a:p>
        </p:txBody>
      </p:sp>
      <p:sp>
        <p:nvSpPr>
          <p:cNvPr id="4" name="vague card"/>
          <p:cNvSpPr/>
          <p:nvPr/>
        </p:nvSpPr>
        <p:spPr>
          <a:xfrm>
            <a:off x="457200" y="1325880"/>
            <a:ext cx="3108960" cy="4480560"/>
          </a:xfrm>
          <a:prstGeom prst="roundRect">
            <a:avLst>
              <a:gd name="adj" fmla="val 3529"/>
            </a:avLst>
          </a:prstGeom>
          <a:solidFill>
            <a:schemeClr val="bg2"/>
          </a:solidFill>
          <a:ln w="12700">
            <a:solidFill>
              <a:schemeClr val="bg2"/>
            </a:solidFill>
            <a:prstDash val="solid"/>
          </a:ln>
        </p:spPr>
      </p:sp>
      <p:sp>
        <p:nvSpPr>
          <p:cNvPr id="5" name="vague head"/>
          <p:cNvSpPr txBox="1"/>
          <p:nvPr/>
        </p:nvSpPr>
        <p:spPr>
          <a:xfrm>
            <a:off x="685800" y="1508760"/>
            <a:ext cx="2743200" cy="411480"/>
          </a:xfrm>
          <a:prstGeom prst="rect">
            <a:avLst/>
          </a:prstGeom>
          <a:noFill/>
          <a:ln/>
        </p:spPr>
        <p:txBody>
          <a:bodyPr wrap="square" lIns="0" tIns="0" rIns="0" bIns="0" rtlCol="0" anchor="t"/>
          <a:lstStyle/>
          <a:p>
            <a:pPr indent="0" marL="0">
              <a:buNone/>
            </a:pPr>
            <a:r>
              <a:rPr lang="en-US" sz="1800" b="1" dirty="0">
                <a:solidFill>
                  <a:schemeClr val="accent4"/>
                </a:solidFill>
              </a:rPr>
              <a:t>Vague</a:t>
            </a:r>
            <a:endParaRPr lang="en-US" sz="1800" dirty="0"/>
          </a:p>
        </p:txBody>
      </p:sp>
      <p:sp>
        <p:nvSpPr>
          <p:cNvPr id="6" name="vague text"/>
          <p:cNvSpPr txBox="1"/>
          <p:nvPr/>
        </p:nvSpPr>
        <p:spPr>
          <a:xfrm>
            <a:off x="685800" y="2103120"/>
            <a:ext cx="2651760" cy="914400"/>
          </a:xfrm>
          <a:prstGeom prst="rect">
            <a:avLst/>
          </a:prstGeom>
          <a:noFill/>
          <a:ln/>
        </p:spPr>
        <p:txBody>
          <a:bodyPr wrap="square" lIns="0" tIns="0" rIns="0" bIns="0" rtlCol="0" anchor="t"/>
          <a:lstStyle/>
          <a:p>
            <a:pPr indent="0" marL="0">
              <a:buNone/>
            </a:pPr>
            <a:r>
              <a:rPr lang="en-US" sz="2200" i="1" dirty="0">
                <a:solidFill>
                  <a:schemeClr val="tx1"/>
                </a:solidFill>
              </a:rPr>
              <a:t>“Add a shooter.”</a:t>
            </a:r>
            <a:endParaRPr lang="en-US" sz="2200" dirty="0"/>
          </a:p>
        </p:txBody>
      </p:sp>
      <p:sp>
        <p:nvSpPr>
          <p:cNvPr id="7" name="vague guesses"/>
          <p:cNvSpPr txBox="1"/>
          <p:nvPr/>
        </p:nvSpPr>
        <p:spPr>
          <a:xfrm>
            <a:off x="685800" y="3291840"/>
            <a:ext cx="2651760" cy="2194560"/>
          </a:xfrm>
          <a:prstGeom prst="rect">
            <a:avLst/>
          </a:prstGeom>
          <a:noFill/>
          <a:ln/>
        </p:spPr>
        <p:txBody>
          <a:bodyPr wrap="square" lIns="0" tIns="0" rIns="0" bIns="0" rtlCol="0" anchor="t"/>
          <a:lstStyle/>
          <a:p>
            <a:pPr indent="0" marL="0">
              <a:buNone/>
            </a:pPr>
            <a:r>
              <a:rPr lang="en-US" sz="1300" dirty="0">
                <a:solidFill>
                  <a:schemeClr val="tx2"/>
                </a:solidFill>
              </a:rPr>
              <a:t>Which motor? Which way? Which button? Toggle or hold? What happens first?</a:t>
            </a:r>
            <a:endParaRPr lang="en-US" sz="1300" dirty="0"/>
          </a:p>
        </p:txBody>
      </p:sp>
      <p:sp>
        <p:nvSpPr>
          <p:cNvPr id="8" name="specific card"/>
          <p:cNvSpPr/>
          <p:nvPr/>
        </p:nvSpPr>
        <p:spPr>
          <a:xfrm>
            <a:off x="3840480" y="1325880"/>
            <a:ext cx="7891272" cy="2331720"/>
          </a:xfrm>
          <a:prstGeom prst="roundRect">
            <a:avLst>
              <a:gd name="adj" fmla="val 4706"/>
            </a:avLst>
          </a:prstGeom>
          <a:solidFill>
            <a:schemeClr val="bg2"/>
          </a:solidFill>
          <a:ln w="12700">
            <a:solidFill>
              <a:schemeClr val="bg2"/>
            </a:solidFill>
            <a:prstDash val="solid"/>
          </a:ln>
        </p:spPr>
      </p:sp>
      <p:sp>
        <p:nvSpPr>
          <p:cNvPr id="9" name="spec head"/>
          <p:cNvSpPr txBox="1"/>
          <p:nvPr/>
        </p:nvSpPr>
        <p:spPr>
          <a:xfrm>
            <a:off x="4069080" y="1463040"/>
            <a:ext cx="2743200" cy="365760"/>
          </a:xfrm>
          <a:prstGeom prst="rect">
            <a:avLst/>
          </a:prstGeom>
          <a:noFill/>
          <a:ln/>
        </p:spPr>
        <p:txBody>
          <a:bodyPr wrap="square" lIns="0" tIns="0" rIns="0" bIns="0" rtlCol="0" anchor="t"/>
          <a:lstStyle/>
          <a:p>
            <a:pPr indent="0" marL="0">
              <a:buNone/>
            </a:pPr>
            <a:r>
              <a:rPr lang="en-US" sz="1800" b="1" dirty="0">
                <a:solidFill>
                  <a:schemeClr val="accent3"/>
                </a:solidFill>
              </a:rPr>
              <a:t>Specific</a:t>
            </a:r>
            <a:endParaRPr lang="en-US" sz="1800" dirty="0"/>
          </a:p>
        </p:txBody>
      </p:sp>
      <p:sp>
        <p:nvSpPr>
          <p:cNvPr id="10" name="spec text"/>
          <p:cNvSpPr txBox="1"/>
          <p:nvPr/>
        </p:nvSpPr>
        <p:spPr>
          <a:xfrm>
            <a:off x="4069080" y="1874520"/>
            <a:ext cx="7452360" cy="1737360"/>
          </a:xfrm>
          <a:prstGeom prst="rect">
            <a:avLst/>
          </a:prstGeom>
          <a:noFill/>
          <a:ln/>
        </p:spPr>
        <p:txBody>
          <a:bodyPr wrap="square" lIns="0" tIns="0" rIns="0" bIns="0" rtlCol="0" anchor="t"/>
          <a:lstStyle/>
          <a:p>
            <a:pPr indent="0" marL="0">
              <a:buNone/>
            </a:pPr>
            <a:r>
              <a:rPr lang="en-US" sz="1250" i="1" dirty="0">
                <a:solidFill>
                  <a:schemeClr val="tx1"/>
                </a:solidFill>
              </a:rPr>
              <a:t>“One motor named flywheel, reversed. Pressing B runs the flywheel and intake backward at −0.5 for 200 ms to clear a jammed ball, stops everything for 300 ms, then runs the flywheel forward at full power and keeps it there. Pressing B again stops it. While it's running and right bumper is held, pulse the intake 100 ms on at 0.5, 200 ms off, so balls feed one at a time.”</a:t>
            </a:r>
            <a:endParaRPr lang="en-US" sz="1250" dirty="0"/>
          </a:p>
        </p:txBody>
      </p:sp>
      <p:sp>
        <p:nvSpPr>
          <p:cNvPr id="11" name="real card"/>
          <p:cNvSpPr/>
          <p:nvPr/>
        </p:nvSpPr>
        <p:spPr>
          <a:xfrm>
            <a:off x="3840480" y="3840480"/>
            <a:ext cx="7891272" cy="1965960"/>
          </a:xfrm>
          <a:prstGeom prst="roundRect">
            <a:avLst>
              <a:gd name="adj" fmla="val 5581"/>
            </a:avLst>
          </a:prstGeom>
          <a:solidFill>
            <a:schemeClr val="bg2"/>
          </a:solidFill>
          <a:ln w="12700">
            <a:solidFill>
              <a:schemeClr val="bg2"/>
            </a:solidFill>
            <a:prstDash val="solid"/>
          </a:ln>
        </p:spPr>
      </p:sp>
      <p:sp>
        <p:nvSpPr>
          <p:cNvPr id="12" name="real head"/>
          <p:cNvSpPr txBox="1"/>
          <p:nvPr/>
        </p:nvSpPr>
        <p:spPr>
          <a:xfrm>
            <a:off x="4069080" y="3959352"/>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Real — called out from over the robot, verbatim</a:t>
            </a:r>
            <a:endParaRPr lang="en-US" sz="1800" dirty="0"/>
          </a:p>
        </p:txBody>
      </p:sp>
      <p:sp>
        <p:nvSpPr>
          <p:cNvPr id="13" name="real text"/>
          <p:cNvSpPr txBox="1"/>
          <p:nvPr/>
        </p:nvSpPr>
        <p:spPr>
          <a:xfrm>
            <a:off x="4069080" y="4370832"/>
            <a:ext cx="7452360" cy="1005840"/>
          </a:xfrm>
          <a:prstGeom prst="rect">
            <a:avLst/>
          </a:prstGeom>
          <a:noFill/>
          <a:ln/>
        </p:spPr>
        <p:txBody>
          <a:bodyPr wrap="square" lIns="0" tIns="0" rIns="0" bIns="0" rtlCol="0" anchor="t"/>
          <a:lstStyle/>
          <a:p>
            <a:pPr indent="0" marL="0">
              <a:buNone/>
            </a:pPr>
            <a:r>
              <a:rPr lang="en-US" sz="1350" i="1" dirty="0">
                <a:solidFill>
                  <a:schemeClr val="tx1"/>
                </a:solidFill>
              </a:rPr>
              <a:t>“When I start up the flywheel, I want the process to continue to do the reverse function. But then I don't want the intake to resume. I want the intake to stop (whether it was stopped or running).”</a:t>
            </a:r>
            <a:endParaRPr lang="en-US" sz="1350" dirty="0"/>
          </a:p>
        </p:txBody>
      </p:sp>
      <p:sp>
        <p:nvSpPr>
          <p:cNvPr id="14" name="real note"/>
          <p:cNvSpPr txBox="1"/>
          <p:nvPr/>
        </p:nvSpPr>
        <p:spPr>
          <a:xfrm>
            <a:off x="4069080" y="5394960"/>
            <a:ext cx="7315200" cy="320040"/>
          </a:xfrm>
          <a:prstGeom prst="rect">
            <a:avLst/>
          </a:prstGeom>
          <a:noFill/>
          <a:ln/>
        </p:spPr>
        <p:txBody>
          <a:bodyPr wrap="square" lIns="0" tIns="0" rIns="0" bIns="0" rtlCol="0" anchor="t"/>
          <a:lstStyle/>
          <a:p>
            <a:pPr indent="0" marL="0">
              <a:buNone/>
            </a:pPr>
            <a:r>
              <a:rPr lang="en-US" sz="1200" dirty="0">
                <a:solidFill>
                  <a:schemeClr val="tx2"/>
                </a:solidFill>
              </a:rPr>
              <a:t>No code words. A sequence. One-line fix in Intake.java.</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Now watch it happen</a:t>
            </a:r>
            <a:endParaRPr lang="en-US" sz="3200" dirty="0"/>
          </a:p>
        </p:txBody>
      </p:sp>
      <p:pic>
        <p:nvPicPr>
          <p:cNvPr id="4" name="tank drive screenshot" descr="/home/claude/teaching-ai-coding/docs/images/android-studio-tank-drive-prompt.png">    </p:cNvPr>
          <p:cNvPicPr>
            <a:picLocks noChangeAspect="1"/>
          </p:cNvPicPr>
          <p:nvPr/>
        </p:nvPicPr>
        <p:blipFill>
          <a:blip r:embed="rId1"/>
          <a:stretch>
            <a:fillRect/>
          </a:stretch>
        </p:blipFill>
        <p:spPr>
          <a:xfrm>
            <a:off x="457200" y="1325880"/>
            <a:ext cx="7680960" cy="4562856"/>
          </a:xfrm>
          <a:prstGeom prst="rect">
            <a:avLst/>
          </a:prstGeom>
        </p:spPr>
      </p:pic>
      <p:sp>
        <p:nvSpPr>
          <p:cNvPr id="5" name="demo caption"/>
          <p:cNvSpPr txBox="1"/>
          <p:nvPr/>
        </p:nvSpPr>
        <p:spPr>
          <a:xfrm>
            <a:off x="8412480" y="1325880"/>
            <a:ext cx="3319272" cy="1463040"/>
          </a:xfrm>
          <a:prstGeom prst="rect">
            <a:avLst/>
          </a:prstGeom>
          <a:noFill/>
          <a:ln/>
        </p:spPr>
        <p:txBody>
          <a:bodyPr wrap="square" lIns="0" tIns="0" rIns="0" bIns="0" rtlCol="0" anchor="t"/>
          <a:lstStyle/>
          <a:p>
            <a:pPr indent="0" marL="0">
              <a:buNone/>
            </a:pPr>
            <a:r>
              <a:rPr lang="en-US" sz="1500" dirty="0">
                <a:solidFill>
                  <a:schemeClr val="tx1"/>
                </a:solidFill>
              </a:rPr>
              <a:t>The mentors' tank-drive prompt, as typed, and the code it produced. You're about to see the same thing live.</a:t>
            </a:r>
            <a:endParaRPr lang="en-US" sz="1500" dirty="0"/>
          </a:p>
        </p:txBody>
      </p:sp>
      <p:sp>
        <p:nvSpPr>
          <p:cNvPr id="6" name="demo steps"/>
          <p:cNvSpPr txBox="1"/>
          <p:nvPr/>
        </p:nvSpPr>
        <p:spPr>
          <a:xfrm>
            <a:off x="8412480" y="2926080"/>
            <a:ext cx="3319272"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Description already sent</a:t>
            </a:r>
            <a:endParaRPr lang="en-US" sz="1400" dirty="0"/>
          </a:p>
          <a:p>
            <a:pPr marL="342900" indent="-342900">
              <a:spcAft>
                <a:spcPts val="600"/>
              </a:spcAft>
              <a:buSzPct val="100000"/>
              <a:buChar char="•"/>
            </a:pPr>
            <a:r>
              <a:rPr lang="en-US" sz="1400" dirty="0">
                <a:solidFill>
                  <a:schemeClr val="tx2"/>
                </a:solidFill>
              </a:rPr>
              <a:t>Drive prompt, live</a:t>
            </a:r>
            <a:endParaRPr lang="en-US" sz="1400" dirty="0"/>
          </a:p>
          <a:p>
            <a:pPr marL="342900" indent="-342900">
              <a:spcAft>
                <a:spcPts val="600"/>
              </a:spcAft>
              <a:buSzPct val="100000"/>
              <a:buChar char="•"/>
            </a:pPr>
            <a:r>
              <a:rPr lang="en-US" sz="1400" dirty="0">
                <a:solidFill>
                  <a:schemeClr val="tx2"/>
                </a:solidFill>
              </a:rPr>
              <a:t>Read the code: names match</a:t>
            </a:r>
            <a:endParaRPr lang="en-US" sz="1400" dirty="0"/>
          </a:p>
          <a:p>
            <a:pPr marL="342900" indent="-342900">
              <a:spcAft>
                <a:spcPts val="600"/>
              </a:spcAft>
              <a:buSzPct val="100000"/>
              <a:buChar char="•"/>
            </a:pPr>
            <a:r>
              <a:rPr lang="en-US" sz="1400" dirty="0">
                <a:solidFill>
                  <a:schemeClr val="tx2"/>
                </a:solidFill>
              </a:rPr>
              <a:t>Build, deploy, drive</a:t>
            </a:r>
            <a:endParaRPr lang="en-US" sz="1400" dirty="0"/>
          </a:p>
          <a:p>
            <a:pPr marL="342900" indent="-342900">
              <a:spcAft>
                <a:spcPts val="600"/>
              </a:spcAft>
              <a:buSzPct val="100000"/>
              <a:buChar char="•"/>
            </a:pPr>
            <a:r>
              <a:rPr lang="en-US" sz="1400" dirty="0">
                <a:solidFill>
                  <a:schemeClr val="tx2"/>
                </a:solidFill>
              </a:rPr>
              <a:t>Refine: the real strafe fix</a:t>
            </a:r>
            <a:endParaRPr lang="en-US" sz="1400" dirty="0"/>
          </a:p>
          <a:p>
            <a:pPr marL="342900" indent="-342900">
              <a:spcAft>
                <a:spcPts val="600"/>
              </a:spcAft>
              <a:buSzPct val="100000"/>
              <a:buChar char="•"/>
            </a:pPr>
            <a:r>
              <a:rPr lang="en-US" sz="1400" dirty="0">
                <a:solidFill>
                  <a:schemeClr val="tx2"/>
                </a:solidFill>
              </a:rPr>
              <a:t>Deploy, drive again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Where it goes wrong — and the fix</a:t>
            </a:r>
            <a:endParaRPr lang="en-US" sz="32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2834640"/>
                <a:gridCol w="2743200"/>
                <a:gridCol w="5696712"/>
              </a:tblGrid>
              <a:tr h="502920">
                <a:tc>
                  <a:txBody>
                    <a:bodyPr/>
                    <a:lstStyle/>
                    <a:p>
                      <a:pPr indent="0" marL="0">
                        <a:buNone/>
                      </a:pPr>
                      <a:r>
                        <a:rPr lang="en-US" sz="1500" b="1" dirty="0">
                          <a:solidFill>
                            <a:srgbClr val="F9BE14"/>
                          </a:solidFill>
                        </a:rPr>
                        <a:t>Symptom</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Cause</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Fix</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r>
              <a:tr h="502920">
                <a:tc>
                  <a:txBody>
                    <a:bodyPr/>
                    <a:lstStyle/>
                    <a:p>
                      <a:pPr indent="0" marL="0">
                        <a:buNone/>
                      </a:pPr>
                      <a:r>
                        <a:rPr lang="en-US" sz="1300" dirty="0">
                          <a:solidFill>
                            <a:srgbClr val="FFFFFF"/>
                          </a:solidFill>
                        </a:rPr>
                        <a:t>Won't compile: “cannot find symbol”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invented a name</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Paste the error back: “Fix this compile error”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Strafe is mirrored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Mecanum mixing signs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“holding both joysticks left made the robot strafe right, and vice versa. please fix”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Flywheel startup spits balls out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Reverse bump too long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“what is the current time of spinning the motors back…? it is spitting balls out, so i would like to shorten it”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Two controls on one button</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Control scheme drifted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“I thought gamepad 1 dpad was slow mode, not tuning the flywheel.”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drives the intake through a fake gamepad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Nobody told Gemini an autonomous was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Say it up front: “An autonomous will use this class later — put the behavior in plain methods.” Gemini takes the expedient route unless you say what's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runs over 30 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was told the limit; nobody saw the sum</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“Add up every state's duration and tell me the worst-case run time.” Then cut one number.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Gemini rewrote everything, broke what worked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Didn't say “only change 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“Only change the intake section. Leave the drive code as is.”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bl>
          </a:graphicData>
        </a:graphic>
      </p:graphicFrame>
      <p:sp>
        <p:nvSpPr>
          <p:cNvPr id="5"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400" b="1" dirty="0">
                <a:solidFill>
                  <a:schemeClr val="accent1"/>
                </a:solidFill>
              </a:rPr>
              <a:t>When it's wrong, the description was missing something. Say the missing thing.</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Running this with your team</a:t>
            </a:r>
            <a:endParaRPr lang="en-US" sz="3200" dirty="0"/>
          </a:p>
        </p:txBody>
      </p:sp>
      <p:sp>
        <p:nvSpPr>
          <p:cNvPr id="4" name="role Describer"/>
          <p:cNvSpPr/>
          <p:nvPr/>
        </p:nvSpPr>
        <p:spPr>
          <a:xfrm>
            <a:off x="457200" y="1325880"/>
            <a:ext cx="2651760" cy="2743200"/>
          </a:xfrm>
          <a:prstGeom prst="roundRect">
            <a:avLst>
              <a:gd name="adj" fmla="val 4138"/>
            </a:avLst>
          </a:prstGeom>
          <a:solidFill>
            <a:schemeClr val="bg2"/>
          </a:solidFill>
          <a:ln w="12700">
            <a:solidFill>
              <a:schemeClr val="bg2"/>
            </a:solidFill>
            <a:prstDash val="solid"/>
          </a:ln>
        </p:spPr>
      </p:sp>
      <p:sp>
        <p:nvSpPr>
          <p:cNvPr id="5" name="role head Describer"/>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Describer</a:t>
            </a:r>
            <a:endParaRPr lang="en-US" sz="2000" dirty="0"/>
          </a:p>
        </p:txBody>
      </p:sp>
      <p:sp>
        <p:nvSpPr>
          <p:cNvPr id="6" name="role text Describer"/>
          <p:cNvSpPr txBox="1"/>
          <p:nvPr/>
        </p:nvSpPr>
        <p:spPr>
          <a:xfrm>
            <a:off x="64008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Whoever knows the robot best says what to change. They can type it or someone else can — what matters is whose words they are.</a:t>
            </a:r>
            <a:endParaRPr lang="en-US" sz="1300" dirty="0"/>
          </a:p>
        </p:txBody>
      </p:sp>
      <p:sp>
        <p:nvSpPr>
          <p:cNvPr id="7" name="role Tester"/>
          <p:cNvSpPr/>
          <p:nvPr/>
        </p:nvSpPr>
        <p:spPr>
          <a:xfrm>
            <a:off x="3291840" y="1325880"/>
            <a:ext cx="2651760" cy="2743200"/>
          </a:xfrm>
          <a:prstGeom prst="roundRect">
            <a:avLst>
              <a:gd name="adj" fmla="val 4138"/>
            </a:avLst>
          </a:prstGeom>
          <a:solidFill>
            <a:schemeClr val="bg2"/>
          </a:solidFill>
          <a:ln w="12700">
            <a:solidFill>
              <a:schemeClr val="bg2"/>
            </a:solidFill>
            <a:prstDash val="solid"/>
          </a:ln>
        </p:spPr>
      </p:sp>
      <p:sp>
        <p:nvSpPr>
          <p:cNvPr id="8" name="role head Tester"/>
          <p:cNvSpPr txBox="1"/>
          <p:nvPr/>
        </p:nvSpPr>
        <p:spPr>
          <a:xfrm>
            <a:off x="347472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Tester</a:t>
            </a:r>
            <a:endParaRPr lang="en-US" sz="2000" dirty="0"/>
          </a:p>
        </p:txBody>
      </p:sp>
      <p:sp>
        <p:nvSpPr>
          <p:cNvPr id="9" name="role text Tester"/>
          <p:cNvSpPr txBox="1"/>
          <p:nvPr/>
        </p:nvSpPr>
        <p:spPr>
          <a:xfrm>
            <a:off x="347472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Deploys and drives. Says exactly what happened.</a:t>
            </a:r>
            <a:endParaRPr lang="en-US" sz="1300" dirty="0"/>
          </a:p>
        </p:txBody>
      </p:sp>
      <p:sp>
        <p:nvSpPr>
          <p:cNvPr id="10" name="role Reader"/>
          <p:cNvSpPr/>
          <p:nvPr/>
        </p:nvSpPr>
        <p:spPr>
          <a:xfrm>
            <a:off x="6126480" y="1325880"/>
            <a:ext cx="2651760" cy="2743200"/>
          </a:xfrm>
          <a:prstGeom prst="roundRect">
            <a:avLst>
              <a:gd name="adj" fmla="val 4138"/>
            </a:avLst>
          </a:prstGeom>
          <a:solidFill>
            <a:schemeClr val="bg2"/>
          </a:solidFill>
          <a:ln w="12700">
            <a:solidFill>
              <a:schemeClr val="bg2"/>
            </a:solidFill>
            <a:prstDash val="solid"/>
          </a:ln>
        </p:spPr>
      </p:sp>
      <p:sp>
        <p:nvSpPr>
          <p:cNvPr id="11" name="role head Reader"/>
          <p:cNvSpPr txBox="1"/>
          <p:nvPr/>
        </p:nvSpPr>
        <p:spPr>
          <a:xfrm>
            <a:off x="630936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Reader</a:t>
            </a:r>
            <a:endParaRPr lang="en-US" sz="2000" dirty="0"/>
          </a:p>
        </p:txBody>
      </p:sp>
      <p:sp>
        <p:nvSpPr>
          <p:cNvPr id="12" name="role text Reader"/>
          <p:cNvSpPr txBox="1"/>
          <p:nvPr/>
        </p:nvSpPr>
        <p:spPr>
          <a:xfrm>
            <a:off x="630936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Reads the generated code aloud and explains it. This is where the learning happens.</a:t>
            </a:r>
            <a:endParaRPr lang="en-US" sz="1300" dirty="0"/>
          </a:p>
        </p:txBody>
      </p:sp>
      <p:sp>
        <p:nvSpPr>
          <p:cNvPr id="13" name="role Coach"/>
          <p:cNvSpPr/>
          <p:nvPr/>
        </p:nvSpPr>
        <p:spPr>
          <a:xfrm>
            <a:off x="8961120" y="1325880"/>
            <a:ext cx="2651760" cy="2743200"/>
          </a:xfrm>
          <a:prstGeom prst="roundRect">
            <a:avLst>
              <a:gd name="adj" fmla="val 4138"/>
            </a:avLst>
          </a:prstGeom>
          <a:solidFill>
            <a:schemeClr val="bg2"/>
          </a:solidFill>
          <a:ln w="12700">
            <a:solidFill>
              <a:schemeClr val="bg2"/>
            </a:solidFill>
            <a:prstDash val="solid"/>
          </a:ln>
        </p:spPr>
      </p:sp>
      <p:sp>
        <p:nvSpPr>
          <p:cNvPr id="14" name="role head Coach"/>
          <p:cNvSpPr txBox="1"/>
          <p:nvPr/>
        </p:nvSpPr>
        <p:spPr>
          <a:xfrm>
            <a:off x="914400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Coach</a:t>
            </a:r>
            <a:endParaRPr lang="en-US" sz="2000" dirty="0"/>
          </a:p>
        </p:txBody>
      </p:sp>
      <p:sp>
        <p:nvSpPr>
          <p:cNvPr id="15" name="role text Coach"/>
          <p:cNvSpPr txBox="1"/>
          <p:nvPr/>
        </p:nvSpPr>
        <p:spPr>
          <a:xfrm>
            <a:off x="914400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Asks “what did you tell it?” when something breaks. Doesn't type.</a:t>
            </a:r>
            <a:endParaRPr lang="en-US" sz="1300" dirty="0"/>
          </a:p>
        </p:txBody>
      </p:sp>
      <p:sp>
        <p:nvSpPr>
          <p:cNvPr id="16" name="rules head"/>
          <p:cNvSpPr txBox="1"/>
          <p:nvPr/>
        </p:nvSpPr>
        <p:spPr>
          <a:xfrm>
            <a:off x="457200" y="4297680"/>
            <a:ext cx="3657600" cy="365760"/>
          </a:xfrm>
          <a:prstGeom prst="rect">
            <a:avLst/>
          </a:prstGeom>
          <a:noFill/>
          <a:ln/>
        </p:spPr>
        <p:txBody>
          <a:bodyPr wrap="square" lIns="0" tIns="0" rIns="0" bIns="0" rtlCol="0" anchor="t"/>
          <a:lstStyle/>
          <a:p>
            <a:pPr indent="0" marL="0">
              <a:buNone/>
            </a:pPr>
            <a:r>
              <a:rPr lang="en-US" sz="1800" b="1" dirty="0">
                <a:solidFill>
                  <a:schemeClr val="tx1"/>
                </a:solidFill>
              </a:rPr>
              <a:t>Ground rules</a:t>
            </a:r>
            <a:endParaRPr lang="en-US" sz="1800" dirty="0"/>
          </a:p>
        </p:txBody>
      </p:sp>
      <p:sp>
        <p:nvSpPr>
          <p:cNvPr id="17" name="rules"/>
          <p:cNvSpPr txBox="1"/>
          <p:nvPr/>
        </p:nvSpPr>
        <p:spPr>
          <a:xfrm>
            <a:off x="457200" y="4709160"/>
            <a:ext cx="1124712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One change per prompt. Test after every change.</a:t>
            </a:r>
            <a:endParaRPr lang="en-US" sz="1400" dirty="0"/>
          </a:p>
          <a:p>
            <a:pPr marL="342900" indent="-342900">
              <a:spcAft>
                <a:spcPts val="400"/>
              </a:spcAft>
              <a:buSzPct val="100000"/>
              <a:buChar char="•"/>
            </a:pPr>
            <a:r>
              <a:rPr lang="en-US" sz="1400" dirty="0">
                <a:solidFill>
                  <a:schemeClr val="tx1"/>
                </a:solidFill>
              </a:rPr>
              <a:t>Commit (or copy the file) after every working test.</a:t>
            </a:r>
            <a:endParaRPr lang="en-US" sz="1400" dirty="0"/>
          </a:p>
          <a:p>
            <a:pPr marL="342900" indent="-342900">
              <a:spcAft>
                <a:spcPts val="400"/>
              </a:spcAft>
              <a:buSzPct val="100000"/>
              <a:buChar char="•"/>
            </a:pPr>
            <a:r>
              <a:rPr lang="en-US" sz="1400" dirty="0">
                <a:solidFill>
                  <a:schemeClr val="tx1"/>
                </a:solidFill>
              </a:rPr>
              <a:t>If Gemini rewrites something that worked, say “only change X.”</a:t>
            </a:r>
            <a:endParaRPr lang="en-US" sz="1400" dirty="0"/>
          </a:p>
          <a:p>
            <a:pPr marL="342900" indent="-342900">
              <a:spcAft>
                <a:spcPts val="400"/>
              </a:spcAft>
              <a:buSzPct val="100000"/>
              <a:buChar char="•"/>
            </a:pPr>
            <a:r>
              <a:rPr lang="en-US" sz="1400" dirty="0">
                <a:solidFill>
                  <a:schemeClr val="tx1"/>
                </a:solidFill>
              </a:rPr>
              <a:t>The Reader has to be able to explain the code before the team moves on.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you need to start</a:t>
            </a:r>
            <a:endParaRPr lang="en-US" sz="3200" dirty="0"/>
          </a:p>
        </p:txBody>
      </p:sp>
      <p:sp>
        <p:nvSpPr>
          <p:cNvPr id="4" name="check 0"/>
          <p:cNvSpPr/>
          <p:nvPr/>
        </p:nvSpPr>
        <p:spPr>
          <a:xfrm>
            <a:off x="457200" y="1481328"/>
            <a:ext cx="384048" cy="384048"/>
          </a:xfrm>
          <a:prstGeom prst="hexagon">
            <a:avLst/>
          </a:prstGeom>
          <a:solidFill>
            <a:schemeClr val="bg1"/>
          </a:solidFill>
          <a:ln w="19050">
            <a:solidFill>
              <a:schemeClr val="accent1"/>
            </a:solidFill>
            <a:prstDash val="solid"/>
          </a:ln>
        </p:spPr>
      </p:sp>
      <p:sp>
        <p:nvSpPr>
          <p:cNvPr id="5" name="need 0"/>
          <p:cNvSpPr txBox="1"/>
          <p:nvPr/>
        </p:nvSpPr>
        <p:spPr>
          <a:xfrm>
            <a:off x="1051560" y="1371600"/>
            <a:ext cx="6949440" cy="603504"/>
          </a:xfrm>
          <a:prstGeom prst="rect">
            <a:avLst/>
          </a:prstGeom>
          <a:noFill/>
          <a:ln/>
        </p:spPr>
        <p:txBody>
          <a:bodyPr wrap="square" lIns="0" tIns="0" rIns="0" bIns="0" rtlCol="0" anchor="ctr"/>
          <a:lstStyle/>
          <a:p>
            <a:pPr indent="0" marL="0">
              <a:buNone/>
            </a:pPr>
            <a:r>
              <a:rPr lang="en-US" sz="1600" dirty="0">
                <a:solidFill>
                  <a:schemeClr val="tx1"/>
                </a:solidFill>
              </a:rPr>
              <a:t>A laptop that runs Android Studio (Windows, Mac or Linux; 8 GB RAM minimum, 16 better)</a:t>
            </a:r>
            <a:endParaRPr lang="en-US" sz="1600" dirty="0"/>
          </a:p>
        </p:txBody>
      </p:sp>
      <p:sp>
        <p:nvSpPr>
          <p:cNvPr id="6" name="check 1"/>
          <p:cNvSpPr/>
          <p:nvPr/>
        </p:nvSpPr>
        <p:spPr>
          <a:xfrm>
            <a:off x="457200" y="2194560"/>
            <a:ext cx="384048" cy="384048"/>
          </a:xfrm>
          <a:prstGeom prst="hexagon">
            <a:avLst/>
          </a:prstGeom>
          <a:solidFill>
            <a:schemeClr val="bg1"/>
          </a:solidFill>
          <a:ln w="19050">
            <a:solidFill>
              <a:schemeClr val="accent1"/>
            </a:solidFill>
            <a:prstDash val="solid"/>
          </a:ln>
        </p:spPr>
      </p:sp>
      <p:sp>
        <p:nvSpPr>
          <p:cNvPr id="7" name="need 1"/>
          <p:cNvSpPr txBox="1"/>
          <p:nvPr/>
        </p:nvSpPr>
        <p:spPr>
          <a:xfrm>
            <a:off x="1051560" y="2084832"/>
            <a:ext cx="6949440" cy="603504"/>
          </a:xfrm>
          <a:prstGeom prst="rect">
            <a:avLst/>
          </a:prstGeom>
          <a:noFill/>
          <a:ln/>
        </p:spPr>
        <p:txBody>
          <a:bodyPr wrap="square" lIns="0" tIns="0" rIns="0" bIns="0" rtlCol="0" anchor="ctr"/>
          <a:lstStyle/>
          <a:p>
            <a:pPr indent="0" marL="0">
              <a:buNone/>
            </a:pPr>
            <a:r>
              <a:rPr lang="en-US" sz="1600" dirty="0">
                <a:solidFill>
                  <a:schemeClr val="tx1"/>
                </a:solidFill>
              </a:rPr>
              <a:t>A Google account signed in to Gemini in Android Studio</a:t>
            </a:r>
            <a:endParaRPr lang="en-US" sz="1600" dirty="0"/>
          </a:p>
        </p:txBody>
      </p:sp>
      <p:sp>
        <p:nvSpPr>
          <p:cNvPr id="8" name="check 2"/>
          <p:cNvSpPr/>
          <p:nvPr/>
        </p:nvSpPr>
        <p:spPr>
          <a:xfrm>
            <a:off x="457200" y="2907792"/>
            <a:ext cx="384048" cy="384048"/>
          </a:xfrm>
          <a:prstGeom prst="hexagon">
            <a:avLst/>
          </a:prstGeom>
          <a:solidFill>
            <a:schemeClr val="bg1"/>
          </a:solidFill>
          <a:ln w="19050">
            <a:solidFill>
              <a:schemeClr val="accent1"/>
            </a:solidFill>
            <a:prstDash val="solid"/>
          </a:ln>
        </p:spPr>
      </p:sp>
      <p:sp>
        <p:nvSpPr>
          <p:cNvPr id="9" name="need 2"/>
          <p:cNvSpPr txBox="1"/>
          <p:nvPr/>
        </p:nvSpPr>
        <p:spPr>
          <a:xfrm>
            <a:off x="1051560" y="2798064"/>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FtcRobotController project cloned</a:t>
            </a:r>
            <a:endParaRPr lang="en-US" sz="1600" dirty="0"/>
          </a:p>
        </p:txBody>
      </p:sp>
      <p:sp>
        <p:nvSpPr>
          <p:cNvPr id="10" name="check 3"/>
          <p:cNvSpPr/>
          <p:nvPr/>
        </p:nvSpPr>
        <p:spPr>
          <a:xfrm>
            <a:off x="457200" y="3621024"/>
            <a:ext cx="384048" cy="384048"/>
          </a:xfrm>
          <a:prstGeom prst="hexagon">
            <a:avLst/>
          </a:prstGeom>
          <a:solidFill>
            <a:schemeClr val="bg1"/>
          </a:solidFill>
          <a:ln w="19050">
            <a:solidFill>
              <a:schemeClr val="accent1"/>
            </a:solidFill>
            <a:prstDash val="solid"/>
          </a:ln>
        </p:spPr>
      </p:sp>
      <p:sp>
        <p:nvSpPr>
          <p:cNvPr id="11" name="need 3"/>
          <p:cNvSpPr txBox="1"/>
          <p:nvPr/>
        </p:nvSpPr>
        <p:spPr>
          <a:xfrm>
            <a:off x="1051560" y="3511296"/>
            <a:ext cx="6949440" cy="603504"/>
          </a:xfrm>
          <a:prstGeom prst="rect">
            <a:avLst/>
          </a:prstGeom>
          <a:noFill/>
          <a:ln/>
        </p:spPr>
        <p:txBody>
          <a:bodyPr wrap="square" lIns="0" tIns="0" rIns="0" bIns="0" rtlCol="0" anchor="ctr"/>
          <a:lstStyle/>
          <a:p>
            <a:pPr indent="0" marL="0">
              <a:buNone/>
            </a:pPr>
            <a:r>
              <a:rPr lang="en-US" sz="1600" dirty="0">
                <a:solidFill>
                  <a:schemeClr val="tx1"/>
                </a:solidFill>
              </a:rPr>
              <a:t>Your robot's hardware config done on the Driver Hub — names and ports</a:t>
            </a:r>
            <a:endParaRPr lang="en-US" sz="1600" dirty="0"/>
          </a:p>
        </p:txBody>
      </p:sp>
      <p:sp>
        <p:nvSpPr>
          <p:cNvPr id="12" name="check 4"/>
          <p:cNvSpPr/>
          <p:nvPr/>
        </p:nvSpPr>
        <p:spPr>
          <a:xfrm>
            <a:off x="457200" y="4334256"/>
            <a:ext cx="384048" cy="384048"/>
          </a:xfrm>
          <a:prstGeom prst="hexagon">
            <a:avLst/>
          </a:prstGeom>
          <a:solidFill>
            <a:schemeClr val="bg1"/>
          </a:solidFill>
          <a:ln w="19050">
            <a:solidFill>
              <a:schemeClr val="accent1"/>
            </a:solidFill>
            <a:prstDash val="solid"/>
          </a:ln>
        </p:spPr>
      </p:sp>
      <p:sp>
        <p:nvSpPr>
          <p:cNvPr id="13" name="need 4"/>
          <p:cNvSpPr txBox="1"/>
          <p:nvPr/>
        </p:nvSpPr>
        <p:spPr>
          <a:xfrm>
            <a:off x="1051560" y="4224528"/>
            <a:ext cx="6949440" cy="603504"/>
          </a:xfrm>
          <a:prstGeom prst="rect">
            <a:avLst/>
          </a:prstGeom>
          <a:noFill/>
          <a:ln/>
        </p:spPr>
        <p:txBody>
          <a:bodyPr wrap="square" lIns="0" tIns="0" rIns="0" bIns="0" rtlCol="0" anchor="ctr"/>
          <a:lstStyle/>
          <a:p>
            <a:pPr indent="0" marL="0">
              <a:buNone/>
            </a:pPr>
            <a:r>
              <a:rPr lang="en-US" sz="1600" dirty="0">
                <a:solidFill>
                  <a:schemeClr val="tx1"/>
                </a:solidFill>
              </a:rPr>
              <a:t>A written list of every motor and servo: name, port, purpose, direction</a:t>
            </a:r>
            <a:endParaRPr lang="en-US" sz="1600" dirty="0"/>
          </a:p>
        </p:txBody>
      </p:sp>
      <p:sp>
        <p:nvSpPr>
          <p:cNvPr id="14" name="check 5"/>
          <p:cNvSpPr/>
          <p:nvPr/>
        </p:nvSpPr>
        <p:spPr>
          <a:xfrm>
            <a:off x="457200" y="5047488"/>
            <a:ext cx="384048" cy="384048"/>
          </a:xfrm>
          <a:prstGeom prst="hexagon">
            <a:avLst/>
          </a:prstGeom>
          <a:solidFill>
            <a:schemeClr val="bg1"/>
          </a:solidFill>
          <a:ln w="19050">
            <a:solidFill>
              <a:schemeClr val="accent1"/>
            </a:solidFill>
            <a:prstDash val="solid"/>
          </a:ln>
        </p:spPr>
      </p:sp>
      <p:sp>
        <p:nvSpPr>
          <p:cNvPr id="15" name="need 5"/>
          <p:cNvSpPr txBox="1"/>
          <p:nvPr/>
        </p:nvSpPr>
        <p:spPr>
          <a:xfrm>
            <a:off x="1051560" y="4937760"/>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guide and videos: github.com/The-Hive-3747/Teaching-AI-Coding</a:t>
            </a:r>
            <a:endParaRPr lang="en-US" sz="1600" dirty="0"/>
          </a:p>
        </p:txBody>
      </p:sp>
      <p:sp>
        <p:nvSpPr>
          <p:cNvPr id="16" name="popups card"/>
          <p:cNvSpPr/>
          <p:nvPr/>
        </p:nvSpPr>
        <p:spPr>
          <a:xfrm>
            <a:off x="8412480" y="1371600"/>
            <a:ext cx="3319272" cy="4206240"/>
          </a:xfrm>
          <a:prstGeom prst="roundRect">
            <a:avLst>
              <a:gd name="adj" fmla="val 3306"/>
            </a:avLst>
          </a:prstGeom>
          <a:solidFill>
            <a:schemeClr val="bg2"/>
          </a:solidFill>
          <a:ln w="12700">
            <a:solidFill>
              <a:schemeClr val="bg2"/>
            </a:solidFill>
            <a:prstDash val="solid"/>
          </a:ln>
        </p:spPr>
      </p:sp>
      <p:sp>
        <p:nvSpPr>
          <p:cNvPr id="17" name="popups head"/>
          <p:cNvSpPr txBox="1"/>
          <p:nvPr/>
        </p:nvSpPr>
        <p:spPr>
          <a:xfrm>
            <a:off x="8595360" y="1508760"/>
            <a:ext cx="3017520" cy="640080"/>
          </a:xfrm>
          <a:prstGeom prst="rect">
            <a:avLst/>
          </a:prstGeom>
          <a:noFill/>
          <a:ln/>
        </p:spPr>
        <p:txBody>
          <a:bodyPr wrap="square" lIns="0" tIns="0" rIns="0" bIns="0" rtlCol="0" anchor="t"/>
          <a:lstStyle/>
          <a:p>
            <a:pPr indent="0" marL="0">
              <a:buNone/>
            </a:pPr>
            <a:r>
              <a:rPr lang="en-US" sz="1500" b="1" dirty="0">
                <a:solidFill>
                  <a:schemeClr val="accent1"/>
                </a:solidFill>
              </a:rPr>
              <a:t>First Gradle sync — three pop-ups</a:t>
            </a:r>
            <a:endParaRPr lang="en-US" sz="1500" dirty="0"/>
          </a:p>
        </p:txBody>
      </p:sp>
      <p:sp>
        <p:nvSpPr>
          <p:cNvPr id="18" name="popups"/>
          <p:cNvSpPr txBox="1"/>
          <p:nvPr/>
        </p:nvSpPr>
        <p:spPr>
          <a:xfrm>
            <a:off x="8595360" y="2194560"/>
            <a:ext cx="3017520" cy="3200400"/>
          </a:xfrm>
          <a:prstGeom prst="rect">
            <a:avLst/>
          </a:prstGeom>
          <a:noFill/>
          <a:ln/>
        </p:spPr>
        <p:txBody>
          <a:bodyPr wrap="square" lIns="0" tIns="0" rIns="0" bIns="0" rtlCol="0" anchor="t"/>
          <a:lstStyle/>
          <a:p>
            <a:pPr indent="0" marL="0">
              <a:buNone/>
            </a:pPr>
            <a:r>
              <a:rPr lang="en-US" sz="1400" b="1" dirty="0">
                <a:solidFill>
                  <a:schemeClr val="accent3"/>
                </a:solidFill>
              </a:rPr>
              <a:t>Accept</a:t>
            </a:r>
            <a:pPr indent="0" marL="0">
              <a:spcAft>
                <a:spcPts val="1000"/>
              </a:spcAft>
              <a:buNone/>
            </a:pPr>
            <a:r>
              <a:rPr lang="en-US" sz="1400" dirty="0">
                <a:solidFill>
                  <a:schemeClr val="tx1"/>
                </a:solidFill>
              </a:rPr>
              <a:t> the Daemon JVM toolchain migration</a:t>
            </a:r>
            <a:endParaRPr lang="en-US" sz="1400" dirty="0"/>
          </a:p>
          <a:p>
            <a:pPr indent="0" marL="0">
              <a:buNone/>
            </a:pPr>
            <a:r>
              <a:rPr lang="en-US" sz="1400" b="1" dirty="0">
                <a:solidFill>
                  <a:schemeClr val="accent4"/>
                </a:solidFill>
              </a:rPr>
              <a:t>Decline</a:t>
            </a:r>
            <a:pPr indent="0" marL="0">
              <a:spcAft>
                <a:spcPts val="1000"/>
              </a:spcAft>
              <a:buNone/>
            </a:pPr>
            <a:r>
              <a:rPr lang="en-US" sz="1400" dirty="0">
                <a:solidFill>
                  <a:schemeClr val="tx1"/>
                </a:solidFill>
              </a:rPr>
              <a:t> the Gradle / AGP upgrade — it breaks the FTC project</a:t>
            </a:r>
            <a:endParaRPr lang="en-US" sz="1400" dirty="0"/>
          </a:p>
          <a:p>
            <a:pPr indent="0" marL="0">
              <a:buNone/>
            </a:pPr>
            <a:r>
              <a:rPr lang="en-US" sz="1400" b="1" dirty="0">
                <a:solidFill>
                  <a:schemeClr val="accent3"/>
                </a:solidFill>
              </a:rPr>
              <a:t>Accept</a:t>
            </a:r>
            <a:pPr indent="0" marL="0">
              <a:buNone/>
            </a:pPr>
            <a:r>
              <a:rPr lang="en-US" sz="1400" dirty="0">
                <a:solidFill>
                  <a:schemeClr val="tx1"/>
                </a:solidFill>
              </a:rPr>
              <a:t> the Windows Defender exclusion, or builds crawl</a:t>
            </a:r>
            <a:endParaRPr lang="en-US" sz="1400" dirty="0"/>
          </a:p>
        </p:txBody>
      </p:sp>
      <p:sp>
        <p:nvSpPr>
          <p:cNvPr id="19" name="popups note"/>
          <p:cNvSpPr txBox="1"/>
          <p:nvPr/>
        </p:nvSpPr>
        <p:spPr>
          <a:xfrm>
            <a:off x="8595360" y="5120640"/>
            <a:ext cx="3017520" cy="365760"/>
          </a:xfrm>
          <a:prstGeom prst="rect">
            <a:avLst/>
          </a:prstGeom>
          <a:noFill/>
          <a:ln/>
        </p:spPr>
        <p:txBody>
          <a:bodyPr wrap="square" lIns="0" tIns="0" rIns="0" bIns="0" rtlCol="0" anchor="t"/>
          <a:lstStyle/>
          <a:p>
            <a:pPr indent="0" marL="0">
              <a:buNone/>
            </a:pPr>
            <a:r>
              <a:rPr lang="en-US" sz="1200" dirty="0">
                <a:solidFill>
                  <a:schemeClr val="tx2"/>
                </a:solidFill>
              </a:rPr>
              <a:t>Checkpoint 0 has all three.</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logo" descr="/home/claude/teaching-ai-coding/docs/images/hive-logo.png">    </p:cNvPr>
          <p:cNvPicPr>
            <a:picLocks noChangeAspect="1"/>
          </p:cNvPicPr>
          <p:nvPr/>
        </p:nvPicPr>
        <p:blipFill>
          <a:blip r:embed="rId1"/>
          <a:stretch>
            <a:fillRect/>
          </a:stretch>
        </p:blipFill>
        <p:spPr>
          <a:xfrm>
            <a:off x="7498080" y="3931920"/>
            <a:ext cx="4389120" cy="2468880"/>
          </a:xfrm>
          <a:prstGeom prst="rect">
            <a:avLst/>
          </a:prstGeom>
        </p:spPr>
      </p:pic>
      <p:sp>
        <p:nvSpPr>
          <p:cNvPr id="3" name="close"/>
          <p:cNvSpPr txBox="1"/>
          <p:nvPr/>
        </p:nvSpPr>
        <p:spPr>
          <a:xfrm>
            <a:off x="640080" y="1097280"/>
            <a:ext cx="10515600" cy="3291840"/>
          </a:xfrm>
          <a:prstGeom prst="rect">
            <a:avLst/>
          </a:prstGeom>
          <a:noFill/>
          <a:ln/>
        </p:spPr>
        <p:txBody>
          <a:bodyPr wrap="square" lIns="0" tIns="0" rIns="0" bIns="0" rtlCol="0" anchor="ctr"/>
          <a:lstStyle/>
          <a:p>
            <a:pPr indent="0" marL="0">
              <a:buNone/>
            </a:pPr>
            <a:r>
              <a:rPr lang="en-US" sz="4000" b="1" dirty="0">
                <a:solidFill>
                  <a:schemeClr val="accent1"/>
                </a:solidFill>
              </a:rPr>
              <a:t>Start small.</a:t>
            </a:r>
            <a:endParaRPr lang="en-US" sz="4000" dirty="0"/>
          </a:p>
          <a:p>
            <a:pPr indent="0" marL="0">
              <a:buNone/>
            </a:pPr>
            <a:r>
              <a:rPr lang="en-US" sz="4000" b="1" dirty="0">
                <a:solidFill>
                  <a:schemeClr val="accent1"/>
                </a:solidFill>
              </a:rPr>
              <a:t>Test every step.</a:t>
            </a:r>
            <a:endParaRPr lang="en-US" sz="4000" dirty="0"/>
          </a:p>
          <a:p>
            <a:pPr indent="0" marL="0">
              <a:buNone/>
            </a:pPr>
            <a:r>
              <a:rPr lang="en-US" sz="4000" b="1" dirty="0">
                <a:solidFill>
                  <a:schemeClr val="accent1"/>
                </a:solidFill>
              </a:rPr>
              <a:t>When it's wrong, describe what was missing.</a:t>
            </a:r>
            <a:endParaRPr lang="en-US" sz="4000" dirty="0"/>
          </a:p>
        </p:txBody>
      </p:sp>
      <p:sp>
        <p:nvSpPr>
          <p:cNvPr id="4" name="repo"/>
          <p:cNvSpPr txBox="1"/>
          <p:nvPr/>
        </p:nvSpPr>
        <p:spPr>
          <a:xfrm>
            <a:off x="640080" y="4663440"/>
            <a:ext cx="6858000" cy="457200"/>
          </a:xfrm>
          <a:prstGeom prst="rect">
            <a:avLst/>
          </a:prstGeom>
          <a:noFill/>
          <a:ln/>
        </p:spPr>
        <p:txBody>
          <a:bodyPr wrap="square" lIns="0" tIns="0" rIns="0" bIns="0" rtlCol="0" anchor="ctr"/>
          <a:lstStyle/>
          <a:p>
            <a:pPr indent="0" marL="0">
              <a:buNone/>
            </a:pPr>
            <a:r>
              <a:rPr lang="en-US" sz="2000" dirty="0">
                <a:solidFill>
                  <a:schemeClr val="tx1"/>
                </a:solidFill>
              </a:rPr>
              <a:t>github.com/The-Hive-3747/Teaching-AI-Coding</a:t>
            </a:r>
            <a:endParaRPr lang="en-US" sz="2000" dirty="0"/>
          </a:p>
        </p:txBody>
      </p:sp>
      <p:sp>
        <p:nvSpPr>
          <p:cNvPr id="5" name="find us"/>
          <p:cNvSpPr txBox="1"/>
          <p:nvPr/>
        </p:nvSpPr>
        <p:spPr>
          <a:xfrm>
            <a:off x="640080" y="5212080"/>
            <a:ext cx="6858000" cy="914400"/>
          </a:xfrm>
          <a:prstGeom prst="rect">
            <a:avLst/>
          </a:prstGeom>
          <a:noFill/>
          <a:ln/>
        </p:spPr>
        <p:txBody>
          <a:bodyPr wrap="square" lIns="0" tIns="0" rIns="0" bIns="0" rtlCol="0" anchor="ctr"/>
          <a:lstStyle/>
          <a:p>
            <a:pPr indent="0" marL="0">
              <a:buNone/>
            </a:pPr>
            <a:r>
              <a:rPr lang="en-US" sz="1600" dirty="0">
                <a:solidFill>
                  <a:schemeClr val="tx2"/>
                </a:solidFill>
              </a:rPr>
              <a:t>Guide, videos, every real prompt, and the code — all of it.</a:t>
            </a:r>
            <a:endParaRPr lang="en-US" sz="1600" dirty="0"/>
          </a:p>
          <a:p>
            <a:pPr indent="0" marL="0">
              <a:buNone/>
            </a:pPr>
            <a:r>
              <a:rPr lang="en-US" sz="1600" dirty="0">
                <a:solidFill>
                  <a:schemeClr val="tx2"/>
                </a:solidFill>
              </a:rPr>
              <a:t>Find us at the pits: The Hive, FTC 3747.</a:t>
            </a:r>
            <a:endParaRPr lang="en-US" sz="1600" dirty="0"/>
          </a:p>
        </p:txBody>
      </p:sp>
    </p:spTree>
  </p:cSld>
  <p:clrMapOvr>
    <a:masterClrMapping/>
  </p:clrMapOvr>
</p:sld>
</file>

<file path=ppt/theme/theme1.xml><?xml version="1.0" encoding="utf-8"?>
<a:theme xmlns:a="http://schemas.openxmlformats.org/drawingml/2006/main" name="The Hive">
  <a:themeElements>
    <a:clrScheme name="The Hive">
      <a:dk1>
        <a:srgbClr val="FFFFFF"/>
      </a:dk1>
      <a:lt1>
        <a:srgbClr val="000000"/>
      </a:lt1>
      <a:dk2>
        <a:srgbClr val="C8C8C8"/>
      </a:dk2>
      <a:lt2>
        <a:srgbClr val="161616"/>
      </a:lt2>
      <a:accent1>
        <a:srgbClr val="F9BE14"/>
      </a:accent1>
      <a:accent2>
        <a:srgbClr val="FFD75E"/>
      </a:accent2>
      <a:accent3>
        <a:srgbClr val="3DDC84"/>
      </a:accent3>
      <a:accent4>
        <a:srgbClr val="FF5C5C"/>
      </a:accent4>
      <a:accent5>
        <a:srgbClr val="8AB4F8"/>
      </a:accent5>
      <a:accent6>
        <a:srgbClr val="9E9E9E"/>
      </a:accent6>
      <a:hlink>
        <a:srgbClr val="F9BE14"/>
      </a:hlink>
      <a:folHlink>
        <a:srgbClr val="C8C8C8"/>
      </a:folHlink>
    </a:clrScheme>
    <a:fontScheme name="The H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Describe your robot. Let AI write the code. Test. Repeat.</dc:title>
  <dc:subject>PptxGenJS Presentation</dc:subject>
  <dc:creator>The Hive, FTC 3747</dc:creator>
  <cp:lastModifiedBy>The Hive, FTC 3747</cp:lastModifiedBy>
  <cp:revision>1</cp:revision>
  <dcterms:created xsi:type="dcterms:W3CDTF">2026-10-02T04:46:27Z</dcterms:created>
  <dcterms:modified xsi:type="dcterms:W3CDTF">2026-10-02T04:46:27Z</dcterms:modified>
</cp:coreProperties>
</file>