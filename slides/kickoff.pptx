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'AI replaces the programmer' — it doesn't; it moves them up. The programmer does the prep that makes the mechanical teammate's English land: the description, the architecture, the process. Then they review every change for drift — the two real examples are on the slide, both from the mentor robot, both verbatim in the transcript: the autonomous that drove the intake through a simulated gamepad because nobody said an autonomous was coming, and the D-pad that was doing slow mode and flywheel tuning at once ('I thought gamepad 1 dpad was slow mode, not tuning the flywheel'). What the programmer gets back is the big picture: on our robot, adding one autonomous state was 10–20 minutes of copying boilerplate. That time becomes 'what do I want vision to do,' not 'how do I parse the Limelight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first 15 chapters of Learn Java for FTC — the book has 25; section 9, analog sensors, is skipped, and 16–25 are extra credit,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 FTC Utah's own statement (PDP email, Oct 2026) is the same rule in their words: no effect on judging either way; students who use AI should be able to explain how it contributed, check its output, and credit it. Quote it; it's the room's own program office saying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the other two were set to brake at zero power — so the robot crawled. Tom saw it in testing the morning of the competition, then had to read Sophi's code cold, without knowing what she had done, to find why.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Virtual attendees are on Google Meet: share the Android Studio screen, and point a phone camera at the robot for the drive test.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5–7. Every title is a live link in the PDF and the .pptx. The caveats on each item are in docs/research-ai-skills-case.md; the 'must not repeat' table there is the one to read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15–16 and the team's own records. Job postings expire: re-open the Podium links the morning of the talk. PwC and Lightcast sell AI-related services; their wage figures are advertised-pay correlations, not controlled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scale.stanford.edu/publications/generative-ai-can-harm-learning" TargetMode="External"/><Relationship Id="rId2" Type="http://schemas.openxmlformats.org/officeDocument/2006/relationships/hyperlink" Target="https://arxiv.org/abs/2507.09089" TargetMode="External"/><Relationship Id="rId3" Type="http://schemas.openxmlformats.org/officeDocument/2006/relationships/hyperlink" Target="https://www.anthropic.com/news/AI-assistance-coding-skills" TargetMode="External"/><Relationship Id="rId4" Type="http://schemas.openxmlformats.org/officeDocument/2006/relationships/hyperlink" Target="https://www.firstinspires.org/robotics/ftc" TargetMode="External"/><Relationship Id="rId5" Type="http://schemas.openxmlformats.org/officeDocument/2006/relationships/hyperlink" Target="https://ftc-docs.firstinspires.org/en/latest/ai/innovation_corner/innovation-corner.html" TargetMode="External"/><Relationship Id="rId6" Type="http://schemas.openxmlformats.org/officeDocument/2006/relationships/hyperlink" Target="https://apcentral.collegeboard.org/media/pdf/ap-csp-student-task-directions.pdf" TargetMode="External"/><Relationship Id="rId7" Type="http://schemas.openxmlformats.org/officeDocument/2006/relationships/hyperlink" Target="https://ftc-resources.firstinspires.org/ftc/game/manual-06" TargetMode="External"/><Relationship Id="rId8" Type="http://schemas.openxmlformats.org/officeDocument/2006/relationships/hyperlink" Target="https://community.firstinspires.org/expanding-the-first-toolbox-with-artificial-intelligence" TargetMode="External"/><Relationship Id="rId9" Type="http://schemas.openxmlformats.org/officeDocument/2006/relationships/hyperlink" Target="https://raw.githubusercontent.com/alan412/LearnJavaForFTC/master/LearnJavaForFTC.pdf" TargetMode="External"/><Relationship Id="rId10" Type="http://schemas.openxmlformats.org/officeDocument/2006/relationships/hyperlink" Target="https://softwarepreservation.computerhistory.org/FORTRAN/paper/p165-backus.pdf" TargetMode="External"/><Relationship Id="rId11" Type="http://schemas.openxmlformats.org/officeDocument/2006/relationships/hyperlink" Target="https://www.ee.torontomu.ca/~elf/hack/realmen.html" TargetMode="External"/><Relationship Id="rId12" Type="http://schemas.openxmlformats.org/officeDocument/2006/relationships/hyperlink" Target="https://charlespetzold.com/etc/DoesVisualStudioRotTheMind.html" TargetMode="External"/><Relationship Id="rId13" Type="http://schemas.openxmlformats.org/officeDocument/2006/relationships/hyperlink" Target="https://arxiv.org/abs/1710.03135" TargetMode="External"/><Relationship Id="rId14" Type="http://schemas.openxmlformats.org/officeDocument/2006/relationships/hyperlink" Target="http://worrydream.com/refs/Brooks-NoSilverBullet.pdf" TargetMode="External"/><Relationship Id="rId15" Type="http://schemas.openxmlformats.org/officeDocument/2006/relationships/hyperlink" Target="https://martinfowler.com/articles/2025-nature-abstraction.html" TargetMode="External"/><Relationship Id="rId16" Type="http://schemas.openxmlformats.org/officeDocument/2006/relationships/slideLayout" Target="../slideLayouts/slideLayout3.xml"/><Relationship Id="rId1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job-boards.greenhouse.io/podium81/jobs/7939921" TargetMode="External"/><Relationship Id="rId2" Type="http://schemas.openxmlformats.org/officeDocument/2006/relationships/hyperlink" Target="https://job-boards.greenhouse.io/podium81/jobs/6637207" TargetMode="External"/><Relationship Id="rId3" Type="http://schemas.openxmlformats.org/officeDocument/2006/relationships/hyperlink" Target="https://job-boards.greenhouse.io/affirm/jobs/7806681003" TargetMode="External"/><Relationship Id="rId4" Type="http://schemas.openxmlformats.org/officeDocument/2006/relationships/hyperlink" Target="https://jobs.ashbyhq.com/1password/c247ea98-bf31-45f0-a38b-1fe255909538" TargetMode="External"/><Relationship Id="rId5" Type="http://schemas.openxmlformats.org/officeDocument/2006/relationships/hyperlink" Target="https://www.businesstoday.in/technology/news/story/ai-use-is-no-longer-optional-at-shopify-declares-ceo-tobi-lutke-in-internal-memo-471211-2025-04-08" TargetMode="External"/><Relationship Id="rId6" Type="http://schemas.openxmlformats.org/officeDocument/2006/relationships/hyperlink" Target="https://lightcast.io/resources/research/stanford-ai-index-2026" TargetMode="External"/><Relationship Id="rId7" Type="http://schemas.openxmlformats.org/officeDocument/2006/relationships/hyperlink" Target="https://www.match.dev/post/ai-coding-tools-in-job-postings/data/" TargetMode="External"/><Relationship Id="rId8" Type="http://schemas.openxmlformats.org/officeDocument/2006/relationships/hyperlink" Target="https://www.pwc.com/gx/en/issues/artificial-intelligence/job-barometer/2026/2026-global-ai-jobs-barometer-global-findings.pdf" TargetMode="External"/><Relationship Id="rId9" Type="http://schemas.openxmlformats.org/officeDocument/2006/relationships/hyperlink" Target="https://lightcast.io/resources/blog/beyond-the-buzz-press-release-2025-07-23" TargetMode="External"/><Relationship Id="rId10" Type="http://schemas.openxmlformats.org/officeDocument/2006/relationships/hyperlink" Target="https://digitaleconomy.stanford.edu/app/uploads/2025/11/CanariesintheCoalMine_Nov25.pdf" TargetMode="External"/><Relationship Id="rId11" Type="http://schemas.openxmlformats.org/officeDocument/2006/relationships/hyperlink" Target="https://digitaleconomy.stanford.edu/project/indicators/canaries-dashboard/" TargetMode="External"/><Relationship Id="rId12" Type="http://schemas.openxmlformats.org/officeDocument/2006/relationships/hyperlink" Target="https://www.naceweb.org/job-market/trends-and-predictions/demand-for-ai-skills-in-entry-level-jobs-nearly-triples-since-fall-2025" TargetMode="External"/><Relationship Id="rId13" Type="http://schemas.openxmlformats.org/officeDocument/2006/relationships/hyperlink" Target="https://www.naceweb.org/about-us/press/2026/ready-or-reluctant-employer-expectations-for-ai-skills-meet-student-skepticism" TargetMode="External"/><Relationship Id="rId14" Type="http://schemas.openxmlformats.org/officeDocument/2006/relationships/hyperlink" Target="https://tidyfirst.substack.com/p/90-of-my-skills-are-now-worth-0" TargetMode="External"/><Relationship Id="rId15" Type="http://schemas.openxmlformats.org/officeDocument/2006/relationships/hyperlink" Target="https://github.com/The-Hive-3747/Teaching-AI-Coding" TargetMode="External"/><Relationship Id="rId16" Type="http://schemas.openxmlformats.org/officeDocument/2006/relationships/slideLayout" Target="../slideLayouts/slideLayout3.xml"/><Relationship Id="rId1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737360"/>
            <a:ext cx="5669280" cy="1737360"/>
          </a:xfrm>
          <a:prstGeom prst="rect">
            <a:avLst/>
          </a:prstGeom>
          <a:noFill/>
          <a:ln/>
        </p:spPr>
        <p:txBody>
          <a:bodyPr wrap="square" lIns="0" tIns="0" rIns="0" bIns="0" rtlCol="0" anchor="t"/>
          <a:lstStyle/>
          <a:p>
            <a:pPr indent="0" marL="0">
              <a:buNone/>
            </a:pPr>
            <a:r>
              <a:rPr lang="en-US" sz="4800" b="1" dirty="0">
                <a:solidFill>
                  <a:schemeClr val="accent1"/>
                </a:solidFill>
              </a:rPr>
              <a:t>Don't Get Stung by Your AI</a:t>
            </a:r>
            <a:endParaRPr lang="en-US" sz="4800" dirty="0"/>
          </a:p>
        </p:txBody>
      </p:sp>
      <p:sp>
        <p:nvSpPr>
          <p:cNvPr id="5" name="subtitle line"/>
          <p:cNvSpPr txBox="1"/>
          <p:nvPr/>
        </p:nvSpPr>
        <p:spPr>
          <a:xfrm>
            <a:off x="640080" y="3429000"/>
            <a:ext cx="5669280" cy="548640"/>
          </a:xfrm>
          <a:prstGeom prst="rect">
            <a:avLst/>
          </a:prstGeom>
          <a:noFill/>
          <a:ln/>
        </p:spPr>
        <p:txBody>
          <a:bodyPr wrap="square" lIns="0" tIns="0" rIns="0" bIns="0" rtlCol="0" anchor="ctr"/>
          <a:lstStyle/>
          <a:p>
            <a:pPr indent="0" marL="0">
              <a:buNone/>
            </a:pPr>
            <a:r>
              <a:rPr lang="en-US" sz="2200" b="1" dirty="0">
                <a:solidFill>
                  <a:schemeClr val="tx1"/>
                </a:solidFill>
              </a:rPr>
              <a:t>Using AI Effectively for FTC Programming</a:t>
            </a:r>
            <a:endParaRPr lang="en-US" sz="2200" dirty="0"/>
          </a:p>
        </p:txBody>
      </p:sp>
      <p:sp>
        <p:nvSpPr>
          <p:cNvPr id="6" name="tagline"/>
          <p:cNvSpPr txBox="1"/>
          <p:nvPr/>
        </p:nvSpPr>
        <p:spPr>
          <a:xfrm>
            <a:off x="640080" y="4023360"/>
            <a:ext cx="5669280" cy="457200"/>
          </a:xfrm>
          <a:prstGeom prst="rect">
            <a:avLst/>
          </a:prstGeom>
          <a:noFill/>
          <a:ln/>
        </p:spPr>
        <p:txBody>
          <a:bodyPr wrap="square" lIns="0" tIns="0" rIns="0" bIns="0" rtlCol="0" anchor="ctr"/>
          <a:lstStyle/>
          <a:p>
            <a:pPr indent="0" marL="0">
              <a:buNone/>
            </a:pPr>
            <a:r>
              <a:rPr lang="en-US" sz="1600" i="1" dirty="0">
                <a:solidFill>
                  <a:schemeClr val="accent2"/>
                </a:solidFill>
              </a:rPr>
              <a:t>Describe your robot. Let AI write the code. Test. Repeat.</a:t>
            </a:r>
            <a:endParaRPr lang="en-US" sz="1600" dirty="0"/>
          </a:p>
        </p:txBody>
      </p:sp>
      <p:sp>
        <p:nvSpPr>
          <p:cNvPr id="7" name="subtitle"/>
          <p:cNvSpPr txBox="1"/>
          <p:nvPr/>
        </p:nvSpPr>
        <p:spPr>
          <a:xfrm>
            <a:off x="640080" y="4572000"/>
            <a:ext cx="5486400" cy="1097280"/>
          </a:xfrm>
          <a:prstGeom prst="rect">
            <a:avLst/>
          </a:prstGeom>
          <a:noFill/>
          <a:ln/>
        </p:spPr>
        <p:txBody>
          <a:bodyPr wrap="square" lIns="0" tIns="0" rIns="0" bIns="0" rtlCol="0" anchor="ctr"/>
          <a:lstStyle/>
          <a:p>
            <a:pPr indent="0" marL="0">
              <a:buNone/>
            </a:pPr>
            <a:r>
              <a:rPr lang="en-US" sz="1400" dirty="0">
                <a:solidFill>
                  <a:schemeClr val="tx1"/>
                </a:solidFill>
              </a:rPr>
              <a:t>What The Hive learned watching our mentors code a robot in one week with Gemini in Android Studio — and how your team can do it too.</a:t>
            </a:r>
            <a:endParaRPr lang="en-US" sz="1400" dirty="0"/>
          </a:p>
        </p:txBody>
      </p:sp>
      <p:sp>
        <p:nvSpPr>
          <p:cNvPr id="8"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300" dirty="0">
                <a:solidFill>
                  <a:schemeClr val="tx2"/>
                </a:solidFill>
              </a:rPr>
              <a:t>The Hive · FTC 3747 · Beehive Academy · Saturday, October 24, 2026 · an FTC Utah class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programmer doesn't go away. The job changes.</a:t>
            </a:r>
            <a:endParaRPr lang="en-US" sz="3200" dirty="0"/>
          </a:p>
        </p:txBody>
      </p:sp>
      <p:sp>
        <p:nvSpPr>
          <p:cNvPr id="4" name="before card"/>
          <p:cNvSpPr/>
          <p:nvPr/>
        </p:nvSpPr>
        <p:spPr>
          <a:xfrm>
            <a:off x="457200" y="1325880"/>
            <a:ext cx="5486400" cy="3566160"/>
          </a:xfrm>
          <a:prstGeom prst="roundRect">
            <a:avLst>
              <a:gd name="adj" fmla="val 3077"/>
            </a:avLst>
          </a:prstGeom>
          <a:solidFill>
            <a:schemeClr val="bg2"/>
          </a:solidFill>
          <a:ln w="12700">
            <a:solidFill>
              <a:schemeClr val="bg2"/>
            </a:solidFill>
            <a:prstDash val="solid"/>
          </a:ln>
        </p:spPr>
      </p:sp>
      <p:sp>
        <p:nvSpPr>
          <p:cNvPr id="5" name="before head"/>
          <p:cNvSpPr txBox="1"/>
          <p:nvPr/>
        </p:nvSpPr>
        <p:spPr>
          <a:xfrm>
            <a:off x="731520"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Before anyone else touches it</a:t>
            </a:r>
            <a:endParaRPr lang="en-US" sz="2000" dirty="0"/>
          </a:p>
        </p:txBody>
      </p:sp>
      <p:sp>
        <p:nvSpPr>
          <p:cNvPr id="6" name="before text"/>
          <p:cNvSpPr txBox="1"/>
          <p:nvPr/>
        </p:nvSpPr>
        <p:spPr>
          <a:xfrm>
            <a:off x="731520"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Describe</a:t>
            </a:r>
            <a:pPr indent="0" marL="0">
              <a:spcAft>
                <a:spcPts val="1000"/>
              </a:spcAft>
              <a:buNone/>
            </a:pPr>
            <a:r>
              <a:rPr lang="en-US" sz="1600" dirty="0">
                <a:solidFill>
                  <a:schemeClr val="tx1"/>
                </a:solidFill>
              </a:rPr>
              <a:t> the robot — every motor and servo, name, port, direction.</a:t>
            </a:r>
            <a:endParaRPr lang="en-US" sz="1600" dirty="0"/>
          </a:p>
          <a:p>
            <a:pPr indent="0" marL="0">
              <a:buNone/>
            </a:pPr>
            <a:r>
              <a:rPr lang="en-US" sz="1600" b="1" dirty="0">
                <a:solidFill>
                  <a:schemeClr val="tx1"/>
                </a:solidFill>
              </a:rPr>
              <a:t>Architect</a:t>
            </a:r>
            <a:pPr indent="0" marL="0">
              <a:spcAft>
                <a:spcPts val="1000"/>
              </a:spcAft>
              <a:buNone/>
            </a:pPr>
            <a:r>
              <a:rPr lang="en-US" sz="1600" dirty="0">
                <a:solidFill>
                  <a:schemeClr val="tx1"/>
                </a:solidFill>
              </a:rPr>
              <a:t> it — subsystems, state machines, what the autonomous will need later.</a:t>
            </a:r>
            <a:endParaRPr lang="en-US" sz="1600" dirty="0"/>
          </a:p>
          <a:p>
            <a:pPr indent="0" marL="0">
              <a:buNone/>
            </a:pPr>
            <a:r>
              <a:rPr lang="en-US" sz="1600" b="1" dirty="0">
                <a:solidFill>
                  <a:schemeClr val="tx1"/>
                </a:solidFill>
              </a:rPr>
              <a:t>Set the process</a:t>
            </a:r>
            <a:pPr indent="0" marL="0">
              <a:spcAft>
                <a:spcPts val="1400"/>
              </a:spcAft>
              <a:buNone/>
            </a:pPr>
            <a:r>
              <a:rPr lang="en-US" sz="1600" dirty="0">
                <a:solidFill>
                  <a:schemeClr val="tx1"/>
                </a:solidFill>
              </a:rPr>
              <a:t> — one change per prompt, test, commit.</a:t>
            </a:r>
            <a:endParaRPr lang="en-US" sz="1600" dirty="0"/>
          </a:p>
          <a:p>
            <a:pPr indent="0" marL="0">
              <a:buNone/>
            </a:pPr>
            <a:r>
              <a:rPr lang="en-US" sz="1600" dirty="0">
                <a:solidFill>
                  <a:schemeClr val="tx2"/>
                </a:solidFill>
              </a:rPr>
              <a:t>That groundwork is what lets a mechanical teammate make a change in English and have it land in the right place.</a:t>
            </a:r>
            <a:endParaRPr lang="en-US" sz="1600" dirty="0"/>
          </a:p>
        </p:txBody>
      </p:sp>
      <p:sp>
        <p:nvSpPr>
          <p:cNvPr id="7" name="after card"/>
          <p:cNvSpPr/>
          <p:nvPr/>
        </p:nvSpPr>
        <p:spPr>
          <a:xfrm>
            <a:off x="6245352" y="1325880"/>
            <a:ext cx="5486400" cy="3566160"/>
          </a:xfrm>
          <a:prstGeom prst="roundRect">
            <a:avLst>
              <a:gd name="adj" fmla="val 3077"/>
            </a:avLst>
          </a:prstGeom>
          <a:solidFill>
            <a:schemeClr val="bg2"/>
          </a:solidFill>
          <a:ln w="12700">
            <a:solidFill>
              <a:schemeClr val="bg2"/>
            </a:solidFill>
            <a:prstDash val="solid"/>
          </a:ln>
        </p:spPr>
      </p:sp>
      <p:sp>
        <p:nvSpPr>
          <p:cNvPr id="8" name="after head"/>
          <p:cNvSpPr txBox="1"/>
          <p:nvPr/>
        </p:nvSpPr>
        <p:spPr>
          <a:xfrm>
            <a:off x="6519672"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After every change</a:t>
            </a:r>
            <a:endParaRPr lang="en-US" sz="2000" dirty="0"/>
          </a:p>
        </p:txBody>
      </p:sp>
      <p:sp>
        <p:nvSpPr>
          <p:cNvPr id="9" name="after text"/>
          <p:cNvSpPr txBox="1"/>
          <p:nvPr/>
        </p:nvSpPr>
        <p:spPr>
          <a:xfrm>
            <a:off x="6519672"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Review</a:t>
            </a:r>
            <a:pPr indent="0" marL="0">
              <a:spcAft>
                <a:spcPts val="1400"/>
              </a:spcAft>
              <a:buNone/>
            </a:pPr>
            <a:r>
              <a:rPr lang="en-US" sz="1600" dirty="0">
                <a:solidFill>
                  <a:schemeClr val="tx1"/>
                </a:solidFill>
              </a:rPr>
              <a:t> what the AI did — and catch drift.</a:t>
            </a:r>
            <a:endParaRPr lang="en-US" sz="1600" dirty="0"/>
          </a:p>
          <a:p>
            <a:pPr indent="0" marL="0">
              <a:spcAft>
                <a:spcPts val="1400"/>
              </a:spcAft>
              <a:buNone/>
            </a:pPr>
            <a:r>
              <a:rPr lang="en-US" sz="1600" dirty="0">
                <a:solidFill>
                  <a:schemeClr val="tx2"/>
                </a:solidFill>
              </a:rPr>
              <a:t>On the mentor robot: the autonomous that drove the intake through a fake gamepad. The D-pad that ended up doing two things — slow mode and flywheel tuning — instead of one.</a:t>
            </a:r>
            <a:endParaRPr lang="en-US" sz="1600" dirty="0"/>
          </a:p>
          <a:p>
            <a:pPr indent="0" marL="0">
              <a:buNone/>
            </a:pPr>
            <a:r>
              <a:rPr lang="en-US" sz="1600" dirty="0">
                <a:solidFill>
                  <a:schemeClr val="tx2"/>
                </a:solidFill>
              </a:rPr>
              <a:t>Both worked. Both were wrong. Only a programmer reading the code saw it.</a:t>
            </a:r>
            <a:endParaRPr lang="en-US" sz="1600" dirty="0"/>
          </a:p>
        </p:txBody>
      </p:sp>
      <p:sp>
        <p:nvSpPr>
          <p:cNvPr id="10" name="takeaway"/>
          <p:cNvSpPr txBox="1"/>
          <p:nvPr/>
        </p:nvSpPr>
        <p:spPr>
          <a:xfrm>
            <a:off x="457200" y="5120640"/>
            <a:ext cx="11247120" cy="822960"/>
          </a:xfrm>
          <a:prstGeom prst="rect">
            <a:avLst/>
          </a:prstGeom>
          <a:noFill/>
          <a:ln/>
        </p:spPr>
        <p:txBody>
          <a:bodyPr wrap="square" lIns="0" tIns="0" rIns="0" bIns="0" rtlCol="0" anchor="t"/>
          <a:lstStyle/>
          <a:p>
            <a:pPr indent="0" marL="0">
              <a:buNone/>
            </a:pPr>
            <a:r>
              <a:rPr lang="en-US" sz="1800" b="1" dirty="0">
                <a:solidFill>
                  <a:schemeClr val="accent1"/>
                </a:solidFill>
              </a:rPr>
              <a:t>The programmer gets the big picture back: “What do I want vision to do?” instead of “How do I parse the Limelight result?”</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85800"/>
          </a:xfrm>
          <a:prstGeom prst="rect">
            <a:avLst/>
          </a:prstGeom>
          <a:noFill/>
          <a:ln/>
        </p:spPr>
        <p:txBody>
          <a:bodyPr wrap="square" lIns="0" tIns="0" rIns="0" bIns="0" rtlCol="0" anchor="t"/>
          <a:lstStyle/>
          <a:p>
            <a:pPr indent="0" marL="0">
              <a:buNone/>
            </a:pPr>
            <a:r>
              <a:rPr lang="en-US" sz="1250" dirty="0">
                <a:solidFill>
                  <a:schemeClr val="tx2"/>
                </a:solidFill>
              </a:rPr>
              <a:t>FTC Utah says the same: students who use AI “should be able to explain how it contributed, check its output for accuracy, and credit it appropriately” — and using it or not “will have no effect on your judging.” Same rule as AP CS Principles: “students must be prepared to explain their code in detail.”</a:t>
            </a:r>
            <a:endParaRPr lang="en-US" sz="125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 the other two were braking. Tom saw the robot crawl in morning testing, then had to read Sophi's code cold to find why</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7"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Tom, Sophi and Sadiqah — The Hive's programmers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Compiled the transcript, guide and slides from the team's material.</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Made the way it teaches: described by the team, generated, tested, refined.</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Sources — studies, rules, history</a:t>
            </a:r>
            <a:endParaRPr lang="en-US" sz="3200" dirty="0"/>
          </a:p>
        </p:txBody>
      </p:sp>
      <p:sp>
        <p:nvSpPr>
          <p:cNvPr id="4" name="source 0"/>
          <p:cNvSpPr txBox="1"/>
          <p:nvPr/>
        </p:nvSpPr>
        <p:spPr>
          <a:xfrm>
            <a:off x="45720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Bastani et al., PNAS 2025</a:t>
            </a:r>
            <a:endParaRPr lang="en-US" sz="1100" dirty="0"/>
          </a:p>
          <a:p>
            <a:pPr indent="0" marL="0">
              <a:buNone/>
            </a:pPr>
            <a:r>
              <a:rPr lang="en-US" sz="1100" dirty="0">
                <a:solidFill>
                  <a:schemeClr val="tx2"/>
                </a:solidFill>
              </a:rPr>
              <a:t>Generative AI can harm learning — ~1,000 HS students  ·  scale.stanford.edu/publications/generative-ai-can-harm-learning</a:t>
            </a:r>
            <a:endParaRPr lang="en-US" sz="1100" dirty="0"/>
          </a:p>
        </p:txBody>
      </p:sp>
      <p:sp>
        <p:nvSpPr>
          <p:cNvPr id="5" name="source 1"/>
          <p:cNvSpPr txBox="1"/>
          <p:nvPr/>
        </p:nvSpPr>
        <p:spPr>
          <a:xfrm>
            <a:off x="45720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Becker et al., METR, Jul 2025</a:t>
            </a:r>
            <a:endParaRPr lang="en-US" sz="1100" dirty="0"/>
          </a:p>
          <a:p>
            <a:pPr indent="0" marL="0">
              <a:buNone/>
            </a:pPr>
            <a:r>
              <a:rPr lang="en-US" sz="1100" dirty="0">
                <a:solidFill>
                  <a:schemeClr val="tx2"/>
                </a:solidFill>
              </a:rPr>
              <a:t>16 expert developers 19% slower with AI  ·  arxiv.org/abs/2507.09089</a:t>
            </a:r>
            <a:endParaRPr lang="en-US" sz="1100" dirty="0"/>
          </a:p>
        </p:txBody>
      </p:sp>
      <p:sp>
        <p:nvSpPr>
          <p:cNvPr id="6" name="source 2"/>
          <p:cNvSpPr txBox="1"/>
          <p:nvPr/>
        </p:nvSpPr>
        <p:spPr>
          <a:xfrm>
            <a:off x="45720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Anthropic, Jan 2026</a:t>
            </a:r>
            <a:endParaRPr lang="en-US" sz="1100" dirty="0"/>
          </a:p>
          <a:p>
            <a:pPr indent="0" marL="0">
              <a:buNone/>
            </a:pPr>
            <a:r>
              <a:rPr lang="en-US" sz="1100" dirty="0">
                <a:solidFill>
                  <a:schemeClr val="tx2"/>
                </a:solidFill>
              </a:rPr>
              <a:t>AI assistance and coding skill formation (vendor study)  ·  anthropic.com/news/AI-assistance-coding-skills</a:t>
            </a:r>
            <a:endParaRPr lang="en-US" sz="1100" dirty="0"/>
          </a:p>
        </p:txBody>
      </p:sp>
      <p:sp>
        <p:nvSpPr>
          <p:cNvPr id="7" name="source 3"/>
          <p:cNvSpPr txBox="1"/>
          <p:nvPr/>
        </p:nvSpPr>
        <p:spPr>
          <a:xfrm>
            <a:off x="45720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FTC Utah — Team A.I. Use</a:t>
            </a:r>
            <a:endParaRPr lang="en-US" sz="1100" dirty="0"/>
          </a:p>
          <a:p>
            <a:pPr indent="0" marL="0">
              <a:buNone/>
            </a:pPr>
            <a:r>
              <a:rPr lang="en-US" sz="1100" dirty="0">
                <a:solidFill>
                  <a:schemeClr val="tx2"/>
                </a:solidFill>
              </a:rPr>
              <a:t>PDP email, Oct 2026: no effect on judging; explain, check, credit  ·  firstinspires.org/robotics/ftc</a:t>
            </a:r>
            <a:endParaRPr lang="en-US" sz="1100" dirty="0"/>
          </a:p>
        </p:txBody>
      </p:sp>
      <p:sp>
        <p:nvSpPr>
          <p:cNvPr id="8" name="source 4"/>
          <p:cNvSpPr txBox="1"/>
          <p:nvPr/>
        </p:nvSpPr>
        <p:spPr>
          <a:xfrm>
            <a:off x="45720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FTC AI Innovation Corner</a:t>
            </a:r>
            <a:endParaRPr lang="en-US" sz="1100" dirty="0"/>
          </a:p>
          <a:p>
            <a:pPr indent="0" marL="0">
              <a:buNone/>
            </a:pPr>
            <a:r>
              <a:rPr lang="en-US" sz="1100" dirty="0">
                <a:solidFill>
                  <a:schemeClr val="tx2"/>
                </a:solidFill>
              </a:rPr>
              <a:t>FIRST Tech Challenge Docs  ·  ftc-docs.firstinspires.org/en/latest/ai/innovation_corner/innovation-c</a:t>
            </a:r>
            <a:endParaRPr lang="en-US" sz="1100" dirty="0"/>
          </a:p>
        </p:txBody>
      </p:sp>
      <p:sp>
        <p:nvSpPr>
          <p:cNvPr id="9" name="source 5"/>
          <p:cNvSpPr txBox="1"/>
          <p:nvPr/>
        </p:nvSpPr>
        <p:spPr>
          <a:xfrm>
            <a:off x="45720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College Board, AP CS Principles</a:t>
            </a:r>
            <a:endParaRPr lang="en-US" sz="1100" dirty="0"/>
          </a:p>
          <a:p>
            <a:pPr indent="0" marL="0">
              <a:buNone/>
            </a:pPr>
            <a:r>
              <a:rPr lang="en-US" sz="1100" dirty="0">
                <a:solidFill>
                  <a:schemeClr val="tx2"/>
                </a:solidFill>
              </a:rPr>
              <a:t>Create task directions — AI use and attribution  ·  apcentral.collegeboard.org/media/pdf/ap-csp-student-task-directions.pd</a:t>
            </a:r>
            <a:endParaRPr lang="en-US" sz="1100" dirty="0"/>
          </a:p>
        </p:txBody>
      </p:sp>
      <p:sp>
        <p:nvSpPr>
          <p:cNvPr id="10" name="source 6"/>
          <p:cNvSpPr txBox="1"/>
          <p:nvPr/>
        </p:nvSpPr>
        <p:spPr>
          <a:xfrm>
            <a:off x="45720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FTC Competition Manual 2026–27</a:t>
            </a:r>
            <a:endParaRPr lang="en-US" sz="1100" dirty="0"/>
          </a:p>
          <a:p>
            <a:pPr indent="0" marL="0">
              <a:buNone/>
            </a:pPr>
            <a:r>
              <a:rPr lang="en-US" sz="1100" dirty="0">
                <a:solidFill>
                  <a:schemeClr val="tx2"/>
                </a:solidFill>
              </a:rPr>
              <a:t>Awards section: A201, A204, A208  ·  ftc-resources.firstinspires.org/ftc/game/manual-06</a:t>
            </a:r>
            <a:endParaRPr lang="en-US" sz="1100" dirty="0"/>
          </a:p>
        </p:txBody>
      </p:sp>
      <p:sp>
        <p:nvSpPr>
          <p:cNvPr id="11" name="source 7"/>
          <p:cNvSpPr txBox="1"/>
          <p:nvPr/>
        </p:nvSpPr>
        <p:spPr>
          <a:xfrm>
            <a:off x="457200" y="550468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FIRST blog: Expanding the toolbox with AI</a:t>
            </a:r>
            <a:endParaRPr lang="en-US" sz="1100" dirty="0"/>
          </a:p>
          <a:p>
            <a:pPr indent="0" marL="0">
              <a:buNone/>
            </a:pPr>
            <a:r>
              <a:rPr lang="en-US" sz="1100" dirty="0">
                <a:solidFill>
                  <a:schemeClr val="tx2"/>
                </a:solidFill>
              </a:rPr>
              <a:t>Chris Rake, COO: “AI is just one more exciting addition to the toolbox”  ·  community.firstinspires.org/expanding-the-first-toolbox-with-artificia</a:t>
            </a:r>
            <a:endParaRPr lang="en-US" sz="1100" dirty="0"/>
          </a:p>
        </p:txBody>
      </p:sp>
      <p:sp>
        <p:nvSpPr>
          <p:cNvPr id="12" name="source 8"/>
          <p:cNvSpPr txBox="1"/>
          <p:nvPr/>
        </p:nvSpPr>
        <p:spPr>
          <a:xfrm>
            <a:off x="621792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Learn Java for FTC (Alan Smith)</a:t>
            </a:r>
            <a:endParaRPr lang="en-US" sz="1100" dirty="0"/>
          </a:p>
          <a:p>
            <a:pPr indent="0" marL="0">
              <a:buNone/>
            </a:pPr>
            <a:r>
              <a:rPr lang="en-US" sz="1100" dirty="0">
                <a:solidFill>
                  <a:schemeClr val="tx2"/>
                </a:solidFill>
              </a:rPr>
              <a:t>The textbook in The Hive's checklist  ·  raw.githubusercontent.com/alan412/LearnJavaForFTC/master/LearnJavaForF</a:t>
            </a:r>
            <a:endParaRPr lang="en-US" sz="1100" dirty="0"/>
          </a:p>
        </p:txBody>
      </p:sp>
      <p:sp>
        <p:nvSpPr>
          <p:cNvPr id="13" name="source 9"/>
          <p:cNvSpPr txBox="1"/>
          <p:nvPr/>
        </p:nvSpPr>
        <p:spPr>
          <a:xfrm>
            <a:off x="621792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Backus, 1978</a:t>
            </a:r>
            <a:endParaRPr lang="en-US" sz="1100" dirty="0"/>
          </a:p>
          <a:p>
            <a:pPr indent="0" marL="0">
              <a:buNone/>
            </a:pPr>
            <a:r>
              <a:rPr lang="en-US" sz="1100" dirty="0">
                <a:solidFill>
                  <a:schemeClr val="tx2"/>
                </a:solidFill>
              </a:rPr>
              <a:t>The History of FORTRAN I, II, and III (HOPL)  ·  softwarepreservation.computerhistory.org/FORTRAN/paper/p165-backus.pdf</a:t>
            </a:r>
            <a:endParaRPr lang="en-US" sz="1100" dirty="0"/>
          </a:p>
        </p:txBody>
      </p:sp>
      <p:sp>
        <p:nvSpPr>
          <p:cNvPr id="14" name="source 10"/>
          <p:cNvSpPr txBox="1"/>
          <p:nvPr/>
        </p:nvSpPr>
        <p:spPr>
          <a:xfrm>
            <a:off x="621792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Post, 1983</a:t>
            </a:r>
            <a:endParaRPr lang="en-US" sz="1100" dirty="0"/>
          </a:p>
          <a:p>
            <a:pPr indent="0" marL="0">
              <a:buNone/>
            </a:pPr>
            <a:r>
              <a:rPr lang="en-US" sz="1100" dirty="0">
                <a:solidFill>
                  <a:schemeClr val="tx2"/>
                </a:solidFill>
              </a:rPr>
              <a:t>Real Programmers Don't Use Pascal  ·  ee.torontomu.ca/~elf/hack/realmen.html</a:t>
            </a:r>
            <a:endParaRPr lang="en-US" sz="1100" dirty="0"/>
          </a:p>
        </p:txBody>
      </p:sp>
      <p:sp>
        <p:nvSpPr>
          <p:cNvPr id="15" name="source 11"/>
          <p:cNvSpPr txBox="1"/>
          <p:nvPr/>
        </p:nvSpPr>
        <p:spPr>
          <a:xfrm>
            <a:off x="621792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Petzold, 2005</a:t>
            </a:r>
            <a:endParaRPr lang="en-US" sz="1100" dirty="0"/>
          </a:p>
          <a:p>
            <a:pPr indent="0" marL="0">
              <a:buNone/>
            </a:pPr>
            <a:r>
              <a:rPr lang="en-US" sz="1100" dirty="0">
                <a:solidFill>
                  <a:schemeClr val="tx2"/>
                </a:solidFill>
              </a:rPr>
              <a:t>Does Visual Studio Rot the Mind?  ·  charlespetzold.com/etc/DoesVisualStudioRotTheMind.html</a:t>
            </a:r>
            <a:endParaRPr lang="en-US" sz="1100" dirty="0"/>
          </a:p>
        </p:txBody>
      </p:sp>
      <p:sp>
        <p:nvSpPr>
          <p:cNvPr id="16" name="source 12"/>
          <p:cNvSpPr txBox="1"/>
          <p:nvPr/>
        </p:nvSpPr>
        <p:spPr>
          <a:xfrm>
            <a:off x="621792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Fischer et al., IEEE S&amp;P 2017</a:t>
            </a:r>
            <a:endParaRPr lang="en-US" sz="1100" dirty="0"/>
          </a:p>
          <a:p>
            <a:pPr indent="0" marL="0">
              <a:buNone/>
            </a:pPr>
            <a:r>
              <a:rPr lang="en-US" sz="1100" dirty="0">
                <a:solidFill>
                  <a:schemeClr val="tx2"/>
                </a:solidFill>
              </a:rPr>
              <a:t>Stack Overflow Considered Harmful?  ·  arxiv.org/abs/1710.03135</a:t>
            </a:r>
            <a:endParaRPr lang="en-US" sz="1100" dirty="0"/>
          </a:p>
        </p:txBody>
      </p:sp>
      <p:sp>
        <p:nvSpPr>
          <p:cNvPr id="17" name="source 13"/>
          <p:cNvSpPr txBox="1"/>
          <p:nvPr/>
        </p:nvSpPr>
        <p:spPr>
          <a:xfrm>
            <a:off x="621792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Brooks, 1987</a:t>
            </a:r>
            <a:endParaRPr lang="en-US" sz="1100" dirty="0"/>
          </a:p>
          <a:p>
            <a:pPr indent="0" marL="0">
              <a:buNone/>
            </a:pPr>
            <a:r>
              <a:rPr lang="en-US" sz="1100" dirty="0">
                <a:solidFill>
                  <a:schemeClr val="tx2"/>
                </a:solidFill>
              </a:rPr>
              <a:t>No Silver Bullet  ·  worrydream.com/refs/Brooks-NoSilverBullet.pdf</a:t>
            </a:r>
            <a:endParaRPr lang="en-US" sz="1100" dirty="0"/>
          </a:p>
        </p:txBody>
      </p:sp>
      <p:sp>
        <p:nvSpPr>
          <p:cNvPr id="18" name="source 14"/>
          <p:cNvSpPr txBox="1"/>
          <p:nvPr/>
        </p:nvSpPr>
        <p:spPr>
          <a:xfrm>
            <a:off x="621792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Fowler, 2025</a:t>
            </a:r>
            <a:endParaRPr lang="en-US" sz="1100" dirty="0"/>
          </a:p>
          <a:p>
            <a:pPr indent="0" marL="0">
              <a:buNone/>
            </a:pPr>
            <a:r>
              <a:rPr lang="en-US" sz="1100" dirty="0">
                <a:solidFill>
                  <a:schemeClr val="tx2"/>
                </a:solidFill>
              </a:rPr>
              <a:t>LLMs bring new nature of abstraction  ·  martinfowler.com/articles/2025-nature-abstraction.html</a:t>
            </a:r>
            <a:endParaRPr lang="en-US" sz="11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Sources — employers and the market</a:t>
            </a:r>
            <a:endParaRPr lang="en-US" sz="3200" dirty="0"/>
          </a:p>
        </p:txBody>
      </p:sp>
      <p:sp>
        <p:nvSpPr>
          <p:cNvPr id="4" name="source 0"/>
          <p:cNvSpPr txBox="1"/>
          <p:nvPr/>
        </p:nvSpPr>
        <p:spPr>
          <a:xfrm>
            <a:off x="45720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Podium — Software Engineering Intern (Lehi)</a:t>
            </a:r>
            <a:endParaRPr lang="en-US" sz="1100" dirty="0"/>
          </a:p>
          <a:p>
            <a:pPr indent="0" marL="0">
              <a:buNone/>
            </a:pPr>
            <a:r>
              <a:rPr lang="en-US" sz="1100" dirty="0">
                <a:solidFill>
                  <a:schemeClr val="tx2"/>
                </a:solidFill>
              </a:rPr>
              <a:t>verified Oct 3, 2026  ·  job-boards.greenhouse.io/podium81/jobs/7939921</a:t>
            </a:r>
            <a:endParaRPr lang="en-US" sz="1100" dirty="0"/>
          </a:p>
        </p:txBody>
      </p:sp>
      <p:sp>
        <p:nvSpPr>
          <p:cNvPr id="5" name="source 1"/>
          <p:cNvSpPr txBox="1"/>
          <p:nvPr/>
        </p:nvSpPr>
        <p:spPr>
          <a:xfrm>
            <a:off x="45720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Podium — Senior Software Engineer (Lehi)</a:t>
            </a:r>
            <a:endParaRPr lang="en-US" sz="1100" dirty="0"/>
          </a:p>
          <a:p>
            <a:pPr indent="0" marL="0">
              <a:buNone/>
            </a:pPr>
            <a:r>
              <a:rPr lang="en-US" sz="1100" dirty="0">
                <a:solidFill>
                  <a:schemeClr val="tx2"/>
                </a:solidFill>
              </a:rPr>
              <a:t>verified Oct 3, 2026  ·  job-boards.greenhouse.io/podium81/jobs/6637207</a:t>
            </a:r>
            <a:endParaRPr lang="en-US" sz="1100" dirty="0"/>
          </a:p>
        </p:txBody>
      </p:sp>
      <p:sp>
        <p:nvSpPr>
          <p:cNvPr id="6" name="source 2"/>
          <p:cNvSpPr txBox="1"/>
          <p:nvPr/>
        </p:nvSpPr>
        <p:spPr>
          <a:xfrm>
            <a:off x="45720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Affirm — Senior Software Engineer</a:t>
            </a:r>
            <a:endParaRPr lang="en-US" sz="1100" dirty="0"/>
          </a:p>
          <a:p>
            <a:pPr indent="0" marL="0">
              <a:buNone/>
            </a:pPr>
            <a:r>
              <a:rPr lang="en-US" sz="1100" dirty="0">
                <a:solidFill>
                  <a:schemeClr val="tx2"/>
                </a:solidFill>
              </a:rPr>
              <a:t>remote, Poland; verified Oct 3, 2026  ·  job-boards.greenhouse.io/affirm/jobs/7806681003</a:t>
            </a:r>
            <a:endParaRPr lang="en-US" sz="1100" dirty="0"/>
          </a:p>
        </p:txBody>
      </p:sp>
      <p:sp>
        <p:nvSpPr>
          <p:cNvPr id="7" name="source 3"/>
          <p:cNvSpPr txBox="1"/>
          <p:nvPr/>
        </p:nvSpPr>
        <p:spPr>
          <a:xfrm>
            <a:off x="45720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1Password — Rust Developer</a:t>
            </a:r>
            <a:endParaRPr lang="en-US" sz="1100" dirty="0"/>
          </a:p>
          <a:p>
            <a:pPr indent="0" marL="0">
              <a:buNone/>
            </a:pPr>
            <a:r>
              <a:rPr lang="en-US" sz="1100" dirty="0">
                <a:solidFill>
                  <a:schemeClr val="tx2"/>
                </a:solidFill>
              </a:rPr>
              <a:t>verified Oct 3, 2026  ·  jobs.ashbyhq.com/1password/c247ea98-bf31-45f0-a38b-1fe255909538</a:t>
            </a:r>
            <a:endParaRPr lang="en-US" sz="1100" dirty="0"/>
          </a:p>
        </p:txBody>
      </p:sp>
      <p:sp>
        <p:nvSpPr>
          <p:cNvPr id="8" name="source 4"/>
          <p:cNvSpPr txBox="1"/>
          <p:nvPr/>
        </p:nvSpPr>
        <p:spPr>
          <a:xfrm>
            <a:off x="45720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Shopify memo, as quoted in Business Today</a:t>
            </a:r>
            <a:endParaRPr lang="en-US" sz="1100" dirty="0"/>
          </a:p>
          <a:p>
            <a:pPr indent="0" marL="0">
              <a:buNone/>
            </a:pPr>
            <a:r>
              <a:rPr lang="en-US" sz="1100" dirty="0">
                <a:solidFill>
                  <a:schemeClr val="tx2"/>
                </a:solidFill>
              </a:rPr>
              <a:t>Apr 2025 (secondary)  ·  businesstoday.in/technology/news/story/ai-use-is-no-longer-optional-at</a:t>
            </a:r>
            <a:endParaRPr lang="en-US" sz="1100" dirty="0"/>
          </a:p>
        </p:txBody>
      </p:sp>
      <p:sp>
        <p:nvSpPr>
          <p:cNvPr id="9" name="source 5"/>
          <p:cNvSpPr txBox="1"/>
          <p:nvPr/>
        </p:nvSpPr>
        <p:spPr>
          <a:xfrm>
            <a:off x="45720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Stanford AI Index 2026 / Lightcast</a:t>
            </a:r>
            <a:endParaRPr lang="en-US" sz="1100" dirty="0"/>
          </a:p>
          <a:p>
            <a:pPr indent="0" marL="0">
              <a:buNone/>
            </a:pPr>
            <a:r>
              <a:rPr lang="en-US" sz="1100" dirty="0">
                <a:solidFill>
                  <a:schemeClr val="tx2"/>
                </a:solidFill>
              </a:rPr>
              <a:t>2.5% of US postings, +55%  ·  lightcast.io/resources/research/stanford-ai-index-2026</a:t>
            </a:r>
            <a:endParaRPr lang="en-US" sz="1100" dirty="0"/>
          </a:p>
        </p:txBody>
      </p:sp>
      <p:sp>
        <p:nvSpPr>
          <p:cNvPr id="10" name="source 6"/>
          <p:cNvSpPr txBox="1"/>
          <p:nvPr/>
        </p:nvSpPr>
        <p:spPr>
          <a:xfrm>
            <a:off x="45720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match.dev, Sep 2026</a:t>
            </a:r>
            <a:endParaRPr lang="en-US" sz="1100" dirty="0"/>
          </a:p>
          <a:p>
            <a:pPr indent="0" marL="0">
              <a:buNone/>
            </a:pPr>
            <a:r>
              <a:rPr lang="en-US" sz="1100" dirty="0">
                <a:solidFill>
                  <a:schemeClr val="tx2"/>
                </a:solidFill>
              </a:rPr>
              <a:t>AI coding tools in 4,820 SWE postings (one scan)  ·  match.dev/post/ai-coding-tools-in-job-postings/data/</a:t>
            </a:r>
            <a:endParaRPr lang="en-US" sz="1100" dirty="0"/>
          </a:p>
        </p:txBody>
      </p:sp>
      <p:sp>
        <p:nvSpPr>
          <p:cNvPr id="11" name="source 7"/>
          <p:cNvSpPr txBox="1"/>
          <p:nvPr/>
        </p:nvSpPr>
        <p:spPr>
          <a:xfrm>
            <a:off x="457200" y="550468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PwC Global AI Jobs Barometer 2026</a:t>
            </a:r>
            <a:endParaRPr lang="en-US" sz="1100" dirty="0"/>
          </a:p>
          <a:p>
            <a:pPr indent="0" marL="0">
              <a:buNone/>
            </a:pPr>
            <a:r>
              <a:rPr lang="en-US" sz="1100" dirty="0">
                <a:solidFill>
                  <a:schemeClr val="tx2"/>
                </a:solidFill>
              </a:rPr>
              <a:t>62% wage premium (vendor, uncontrolled)  ·  pwc.com/gx/en/issues/artificial-intelligence/job-barometer/2026/2026-g</a:t>
            </a:r>
            <a:endParaRPr lang="en-US" sz="1100" dirty="0"/>
          </a:p>
        </p:txBody>
      </p:sp>
      <p:sp>
        <p:nvSpPr>
          <p:cNvPr id="12" name="source 8"/>
          <p:cNvSpPr txBox="1"/>
          <p:nvPr/>
        </p:nvSpPr>
        <p:spPr>
          <a:xfrm>
            <a:off x="621792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Lightcast, Jul 2025</a:t>
            </a:r>
            <a:endParaRPr lang="en-US" sz="1100" dirty="0"/>
          </a:p>
          <a:p>
            <a:pPr indent="0" marL="0">
              <a:buNone/>
            </a:pPr>
            <a:r>
              <a:rPr lang="en-US" sz="1100" dirty="0">
                <a:solidFill>
                  <a:schemeClr val="tx2"/>
                </a:solidFill>
              </a:rPr>
              <a:t>28% premium; 51% of AI postings outside IT (2024 data)  ·  lightcast.io/resources/blog/beyond-the-buzz-press-release-2025-07-23</a:t>
            </a:r>
            <a:endParaRPr lang="en-US" sz="1100" dirty="0"/>
          </a:p>
        </p:txBody>
      </p:sp>
      <p:sp>
        <p:nvSpPr>
          <p:cNvPr id="13" name="source 9"/>
          <p:cNvSpPr txBox="1"/>
          <p:nvPr/>
        </p:nvSpPr>
        <p:spPr>
          <a:xfrm>
            <a:off x="621792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Brynjolfsson, Chandar &amp; Chen, Nov 2025</a:t>
            </a:r>
            <a:endParaRPr lang="en-US" sz="1100" dirty="0"/>
          </a:p>
          <a:p>
            <a:pPr indent="0" marL="0">
              <a:buNone/>
            </a:pPr>
            <a:r>
              <a:rPr lang="en-US" sz="1100" dirty="0">
                <a:solidFill>
                  <a:schemeClr val="tx2"/>
                </a:solidFill>
              </a:rPr>
              <a:t>Canaries in the Coal Mine (payroll data)  ·  digitaleconomy.stanford.edu/app/uploads/2025/11/CanariesintheCoalMine_</a:t>
            </a:r>
            <a:endParaRPr lang="en-US" sz="1100" dirty="0"/>
          </a:p>
        </p:txBody>
      </p:sp>
      <p:sp>
        <p:nvSpPr>
          <p:cNvPr id="14" name="source 10"/>
          <p:cNvSpPr txBox="1"/>
          <p:nvPr/>
        </p:nvSpPr>
        <p:spPr>
          <a:xfrm>
            <a:off x="621792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Canaries dashboard</a:t>
            </a:r>
            <a:endParaRPr lang="en-US" sz="1100" dirty="0"/>
          </a:p>
          <a:p>
            <a:pPr indent="0" marL="0">
              <a:buNone/>
            </a:pPr>
            <a:r>
              <a:rPr lang="en-US" sz="1100" dirty="0">
                <a:solidFill>
                  <a:schemeClr val="tx2"/>
                </a:solidFill>
              </a:rPr>
              <a:t>gap widened to 19%, Aug 2026  ·  digitaleconomy.stanford.edu/project/indicators/canaries-dashboard/</a:t>
            </a:r>
            <a:endParaRPr lang="en-US" sz="1100" dirty="0"/>
          </a:p>
        </p:txBody>
      </p:sp>
      <p:sp>
        <p:nvSpPr>
          <p:cNvPr id="15" name="source 11"/>
          <p:cNvSpPr txBox="1"/>
          <p:nvPr/>
        </p:nvSpPr>
        <p:spPr>
          <a:xfrm>
            <a:off x="621792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NACE, spring 2026</a:t>
            </a:r>
            <a:endParaRPr lang="en-US" sz="1100" dirty="0"/>
          </a:p>
          <a:p>
            <a:pPr indent="0" marL="0">
              <a:buNone/>
            </a:pPr>
            <a:r>
              <a:rPr lang="en-US" sz="1100" dirty="0">
                <a:solidFill>
                  <a:schemeClr val="tx2"/>
                </a:solidFill>
              </a:rPr>
              <a:t>AI skills in entry-level jobs (185 employers)  ·  naceweb.org/job-market/trends-and-predictions/demand-for-ai-skills-in-</a:t>
            </a:r>
            <a:endParaRPr lang="en-US" sz="1100" dirty="0"/>
          </a:p>
        </p:txBody>
      </p:sp>
      <p:sp>
        <p:nvSpPr>
          <p:cNvPr id="16" name="source 12"/>
          <p:cNvSpPr txBox="1"/>
          <p:nvPr/>
        </p:nvSpPr>
        <p:spPr>
          <a:xfrm>
            <a:off x="621792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NACE student survey, 2026</a:t>
            </a:r>
            <a:endParaRPr lang="en-US" sz="1100" dirty="0"/>
          </a:p>
          <a:p>
            <a:pPr indent="0" marL="0">
              <a:buNone/>
            </a:pPr>
            <a:r>
              <a:rPr lang="en-US" sz="1100" dirty="0">
                <a:solidFill>
                  <a:schemeClr val="tx2"/>
                </a:solidFill>
              </a:rPr>
              <a:t>50.5% not building AI skills  ·  naceweb.org/about-us/press/2026/ready-or-reluctant-employer-expectatio</a:t>
            </a:r>
            <a:endParaRPr lang="en-US" sz="1100" dirty="0"/>
          </a:p>
        </p:txBody>
      </p:sp>
      <p:sp>
        <p:nvSpPr>
          <p:cNvPr id="17" name="source 13"/>
          <p:cNvSpPr txBox="1"/>
          <p:nvPr/>
        </p:nvSpPr>
        <p:spPr>
          <a:xfrm>
            <a:off x="621792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Kent Beck, Apr 2023</a:t>
            </a:r>
            <a:endParaRPr lang="en-US" sz="1100" dirty="0"/>
          </a:p>
          <a:p>
            <a:pPr indent="0" marL="0">
              <a:buNone/>
            </a:pPr>
            <a:r>
              <a:rPr lang="en-US" sz="1100" dirty="0">
                <a:solidFill>
                  <a:schemeClr val="tx2"/>
                </a:solidFill>
              </a:rPr>
              <a:t>90% of my skills are now worth $0  ·  tidyfirst.substack.com/p/90-of-my-skills-are-now-worth-0</a:t>
            </a:r>
            <a:endParaRPr lang="en-US" sz="1100" dirty="0"/>
          </a:p>
        </p:txBody>
      </p:sp>
      <p:sp>
        <p:nvSpPr>
          <p:cNvPr id="18" name="source 14"/>
          <p:cNvSpPr txBox="1"/>
          <p:nvPr/>
        </p:nvSpPr>
        <p:spPr>
          <a:xfrm>
            <a:off x="621792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The Hive — verbatim transcript and research report</a:t>
            </a:r>
            <a:endParaRPr lang="en-US" sz="1100" dirty="0"/>
          </a:p>
          <a:p>
            <a:pPr indent="0" marL="0">
              <a:buNone/>
            </a:pPr>
            <a:r>
              <a:rPr lang="en-US" sz="1100" dirty="0">
                <a:solidFill>
                  <a:schemeClr val="tx2"/>
                </a:solidFill>
              </a:rPr>
              <a:t>every prompt, every number, with its caveats  ·  github.com/The-Hive-3747/Teaching-AI-Coding</a:t>
            </a:r>
            <a:endParaRPr lang="en-US" sz="11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2026-10-13T05:29:33Z</dcterms:created>
  <dcterms:modified xsi:type="dcterms:W3CDTF">2026-10-13T05:29:33Z</dcterms:modified>
</cp:coreProperties>
</file>