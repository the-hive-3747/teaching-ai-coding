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screen while people sit down. No talking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every line plainly. This room suspects mentors do our work. Line 1: our students hand-coded our robot this year, with no AI. Line 2: the AI experiment was the mentors', on a separate robot, for the mentor competition. Line 3: we're here to hand over what it showed. Don't argue the rumor. State the facts and move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for a show of hands: "How many teams have exactly one person who can write Java?" Then: "How many of those people are also the coach?" Let it land. This is the pain the method solves. If you want, say which of us is the one programmer on The Hive.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answer to 'AI replaces the programmer'. It doesn't. The programmer moves up. The programmer does the prep that makes the mechanical teammate's English land: the description, the architecture, the process. Then they review every change for drift. The two real examples are on the slide, both from the mentor robot and both verbatim in the transcript: the autonomous that drove the intake through a simulated gamepad because nobody said an autonomous was coming, and the D-pad that was doing slow mode and flywheel tuning at once ('I thought gamepad 1 dpad was slow mode, not tuning the flywheel'). What the programmer gets back is the big picture: on our robot, adding one autonomous state was 10 to 20 minutes of copying boilerplate. That time becomes 'what do I want vision to do,' not 'how do I parse the Limelight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before they do. These are three of the strongest negative results, including the vendor's own, and all three fit our position. PNAS 2025: about 1,000 high-school students, math, randomized; plain ChatGPT made practice 48% better and the unassisted exam 17% worse. A hints-only tutor 'largely mitigated' the harm. METR 2025: 16 expert open-source maintainers on their own repos, 246 real tasks. With AI they were 19% slower and believed they'd been 20% faster, so the group that gains least couldn't even perceive it. Anthropic Jan 2026: their own tool, their own study, vendor-authored and not peer-reviewed, found harm against their own interest. 52 mostly-junior engineers learning a new library: the AI group scored 50% vs 67% on comprehension and was only about 2 minutes faster. 'Delegation' hurt. Asking conceptual questions didn't. What separates the harm studies from the no-harm studies is HOW the tool was used: delegate and auto-accept, versus ask, read the diff, explain it. That is our rule on the next slide. If someone brings up MIT 'Your Brain on ChatGPT' (essays, 18 people, criticized stats), don't lean on it either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our onboarding checklist, verbatim. Read the whole quote out loud. It is the skeptics' own position, already in our program. Before a Hive programmer is cleared, the mentor checks off, in order, 14 of the first 15 chapters of Learn Java for FTC, each read-and-code plus the exercise, typed into our own simulator with a real test harness, and then 40 FTCSIM exercises. The book has 25 chapters: section 9, analog sensors, is skipped, and 16 to 25 are extra credit. Then, and only then, AI as a season tool. Say 'we think' on the link between this and the studies. Nobody has tested the sequence. It is our reading of them. College Board already requires the same thing for AP CS: students must be prepared to explain their code in detail. And at FTC judging the students answer (an adult may attend but may not interact or coach), so a team that can't explain its code loses the Control Award whether or not AI wrote it. FTC Utah's own statement (PDP email, Oct 2026) is the same rule in their words: no effect on judging either way, and students who use AI should be able to explain how it contributed, check its output, and credit it. Quote it. It's the room's own program office saying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new layers of programming tools were called a crutch by the generation before. In the sources we found there's no named 1954 skeptic, only Backus remembering them, so say 'most', not 'every'. Each layer took over the typing. None took over deciding what to build, testing it, or reading what came out. Brooks said it in 1987. Fowler's honest limit (2025) is that this layer is non-deterministic. The same prompt doesn't give the same code twice, so reading and testing matter MORE than before, not less. Then tell the fake-gamepad story: Gemini drove our mentors' autonomous through a simulated gamepad because nobody said an autonomous was coming. It worked, and a human reading the code caught it. Sources are in docs/research-ai-skills-case.md, slide 1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this as a story, not a list. Be precise about who did what, because coaches will ask: Ben described the architecture on night one and built the TeleOp out over the first two days: the shooter startup sequence, the pulsed feed, the LEDs. The first autonomous was Asim's design, called out at the robot while Ben typed, and from there it was a pair, Asim deciding what to change and Ben typing, plus eight prompts Asim typed himself: tank drive, the strafe fix, the spitting-balls pair, a whole experimental autonomous with three rounds of tuning. The point for the room: the person who understands the robot drives the prompt, whoever's hands are on the keys. Two things make the experiment honest, and say both. Ben CAN write Java, so choosing to describe instead of type was a choice. Asim can't, and made most of the changes anyway. The quotes are verbatim, typos and all. The screenshot is the 'spitting balls out' prompt exactly as typed, with Gemini's answer. If there's time, play docs/video/scrimmage-match3-auto.mp4 from the laptop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Put it up and let it sit for a few seconds. Then: the person who understands the robot drives the prompt, whoever's hands are on the keys.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that's ours, and the left column is our real week. Four days of coding, three of us who could code the robot, and we were siloed: Tom wrote TeleOp, Sophi wrote autonomous. The bug: an autonomous borrowed from the FtcRobotController samples only powered two wheels, and the other two were set to brake at zero power, so the robot crawled. Tom saw it in testing the morning of the competition, then had to read Sophi's code cold, without knowing what she had done, to find why. Say the thing we'd do differently: AI could have given Tom a summary of the autonomous and he could have questioned it to find the bug. The grunt work: adding one state to the autonomous meant copying the same surrounding code again, 10 to 20 minutes for a new programmer, every time. Our process: the programmer works while a mechanical teammate waits, then sets up the robot and both watch the test. Mechanical problems get fixed if quick or go on the to-do list. Often it's one programmer doing all of it and kludging around mechanical problems in code. The honest comparison is where the bottleneck was, not whether 'AI was faster'. On our robot every change went through whoever could type Java. On the mentor robot the bottleneck moved to describing precisely, and that's a skill the mechanical people already had. The right column is from the mentor transcript: the Sep 17 session was 25 minutes and 5 prompts, then the 18th and the 19th.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loop is the whole workshop. Every checkpoint in the guide is one trip around it. The skill you build is DESCRIBE and REFINE: being specific about names, directions, timing and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that 'test' comes after every step. The single biggest mistake is asking for everything at once. Small steps mean when something breaks, you know which description caused it. There's a guide page and a video per checkpoint. Show the repo URL.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these out. Names go exactly as in the Robot Controller config: 'front_left_drive', not 'the front left motor'. If Gemini has to guess any of the five, it will, and the guess is where the bug comes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vague one and ask the room what Gemini would have to guess. Then the specific one: everything it would have guessed is now stated. The third one is verbatim from the Sep 19 session. No code words at all, it describes a sequence, and that's why the fix was a few lines in Intake.java. This is the slide for the mechanical kids in the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to Android Studio. One of you drives the laptop, one narrates, one handles the robot. Virtual attendees are on Google Meet: share the Android Studio screen, and point a phone camera at the robot for the drive test. 1) Show the Gemini panel with the robot description already there. 2) Type the mecanum drive prompt live and send it; narrate what you asked for while it generates. 3) Show the generated OpMode and point at the hardware names, which match the config. 4) Build, deploy, drive. 5) Type the real refinement: "hey, in the latest push, holding both joysticks left made the robot strafe right, and vice versa. please fix", then deploy and drive again. 6) Stop there: "That's the whole method. Everything else is more trips around the loop." If it breaks, that's the method too: say what you see, paste the error into the panel, let the room watch the refine step. Don't apologize. A live fix is a better demo than a clean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italic rows and the fake-gamepad row happened on the mentor robot. The compile-error and over-30-seconds rows are the ones you'll hit first that the mentors got lucky on. Their delayed auto adds up to 30.7 s on paper and the field timer let it finish. The pattern: when it's wrong, the description was missing something. Say the missing thing. The fake-gamepad row is the one Ben cares most about: the auto worked, but it was tied to the TeleOp button map because nobody said an auto was coming.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Podium. It's twenty minutes from here, it's an INTERN posting, and it names the tools. All four postings were verified live on Oct 3, 2026; re-open the links the morning of the talk, postings expire. Podium's senior posting uses our exact phrase: a 'genuine force multiplier, not a novelty.' Affirm's line is the sharpest: the job is now 'the reviewer's seat' (note: that posting is for a remote role based in Poland; Affirm is a US company). 1Password asks for both: use it daily, and interview without it. The pay numbers are vendor data and uncontrolled correlation, so say 'job ads advertise', never 'you will earn'. And NEVER say 'Lightcast 56%'. That number has no source. Shopify is quoted via press, not the memo itself. Don't use Microsoft's '66% won't hire without AI skills' (2024, self-reported, by the company selling Copilot).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Concede the first number completely. It's payroll data, the best in the room: software developers aged 22 to 25 are down nearly 20% since late 2022 (Stanford 'Canaries', Nov 2025, and the gap widened to 19% by Aug 2026), and the decline is where AI AUTOMATES work rather than augments it. Be precise about what it does NOT show: it does not show that having AI skills protects any individual kid. That half is our argument, so say 'we think'. The NACE numbers are a small self-reported employer survey (185 employers, sponsored by Jobscan), so lead with 16.5%, the harder number. The Kent Beck tweet is April 18, 2023, verbatim. This-season loss is an argument from one adult mentor experiment plus studies of professional developers, not evidence on students. Say that too if asked.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Reader role is the answer to 'aren't they just cheating.' If a student can explain what the state machine does and why the timings are what they are, they learned it. Tell the room which of these roles each of you would take on The Hive. The Describer on the mentor robot was Asim, the mechanical mentor. He can't write Java, and he made most of the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hardware list is the one thing to do BEFORE opening Gemini. For anyone installing tonight: during the first Gradle sync, Android Studio pops up three things. Accept the Daemon JVM toolchain migration. DECLINE the Gradle/AGP upgrade. It breaks the FTC project. On Windows, accept the Defender exclusion or builds crawl. Checkpoint 0 in the guide has all three.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names. The point of the slide is that the people are named and the AI is named, the same way we're asking every team to credit its code. Royd is the team's second coach and a mechanical engineer.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Q&amp;A slot, so say where people can find you afterward.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Slides 5 to 7. Every title is a live link in the PDF and the .pptx. The caveats on each item are in docs/research-ai-skills-case.md; the 'must not repeat' table there is the one to read before you present.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Slides 15 and 16 and the team's own records. Job postings expire: re-open the Podium links the morning of the talk. PwC and Lightcast sell AI-related services; their wage figures are advertised-pay correlations, not controlled comparisons.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bg1"/>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pic>
        <p:nvPicPr>
          <p:cNvPr id="2" name="Image 0" descr="/home/claude/teaching-ai-coding/docs/images/hive-mark.png">    </p:cNvPr>
          <p:cNvPicPr>
            <a:picLocks noChangeAspect="1"/>
          </p:cNvPicPr>
          <p:nvPr/>
        </p:nvPicPr>
        <p:blipFill>
          <a:blip r:embed="rId1"/>
          <a:stretch>
            <a:fillRect/>
          </a:stretch>
        </p:blipFill>
        <p:spPr>
          <a:xfrm>
            <a:off x="457200" y="6263640"/>
            <a:ext cx="384048" cy="393192"/>
          </a:xfrm>
          <a:prstGeom prst="rect">
            <a:avLst/>
          </a:prstGeom>
        </p:spPr>
      </p:pic>
      <p:sp>
        <p:nvSpPr>
          <p:cNvPr id="3" name="Text 0"/>
          <p:cNvSpPr/>
          <p:nvPr/>
        </p:nvSpPr>
        <p:spPr>
          <a:xfrm>
            <a:off x="914400" y="6263640"/>
            <a:ext cx="8229600" cy="393192"/>
          </a:xfrm>
          <a:prstGeom prst="rect">
            <a:avLst/>
          </a:prstGeom>
          <a:noFill/>
          <a:ln/>
        </p:spPr>
        <p:txBody>
          <a:bodyPr wrap="square" lIns="0" tIns="0" rIns="0" bIns="0" rtlCol="0" anchor="ctr"/>
          <a:lstStyle/>
          <a:p>
            <a:pPr indent="0" marL="0">
              <a:buNone/>
            </a:pPr>
            <a:r>
              <a:rPr lang="en-US" sz="1000" dirty="0">
                <a:solidFill>
                  <a:schemeClr val="tx2"/>
                </a:solidFill>
              </a:rPr>
              <a:t>The Hive · FTC 3747 · github.com/The-Hive-3747/Teaching-AI-Coding</a:t>
            </a:r>
            <a:endParaRPr lang="en-US" sz="1000" dirty="0"/>
          </a:p>
        </p:txBody>
      </p:sp>
      <p:sp>
        <p:nvSpPr>
          <p:cNvPr id="4" name="Text 1"/>
          <p:cNvSpPr/>
          <p:nvPr>
            <p:ph idx="102" type="title" hasCustomPrompt="1"/>
          </p:nvPr>
        </p:nvSpPr>
        <p:spPr>
          <a:xfrm>
            <a:off x="457200" y="365760"/>
            <a:ext cx="11274552" cy="822960"/>
          </a:xfrm>
          <a:prstGeom prst="rect">
            <a:avLst/>
          </a:prstGeom>
          <a:noFill/>
          <a:ln/>
        </p:spPr>
        <p:txBody>
          <a:bodyPr wrap="square" rtlCol="0"/>
          <a:lstStyle>
            <a:lvl1pPr algn="l" indent="0" marL="0">
              <a:buNone/>
              <a:defRPr lang="en-US" sz="3200" b="1" dirty="0">
                <a:solidFill>
                  <a:schemeClr val="accent1"/>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247120" y="6263640"/>
            <a:ext cx="548640" cy="39319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263640"/>
            <a:ext cx="548640" cy="39319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hyperlink" Target="https://scale.stanford.edu/publications/generative-ai-can-harm-learning" TargetMode="External"/><Relationship Id="rId2" Type="http://schemas.openxmlformats.org/officeDocument/2006/relationships/hyperlink" Target="https://arxiv.org/abs/2507.09089" TargetMode="External"/><Relationship Id="rId3" Type="http://schemas.openxmlformats.org/officeDocument/2006/relationships/hyperlink" Target="https://www.anthropic.com/news/AI-assistance-coding-skills" TargetMode="External"/><Relationship Id="rId4" Type="http://schemas.openxmlformats.org/officeDocument/2006/relationships/hyperlink" Target="https://www.firstinspires.org/robotics/ftc" TargetMode="External"/><Relationship Id="rId5" Type="http://schemas.openxmlformats.org/officeDocument/2006/relationships/hyperlink" Target="https://ftc-docs.firstinspires.org/en/latest/ai/innovation_corner/innovation-corner.html" TargetMode="External"/><Relationship Id="rId6" Type="http://schemas.openxmlformats.org/officeDocument/2006/relationships/hyperlink" Target="https://apcentral.collegeboard.org/media/pdf/ap-csp-student-task-directions.pdf" TargetMode="External"/><Relationship Id="rId7" Type="http://schemas.openxmlformats.org/officeDocument/2006/relationships/hyperlink" Target="https://ftc-resources.firstinspires.org/ftc/game/manual-06" TargetMode="External"/><Relationship Id="rId8" Type="http://schemas.openxmlformats.org/officeDocument/2006/relationships/hyperlink" Target="https://community.firstinspires.org/expanding-the-first-toolbox-with-artificial-intelligence" TargetMode="External"/><Relationship Id="rId9" Type="http://schemas.openxmlformats.org/officeDocument/2006/relationships/hyperlink" Target="https://raw.githubusercontent.com/alan412/LearnJavaForFTC/master/LearnJavaForFTC.pdf" TargetMode="External"/><Relationship Id="rId10" Type="http://schemas.openxmlformats.org/officeDocument/2006/relationships/hyperlink" Target="https://softwarepreservation.computerhistory.org/FORTRAN/paper/p165-backus.pdf" TargetMode="External"/><Relationship Id="rId11" Type="http://schemas.openxmlformats.org/officeDocument/2006/relationships/hyperlink" Target="https://www.ee.torontomu.ca/~elf/hack/realmen.html" TargetMode="External"/><Relationship Id="rId12" Type="http://schemas.openxmlformats.org/officeDocument/2006/relationships/hyperlink" Target="https://charlespetzold.com/etc/DoesVisualStudioRotTheMind.html" TargetMode="External"/><Relationship Id="rId13" Type="http://schemas.openxmlformats.org/officeDocument/2006/relationships/hyperlink" Target="https://arxiv.org/abs/1710.03135" TargetMode="External"/><Relationship Id="rId14" Type="http://schemas.openxmlformats.org/officeDocument/2006/relationships/hyperlink" Target="http://worrydream.com/refs/Brooks-NoSilverBullet.pdf" TargetMode="External"/><Relationship Id="rId15" Type="http://schemas.openxmlformats.org/officeDocument/2006/relationships/hyperlink" Target="https://martinfowler.com/articles/2025-nature-abstraction.html" TargetMode="External"/><Relationship Id="rId16" Type="http://schemas.openxmlformats.org/officeDocument/2006/relationships/slideLayout" Target="../slideLayouts/slideLayout3.xml"/><Relationship Id="rId17"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hyperlink" Target="https://job-boards.greenhouse.io/podium81/jobs/7939921" TargetMode="External"/><Relationship Id="rId2" Type="http://schemas.openxmlformats.org/officeDocument/2006/relationships/hyperlink" Target="https://job-boards.greenhouse.io/podium81/jobs/6637207" TargetMode="External"/><Relationship Id="rId3" Type="http://schemas.openxmlformats.org/officeDocument/2006/relationships/hyperlink" Target="https://job-boards.greenhouse.io/affirm/jobs/7806681003" TargetMode="External"/><Relationship Id="rId4" Type="http://schemas.openxmlformats.org/officeDocument/2006/relationships/hyperlink" Target="https://jobs.ashbyhq.com/1password/c247ea98-bf31-45f0-a38b-1fe255909538" TargetMode="External"/><Relationship Id="rId5" Type="http://schemas.openxmlformats.org/officeDocument/2006/relationships/hyperlink" Target="https://www.businesstoday.in/technology/news/story/ai-use-is-no-longer-optional-at-shopify-declares-ceo-tobi-lutke-in-internal-memo-471211-2025-04-08" TargetMode="External"/><Relationship Id="rId6" Type="http://schemas.openxmlformats.org/officeDocument/2006/relationships/hyperlink" Target="https://lightcast.io/resources/research/stanford-ai-index-2026" TargetMode="External"/><Relationship Id="rId7" Type="http://schemas.openxmlformats.org/officeDocument/2006/relationships/hyperlink" Target="https://www.match.dev/post/ai-coding-tools-in-job-postings/data/" TargetMode="External"/><Relationship Id="rId8" Type="http://schemas.openxmlformats.org/officeDocument/2006/relationships/hyperlink" Target="https://www.pwc.com/gx/en/issues/artificial-intelligence/job-barometer/2026/2026-global-ai-jobs-barometer-global-findings.pdf" TargetMode="External"/><Relationship Id="rId9" Type="http://schemas.openxmlformats.org/officeDocument/2006/relationships/hyperlink" Target="https://lightcast.io/resources/blog/beyond-the-buzz-press-release-2025-07-23" TargetMode="External"/><Relationship Id="rId10" Type="http://schemas.openxmlformats.org/officeDocument/2006/relationships/hyperlink" Target="https://digitaleconomy.stanford.edu/app/uploads/2025/11/CanariesintheCoalMine_Nov25.pdf" TargetMode="External"/><Relationship Id="rId11" Type="http://schemas.openxmlformats.org/officeDocument/2006/relationships/hyperlink" Target="https://digitaleconomy.stanford.edu/project/indicators/canaries-dashboard/" TargetMode="External"/><Relationship Id="rId12" Type="http://schemas.openxmlformats.org/officeDocument/2006/relationships/hyperlink" Target="https://www.naceweb.org/job-market/trends-and-predictions/demand-for-ai-skills-in-entry-level-jobs-nearly-triples-since-fall-2025" TargetMode="External"/><Relationship Id="rId13" Type="http://schemas.openxmlformats.org/officeDocument/2006/relationships/hyperlink" Target="https://www.naceweb.org/about-us/press/2026/ready-or-reluctant-employer-expectations-for-ai-skills-meet-student-skepticism" TargetMode="External"/><Relationship Id="rId14" Type="http://schemas.openxmlformats.org/officeDocument/2006/relationships/hyperlink" Target="https://tidyfirst.substack.com/p/90-of-my-skills-are-now-worth-0" TargetMode="External"/><Relationship Id="rId15" Type="http://schemas.openxmlformats.org/officeDocument/2006/relationships/hyperlink" Target="https://github.com/The-Hive-3747/Teaching-AI-Coding" TargetMode="External"/><Relationship Id="rId16" Type="http://schemas.openxmlformats.org/officeDocument/2006/relationships/slideLayout" Target="../slideLayouts/slideLayout3.xml"/><Relationship Id="rId17"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robot photo" descr="/home/claude/teaching-ai-coding/docs/images/match-closeup-green-leds.jpg">    </p:cNvPr>
          <p:cNvPicPr>
            <a:picLocks noChangeAspect="1"/>
          </p:cNvPicPr>
          <p:nvPr/>
        </p:nvPicPr>
        <p:blipFill>
          <a:blip r:embed="rId1">
            <a:alphaModFix amt="85000"/>
          </a:blip>
          <a:srcRect l="0" r="0" t="0" b="0"/>
          <a:stretch/>
        </p:blipFill>
        <p:spPr>
          <a:xfrm>
            <a:off x="6400800" y="0"/>
            <a:ext cx="5788152" cy="6858000"/>
          </a:xfrm>
          <a:prstGeom prst="rect">
            <a:avLst/>
          </a:prstGeom>
        </p:spPr>
      </p:pic>
      <p:pic>
        <p:nvPicPr>
          <p:cNvPr id="3" name="logo mark" descr="/home/claude/teaching-ai-coding/docs/images/hive-mark.png">    </p:cNvPr>
          <p:cNvPicPr>
            <a:picLocks noChangeAspect="1"/>
          </p:cNvPicPr>
          <p:nvPr/>
        </p:nvPicPr>
        <p:blipFill>
          <a:blip r:embed="rId2"/>
          <a:stretch>
            <a:fillRect/>
          </a:stretch>
        </p:blipFill>
        <p:spPr>
          <a:xfrm>
            <a:off x="640080" y="548640"/>
            <a:ext cx="1005840" cy="1033272"/>
          </a:xfrm>
          <a:prstGeom prst="rect">
            <a:avLst/>
          </a:prstGeom>
        </p:spPr>
      </p:pic>
      <p:sp>
        <p:nvSpPr>
          <p:cNvPr id="4" name="title"/>
          <p:cNvSpPr txBox="1"/>
          <p:nvPr/>
        </p:nvSpPr>
        <p:spPr>
          <a:xfrm>
            <a:off x="640080" y="1737360"/>
            <a:ext cx="5669280" cy="1737360"/>
          </a:xfrm>
          <a:prstGeom prst="rect">
            <a:avLst/>
          </a:prstGeom>
          <a:noFill/>
          <a:ln/>
        </p:spPr>
        <p:txBody>
          <a:bodyPr wrap="square" lIns="0" tIns="0" rIns="0" bIns="0" rtlCol="0" anchor="t"/>
          <a:lstStyle/>
          <a:p>
            <a:pPr indent="0" marL="0">
              <a:buNone/>
            </a:pPr>
            <a:r>
              <a:rPr lang="en-US" sz="4800" b="1" dirty="0">
                <a:solidFill>
                  <a:schemeClr val="accent1"/>
                </a:solidFill>
              </a:rPr>
              <a:t>Don't Get Stung by Your AI</a:t>
            </a:r>
            <a:endParaRPr lang="en-US" sz="4800" dirty="0"/>
          </a:p>
        </p:txBody>
      </p:sp>
      <p:sp>
        <p:nvSpPr>
          <p:cNvPr id="5" name="subtitle line"/>
          <p:cNvSpPr txBox="1"/>
          <p:nvPr/>
        </p:nvSpPr>
        <p:spPr>
          <a:xfrm>
            <a:off x="640080" y="3429000"/>
            <a:ext cx="5669280" cy="548640"/>
          </a:xfrm>
          <a:prstGeom prst="rect">
            <a:avLst/>
          </a:prstGeom>
          <a:noFill/>
          <a:ln/>
        </p:spPr>
        <p:txBody>
          <a:bodyPr wrap="square" lIns="0" tIns="0" rIns="0" bIns="0" rtlCol="0" anchor="ctr"/>
          <a:lstStyle/>
          <a:p>
            <a:pPr indent="0" marL="0">
              <a:buNone/>
            </a:pPr>
            <a:r>
              <a:rPr lang="en-US" sz="2200" b="1" dirty="0">
                <a:solidFill>
                  <a:schemeClr val="tx1"/>
                </a:solidFill>
              </a:rPr>
              <a:t>Using AI Effectively for FTC Programming</a:t>
            </a:r>
            <a:endParaRPr lang="en-US" sz="2200" dirty="0"/>
          </a:p>
        </p:txBody>
      </p:sp>
      <p:sp>
        <p:nvSpPr>
          <p:cNvPr id="6" name="tagline"/>
          <p:cNvSpPr txBox="1"/>
          <p:nvPr/>
        </p:nvSpPr>
        <p:spPr>
          <a:xfrm>
            <a:off x="640080" y="4023360"/>
            <a:ext cx="5669280" cy="457200"/>
          </a:xfrm>
          <a:prstGeom prst="rect">
            <a:avLst/>
          </a:prstGeom>
          <a:noFill/>
          <a:ln/>
        </p:spPr>
        <p:txBody>
          <a:bodyPr wrap="square" lIns="0" tIns="0" rIns="0" bIns="0" rtlCol="0" anchor="ctr"/>
          <a:lstStyle/>
          <a:p>
            <a:pPr indent="0" marL="0">
              <a:buNone/>
            </a:pPr>
            <a:r>
              <a:rPr lang="en-US" sz="1600" i="1" dirty="0">
                <a:solidFill>
                  <a:schemeClr val="accent2"/>
                </a:solidFill>
              </a:rPr>
              <a:t>Describe your robot. Let AI write the code. Test. Repeat.</a:t>
            </a:r>
            <a:endParaRPr lang="en-US" sz="1600" dirty="0"/>
          </a:p>
        </p:txBody>
      </p:sp>
      <p:sp>
        <p:nvSpPr>
          <p:cNvPr id="7" name="subtitle"/>
          <p:cNvSpPr txBox="1"/>
          <p:nvPr/>
        </p:nvSpPr>
        <p:spPr>
          <a:xfrm>
            <a:off x="640080" y="4572000"/>
            <a:ext cx="5486400" cy="1097280"/>
          </a:xfrm>
          <a:prstGeom prst="rect">
            <a:avLst/>
          </a:prstGeom>
          <a:noFill/>
          <a:ln/>
        </p:spPr>
        <p:txBody>
          <a:bodyPr wrap="square" lIns="0" tIns="0" rIns="0" bIns="0" rtlCol="0" anchor="ctr"/>
          <a:lstStyle/>
          <a:p>
            <a:pPr indent="0" marL="0">
              <a:buNone/>
            </a:pPr>
            <a:r>
              <a:rPr lang="en-US" sz="1400" dirty="0">
                <a:solidFill>
                  <a:schemeClr val="tx1"/>
                </a:solidFill>
              </a:rPr>
              <a:t>What The Hive learned watching our mentors code a robot in one week with Gemini in Android Studio, and how your team can do it too.</a:t>
            </a:r>
            <a:endParaRPr lang="en-US" sz="1400" dirty="0"/>
          </a:p>
        </p:txBody>
      </p:sp>
      <p:sp>
        <p:nvSpPr>
          <p:cNvPr id="8" name="footer"/>
          <p:cNvSpPr txBox="1"/>
          <p:nvPr/>
        </p:nvSpPr>
        <p:spPr>
          <a:xfrm>
            <a:off x="640080" y="5943600"/>
            <a:ext cx="7315200" cy="365760"/>
          </a:xfrm>
          <a:prstGeom prst="rect">
            <a:avLst/>
          </a:prstGeom>
          <a:noFill/>
          <a:ln/>
        </p:spPr>
        <p:txBody>
          <a:bodyPr wrap="square" lIns="0" tIns="0" rIns="0" bIns="0" rtlCol="0" anchor="ctr"/>
          <a:lstStyle/>
          <a:p>
            <a:pPr indent="0" marL="0">
              <a:buNone/>
            </a:pPr>
            <a:r>
              <a:rPr lang="en-US" sz="1300" dirty="0">
                <a:solidFill>
                  <a:schemeClr val="tx2"/>
                </a:solidFill>
              </a:rPr>
              <a:t>The Hive · FTC 3747 · Beehive Academy · Saturday, October 24, 2026 · an FTC Utah class</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2" type="title" hasCustomPrompt="1"/>
          </p:nvPr>
        </p:nvSpPr>
        <p:spPr>
          <a:xfrm>
            <a:off x="457200" y="365760"/>
            <a:ext cx="11274552" cy="822960"/>
          </a:xfrm>
          <a:prstGeom prst="rect">
            <a:avLst/>
          </a:prstGeom>
          <a:noFill/>
          <a:ln/>
        </p:spPr>
        <p:txBody>
          <a:bodyPr wrap="square" lIns="0" tIns="0" rIns="0" bIns="0" rtlCol="0" anchor="ctr"/>
          <a:lstStyle/>
          <a:p>
            <a:pPr algn="l" indent="0" marL="0">
              <a:buNone/>
            </a:pPr>
            <a:r>
              <a:rPr lang="en-US" sz="3200" b="1" dirty="0">
                <a:solidFill>
                  <a:schemeClr val="accent1"/>
                </a:solidFill>
              </a:rPr>
              <a:t>Who we are, and what this is</a:t>
            </a:r>
            <a:endParaRPr lang="en-US" sz="3200" dirty="0"/>
          </a:p>
        </p:txBody>
      </p:sp>
      <p:sp>
        <p:nvSpPr>
          <p:cNvPr id="4" name="hex 1"/>
          <p:cNvSpPr/>
          <p:nvPr/>
        </p:nvSpPr>
        <p:spPr>
          <a:xfrm>
            <a:off x="457200" y="1554480"/>
            <a:ext cx="731520" cy="731520"/>
          </a:xfrm>
          <a:prstGeom prst="hexagon">
            <a:avLst/>
          </a:prstGeom>
          <a:solidFill>
            <a:schemeClr val="bg1"/>
          </a:solidFill>
          <a:ln w="25400">
            <a:solidFill>
              <a:schemeClr val="accent1"/>
            </a:solidFill>
            <a:prstDash val="solid"/>
          </a:ln>
        </p:spPr>
      </p:sp>
      <p:sp>
        <p:nvSpPr>
          <p:cNvPr id="5" name="hex label 1"/>
          <p:cNvSpPr txBox="1"/>
          <p:nvPr/>
        </p:nvSpPr>
        <p:spPr>
          <a:xfrm>
            <a:off x="457200" y="1554480"/>
            <a:ext cx="731520" cy="731520"/>
          </a:xfrm>
          <a:prstGeom prst="rect">
            <a:avLst/>
          </a:prstGeom>
          <a:noFill/>
          <a:ln/>
        </p:spPr>
        <p:txBody>
          <a:bodyPr wrap="square" lIns="0" tIns="0" rIns="0" bIns="0" rtlCol="0" anchor="ctr"/>
          <a:lstStyle/>
          <a:p>
            <a:pPr algn="ctr" indent="0" marL="0">
              <a:buNone/>
            </a:pPr>
            <a:r>
              <a:rPr lang="en-US" sz="1800" b="1" dirty="0">
                <a:solidFill>
                  <a:schemeClr val="accent1"/>
                </a:solidFill>
              </a:rPr>
              <a:t>1</a:t>
            </a:r>
            <a:endParaRPr lang="en-US" sz="1800" dirty="0"/>
          </a:p>
        </p:txBody>
      </p:sp>
      <p:sp>
        <p:nvSpPr>
          <p:cNvPr id="6" name="line 1"/>
          <p:cNvSpPr txBox="1"/>
          <p:nvPr/>
        </p:nvSpPr>
        <p:spPr>
          <a:xfrm>
            <a:off x="1463040" y="1554480"/>
            <a:ext cx="6309360" cy="1097280"/>
          </a:xfrm>
          <a:prstGeom prst="rect">
            <a:avLst/>
          </a:prstGeom>
          <a:noFill/>
          <a:ln/>
        </p:spPr>
        <p:txBody>
          <a:bodyPr wrap="square" lIns="0" tIns="0" rIns="0" bIns="0" rtlCol="0" anchor="ctr"/>
          <a:lstStyle/>
          <a:p>
            <a:pPr indent="0" marL="0">
              <a:buNone/>
            </a:pPr>
            <a:r>
              <a:rPr lang="en-US" sz="1800" dirty="0">
                <a:solidFill>
                  <a:schemeClr val="tx1"/>
                </a:solidFill>
              </a:rPr>
              <a:t>We're The Hive, FTC 3747. This year our students built and coded our robot by hand. No AI.</a:t>
            </a:r>
            <a:endParaRPr lang="en-US" sz="1800" dirty="0"/>
          </a:p>
        </p:txBody>
      </p:sp>
      <p:sp>
        <p:nvSpPr>
          <p:cNvPr id="7" name="hex 2"/>
          <p:cNvSpPr/>
          <p:nvPr/>
        </p:nvSpPr>
        <p:spPr>
          <a:xfrm>
            <a:off x="457200" y="2880360"/>
            <a:ext cx="731520" cy="731520"/>
          </a:xfrm>
          <a:prstGeom prst="hexagon">
            <a:avLst/>
          </a:prstGeom>
          <a:solidFill>
            <a:schemeClr val="bg1"/>
          </a:solidFill>
          <a:ln w="25400">
            <a:solidFill>
              <a:schemeClr val="accent1"/>
            </a:solidFill>
            <a:prstDash val="solid"/>
          </a:ln>
        </p:spPr>
      </p:sp>
      <p:sp>
        <p:nvSpPr>
          <p:cNvPr id="8" name="hex label 2"/>
          <p:cNvSpPr txBox="1"/>
          <p:nvPr/>
        </p:nvSpPr>
        <p:spPr>
          <a:xfrm>
            <a:off x="457200" y="2880360"/>
            <a:ext cx="731520" cy="731520"/>
          </a:xfrm>
          <a:prstGeom prst="rect">
            <a:avLst/>
          </a:prstGeom>
          <a:noFill/>
          <a:ln/>
        </p:spPr>
        <p:txBody>
          <a:bodyPr wrap="square" lIns="0" tIns="0" rIns="0" bIns="0" rtlCol="0" anchor="ctr"/>
          <a:lstStyle/>
          <a:p>
            <a:pPr algn="ctr" indent="0" marL="0">
              <a:buNone/>
            </a:pPr>
            <a:r>
              <a:rPr lang="en-US" sz="1800" b="1" dirty="0">
                <a:solidFill>
                  <a:schemeClr val="accent1"/>
                </a:solidFill>
              </a:rPr>
              <a:t>2</a:t>
            </a:r>
            <a:endParaRPr lang="en-US" sz="1800" dirty="0"/>
          </a:p>
        </p:txBody>
      </p:sp>
      <p:sp>
        <p:nvSpPr>
          <p:cNvPr id="9" name="line 2"/>
          <p:cNvSpPr txBox="1"/>
          <p:nvPr/>
        </p:nvSpPr>
        <p:spPr>
          <a:xfrm>
            <a:off x="1463040" y="2880360"/>
            <a:ext cx="6309360" cy="1097280"/>
          </a:xfrm>
          <a:prstGeom prst="rect">
            <a:avLst/>
          </a:prstGeom>
          <a:noFill/>
          <a:ln/>
        </p:spPr>
        <p:txBody>
          <a:bodyPr wrap="square" lIns="0" tIns="0" rIns="0" bIns="0" rtlCol="0" anchor="ctr"/>
          <a:lstStyle/>
          <a:p>
            <a:pPr indent="0" marL="0">
              <a:buNone/>
            </a:pPr>
            <a:r>
              <a:rPr lang="en-US" sz="1800" dirty="0">
                <a:solidFill>
                  <a:schemeClr val="tx1"/>
                </a:solidFill>
              </a:rPr>
              <a:t>Our mentors entered the mentor competition with a separate robot, and ran an experiment on it: no hand-written Java. Everything described to Gemini.</a:t>
            </a:r>
            <a:endParaRPr lang="en-US" sz="1800" dirty="0"/>
          </a:p>
        </p:txBody>
      </p:sp>
      <p:sp>
        <p:nvSpPr>
          <p:cNvPr id="10" name="hex 3"/>
          <p:cNvSpPr/>
          <p:nvPr/>
        </p:nvSpPr>
        <p:spPr>
          <a:xfrm>
            <a:off x="457200" y="4206240"/>
            <a:ext cx="731520" cy="731520"/>
          </a:xfrm>
          <a:prstGeom prst="hexagon">
            <a:avLst/>
          </a:prstGeom>
          <a:solidFill>
            <a:schemeClr val="bg1"/>
          </a:solidFill>
          <a:ln w="25400">
            <a:solidFill>
              <a:schemeClr val="accent1"/>
            </a:solidFill>
            <a:prstDash val="solid"/>
          </a:ln>
        </p:spPr>
      </p:sp>
      <p:sp>
        <p:nvSpPr>
          <p:cNvPr id="11" name="hex label 3"/>
          <p:cNvSpPr txBox="1"/>
          <p:nvPr/>
        </p:nvSpPr>
        <p:spPr>
          <a:xfrm>
            <a:off x="457200" y="4206240"/>
            <a:ext cx="731520" cy="731520"/>
          </a:xfrm>
          <a:prstGeom prst="rect">
            <a:avLst/>
          </a:prstGeom>
          <a:noFill/>
          <a:ln/>
        </p:spPr>
        <p:txBody>
          <a:bodyPr wrap="square" lIns="0" tIns="0" rIns="0" bIns="0" rtlCol="0" anchor="ctr"/>
          <a:lstStyle/>
          <a:p>
            <a:pPr algn="ctr" indent="0" marL="0">
              <a:buNone/>
            </a:pPr>
            <a:r>
              <a:rPr lang="en-US" sz="1800" b="1" dirty="0">
                <a:solidFill>
                  <a:schemeClr val="accent1"/>
                </a:solidFill>
              </a:rPr>
              <a:t>3</a:t>
            </a:r>
            <a:endParaRPr lang="en-US" sz="1800" dirty="0"/>
          </a:p>
        </p:txBody>
      </p:sp>
      <p:sp>
        <p:nvSpPr>
          <p:cNvPr id="12" name="line 3"/>
          <p:cNvSpPr txBox="1"/>
          <p:nvPr/>
        </p:nvSpPr>
        <p:spPr>
          <a:xfrm>
            <a:off x="1463040" y="4206240"/>
            <a:ext cx="6309360" cy="1097280"/>
          </a:xfrm>
          <a:prstGeom prst="rect">
            <a:avLst/>
          </a:prstGeom>
          <a:noFill/>
          <a:ln/>
        </p:spPr>
        <p:txBody>
          <a:bodyPr wrap="square" lIns="0" tIns="0" rIns="0" bIns="0" rtlCol="0" anchor="ctr"/>
          <a:lstStyle/>
          <a:p>
            <a:pPr indent="0" marL="0">
              <a:buNone/>
            </a:pPr>
            <a:r>
              <a:rPr lang="en-US" sz="1800" dirty="0">
                <a:solidFill>
                  <a:schemeClr val="tx1"/>
                </a:solidFill>
              </a:rPr>
              <a:t>We watched both. This is what the experiment showed, what we'd do with it, and how you can use it.</a:t>
            </a:r>
            <a:endParaRPr lang="en-US" sz="1800" dirty="0"/>
          </a:p>
        </p:txBody>
      </p:sp>
      <p:pic>
        <p:nvPicPr>
          <p:cNvPr id="13" name="shooting photo" descr="/home/claude/teaching-ai-coding/docs/images/match-shooting-at-goal.jpg">    </p:cNvPr>
          <p:cNvPicPr>
            <a:picLocks noChangeAspect="1"/>
          </p:cNvPicPr>
          <p:nvPr/>
        </p:nvPicPr>
        <p:blipFill>
          <a:blip r:embed="rId1"/>
          <a:stretch>
            <a:fillRect/>
          </a:stretch>
        </p:blipFill>
        <p:spPr>
          <a:xfrm>
            <a:off x="8321040" y="1371600"/>
            <a:ext cx="2377440" cy="4389120"/>
          </a:xfrm>
          <a:prstGeom prst="rect">
            <a:avLst/>
          </a:prstGeom>
        </p:spPr>
      </p:pic>
      <p:sp>
        <p:nvSpPr>
          <p:cNvPr id="14" name="caption"/>
          <p:cNvSpPr txBox="1"/>
          <p:nvPr/>
        </p:nvSpPr>
        <p:spPr>
          <a:xfrm>
            <a:off x="8321040" y="5806440"/>
            <a:ext cx="2926080" cy="274320"/>
          </a:xfrm>
          <a:prstGeom prst="rect">
            <a:avLst/>
          </a:prstGeom>
          <a:noFill/>
          <a:ln/>
        </p:spPr>
        <p:txBody>
          <a:bodyPr wrap="square" lIns="0" tIns="0" rIns="0" bIns="0" rtlCol="0" anchor="ctr"/>
          <a:lstStyle/>
          <a:p>
            <a:pPr indent="0" marL="0">
              <a:buNone/>
            </a:pPr>
            <a:r>
              <a:rPr lang="en-US" sz="1000" dirty="0">
                <a:solidFill>
                  <a:schemeClr val="tx2"/>
                </a:solidFill>
              </a:rPr>
              <a:t>The mentor robot in a match</a:t>
            </a:r>
            <a:endParaRPr lang="en-US" sz="1000" dirty="0"/>
          </a:p>
        </p:txBody>
      </p:sp>
      <p:sp>
        <p:nvSpPr>
          <p:cNvPr id="25" name="Slide Number Placeholder 0"/>
          <p:cNvSpPr>
            <a:spLocks noGrp="1"/>
          </p:cNvSpPr>
          <p:nvPr>
            <p:ph type="sldNum" sz="quarter" idx="4294967295"/>
          </p:nvPr>
        </p:nvSpPr>
        <p:spPr>
          <a:xfrm>
            <a:off x="11247120" y="6263640"/>
            <a:ext cx="548640" cy="39319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2" type="title" hasCustomPrompt="1"/>
          </p:nvPr>
        </p:nvSpPr>
        <p:spPr>
          <a:xfrm>
            <a:off x="457200" y="365760"/>
            <a:ext cx="11274552" cy="822960"/>
          </a:xfrm>
          <a:prstGeom prst="rect">
            <a:avLst/>
          </a:prstGeom>
          <a:noFill/>
          <a:ln/>
        </p:spPr>
        <p:txBody>
          <a:bodyPr wrap="square" lIns="0" tIns="0" rIns="0" bIns="0" rtlCol="0" anchor="ctr"/>
          <a:lstStyle/>
          <a:p>
            <a:pPr algn="l" indent="0" marL="0">
              <a:buNone/>
            </a:pPr>
            <a:r>
              <a:rPr lang="en-US" sz="3200" b="1" dirty="0">
                <a:solidFill>
                  <a:schemeClr val="accent1"/>
                </a:solidFill>
              </a:rPr>
              <a:t>The problem every team has</a:t>
            </a:r>
            <a:endParaRPr lang="en-US" sz="3200" dirty="0"/>
          </a:p>
        </p:txBody>
      </p:sp>
      <p:sp>
        <p:nvSpPr>
          <p:cNvPr id="4" name="card 0"/>
          <p:cNvSpPr/>
          <p:nvPr/>
        </p:nvSpPr>
        <p:spPr>
          <a:xfrm>
            <a:off x="457200" y="1554480"/>
            <a:ext cx="3566160" cy="4206240"/>
          </a:xfrm>
          <a:prstGeom prst="roundRect">
            <a:avLst>
              <a:gd name="adj" fmla="val 3077"/>
            </a:avLst>
          </a:prstGeom>
          <a:solidFill>
            <a:schemeClr val="bg2"/>
          </a:solidFill>
          <a:ln w="12700">
            <a:solidFill>
              <a:schemeClr val="bg2"/>
            </a:solidFill>
            <a:prstDash val="solid"/>
          </a:ln>
        </p:spPr>
      </p:sp>
      <p:sp>
        <p:nvSpPr>
          <p:cNvPr id="5" name="hex 1"/>
          <p:cNvSpPr/>
          <p:nvPr/>
        </p:nvSpPr>
        <p:spPr>
          <a:xfrm>
            <a:off x="731520" y="1828800"/>
            <a:ext cx="914400" cy="914400"/>
          </a:xfrm>
          <a:prstGeom prst="hexagon">
            <a:avLst/>
          </a:prstGeom>
          <a:solidFill>
            <a:schemeClr val="bg1"/>
          </a:solidFill>
          <a:ln w="25400">
            <a:solidFill>
              <a:schemeClr val="accent1"/>
            </a:solidFill>
            <a:prstDash val="solid"/>
          </a:ln>
        </p:spPr>
      </p:sp>
      <p:sp>
        <p:nvSpPr>
          <p:cNvPr id="6" name="hex label 1"/>
          <p:cNvSpPr txBox="1"/>
          <p:nvPr/>
        </p:nvSpPr>
        <p:spPr>
          <a:xfrm>
            <a:off x="731520" y="1828800"/>
            <a:ext cx="914400" cy="914400"/>
          </a:xfrm>
          <a:prstGeom prst="rect">
            <a:avLst/>
          </a:prstGeom>
          <a:noFill/>
          <a:ln/>
        </p:spPr>
        <p:txBody>
          <a:bodyPr wrap="square" lIns="0" tIns="0" rIns="0" bIns="0" rtlCol="0" anchor="ctr"/>
          <a:lstStyle/>
          <a:p>
            <a:pPr algn="ctr" indent="0" marL="0">
              <a:buNone/>
            </a:pPr>
            <a:r>
              <a:rPr lang="en-US" sz="2400" b="1" dirty="0">
                <a:solidFill>
                  <a:schemeClr val="accent1"/>
                </a:solidFill>
              </a:rPr>
              <a:t>1</a:t>
            </a:r>
            <a:endParaRPr lang="en-US" sz="2400" dirty="0"/>
          </a:p>
        </p:txBody>
      </p:sp>
      <p:sp>
        <p:nvSpPr>
          <p:cNvPr id="7" name="head 0"/>
          <p:cNvSpPr txBox="1"/>
          <p:nvPr/>
        </p:nvSpPr>
        <p:spPr>
          <a:xfrm>
            <a:off x="731520" y="3017520"/>
            <a:ext cx="3017520" cy="1371600"/>
          </a:xfrm>
          <a:prstGeom prst="rect">
            <a:avLst/>
          </a:prstGeom>
          <a:noFill/>
          <a:ln/>
        </p:spPr>
        <p:txBody>
          <a:bodyPr wrap="square" lIns="0" tIns="0" rIns="0" bIns="0" rtlCol="0" anchor="t"/>
          <a:lstStyle/>
          <a:p>
            <a:pPr indent="0" marL="0">
              <a:buNone/>
            </a:pPr>
            <a:r>
              <a:rPr lang="en-US" sz="2200" b="1" dirty="0">
                <a:solidFill>
                  <a:schemeClr val="tx1"/>
                </a:solidFill>
              </a:rPr>
              <a:t>Most teams have 1 programmer.</a:t>
            </a:r>
            <a:endParaRPr lang="en-US" sz="2200" dirty="0"/>
          </a:p>
        </p:txBody>
      </p:sp>
      <p:sp>
        <p:nvSpPr>
          <p:cNvPr id="8" name="sub 0"/>
          <p:cNvSpPr txBox="1"/>
          <p:nvPr/>
        </p:nvSpPr>
        <p:spPr>
          <a:xfrm>
            <a:off x="731520" y="4480560"/>
            <a:ext cx="3017520" cy="1005840"/>
          </a:xfrm>
          <a:prstGeom prst="rect">
            <a:avLst/>
          </a:prstGeom>
          <a:noFill/>
          <a:ln/>
        </p:spPr>
        <p:txBody>
          <a:bodyPr wrap="square" lIns="0" tIns="0" rIns="0" bIns="0" rtlCol="0" anchor="t"/>
          <a:lstStyle/>
          <a:p>
            <a:pPr indent="0" marL="0">
              <a:buNone/>
            </a:pPr>
            <a:r>
              <a:rPr lang="en-US" sz="1800" dirty="0">
                <a:solidFill>
                  <a:schemeClr val="tx2"/>
                </a:solidFill>
              </a:rPr>
              <a:t>Sometimes 0.</a:t>
            </a:r>
            <a:endParaRPr lang="en-US" sz="1800" dirty="0"/>
          </a:p>
        </p:txBody>
      </p:sp>
      <p:sp>
        <p:nvSpPr>
          <p:cNvPr id="9" name="card 1"/>
          <p:cNvSpPr/>
          <p:nvPr/>
        </p:nvSpPr>
        <p:spPr>
          <a:xfrm>
            <a:off x="4297680" y="1554480"/>
            <a:ext cx="3566160" cy="4206240"/>
          </a:xfrm>
          <a:prstGeom prst="roundRect">
            <a:avLst>
              <a:gd name="adj" fmla="val 3077"/>
            </a:avLst>
          </a:prstGeom>
          <a:solidFill>
            <a:schemeClr val="bg2"/>
          </a:solidFill>
          <a:ln w="12700">
            <a:solidFill>
              <a:schemeClr val="bg2"/>
            </a:solidFill>
            <a:prstDash val="solid"/>
          </a:ln>
        </p:spPr>
      </p:sp>
      <p:sp>
        <p:nvSpPr>
          <p:cNvPr id="10" name="hex ⏳"/>
          <p:cNvSpPr/>
          <p:nvPr/>
        </p:nvSpPr>
        <p:spPr>
          <a:xfrm>
            <a:off x="4572000" y="1828800"/>
            <a:ext cx="914400" cy="914400"/>
          </a:xfrm>
          <a:prstGeom prst="hexagon">
            <a:avLst/>
          </a:prstGeom>
          <a:solidFill>
            <a:schemeClr val="bg1"/>
          </a:solidFill>
          <a:ln w="25400">
            <a:solidFill>
              <a:schemeClr val="accent1"/>
            </a:solidFill>
            <a:prstDash val="solid"/>
          </a:ln>
        </p:spPr>
      </p:sp>
      <p:sp>
        <p:nvSpPr>
          <p:cNvPr id="11" name="hex label ⏳"/>
          <p:cNvSpPr txBox="1"/>
          <p:nvPr/>
        </p:nvSpPr>
        <p:spPr>
          <a:xfrm>
            <a:off x="4572000" y="1828800"/>
            <a:ext cx="914400" cy="914400"/>
          </a:xfrm>
          <a:prstGeom prst="rect">
            <a:avLst/>
          </a:prstGeom>
          <a:noFill/>
          <a:ln/>
        </p:spPr>
        <p:txBody>
          <a:bodyPr wrap="square" lIns="0" tIns="0" rIns="0" bIns="0" rtlCol="0" anchor="ctr"/>
          <a:lstStyle/>
          <a:p>
            <a:pPr algn="ctr" indent="0" marL="0">
              <a:buNone/>
            </a:pPr>
            <a:r>
              <a:rPr lang="en-US" sz="2400" b="1" dirty="0">
                <a:solidFill>
                  <a:schemeClr val="accent1"/>
                </a:solidFill>
              </a:rPr>
              <a:t>⏳</a:t>
            </a:r>
            <a:endParaRPr lang="en-US" sz="2400" dirty="0"/>
          </a:p>
        </p:txBody>
      </p:sp>
      <p:sp>
        <p:nvSpPr>
          <p:cNvPr id="12" name="head 1"/>
          <p:cNvSpPr txBox="1"/>
          <p:nvPr/>
        </p:nvSpPr>
        <p:spPr>
          <a:xfrm>
            <a:off x="4572000" y="3017520"/>
            <a:ext cx="3017520" cy="1371600"/>
          </a:xfrm>
          <a:prstGeom prst="rect">
            <a:avLst/>
          </a:prstGeom>
          <a:noFill/>
          <a:ln/>
        </p:spPr>
        <p:txBody>
          <a:bodyPr wrap="square" lIns="0" tIns="0" rIns="0" bIns="0" rtlCol="0" anchor="t"/>
          <a:lstStyle/>
          <a:p>
            <a:pPr indent="0" marL="0">
              <a:buNone/>
            </a:pPr>
            <a:r>
              <a:rPr lang="en-US" sz="2200" b="1" dirty="0">
                <a:solidFill>
                  <a:schemeClr val="tx1"/>
                </a:solidFill>
              </a:rPr>
              <a:t>Every mechanical change waits</a:t>
            </a:r>
            <a:endParaRPr lang="en-US" sz="2200" dirty="0"/>
          </a:p>
        </p:txBody>
      </p:sp>
      <p:sp>
        <p:nvSpPr>
          <p:cNvPr id="13" name="sub 1"/>
          <p:cNvSpPr txBox="1"/>
          <p:nvPr/>
        </p:nvSpPr>
        <p:spPr>
          <a:xfrm>
            <a:off x="4572000" y="4480560"/>
            <a:ext cx="3017520" cy="1005840"/>
          </a:xfrm>
          <a:prstGeom prst="rect">
            <a:avLst/>
          </a:prstGeom>
          <a:noFill/>
          <a:ln/>
        </p:spPr>
        <p:txBody>
          <a:bodyPr wrap="square" lIns="0" tIns="0" rIns="0" bIns="0" rtlCol="0" anchor="t"/>
          <a:lstStyle/>
          <a:p>
            <a:pPr indent="0" marL="0">
              <a:buNone/>
            </a:pPr>
            <a:r>
              <a:rPr lang="en-US" sz="1800" dirty="0">
                <a:solidFill>
                  <a:schemeClr val="tx2"/>
                </a:solidFill>
              </a:rPr>
              <a:t>on that one person.</a:t>
            </a:r>
            <a:endParaRPr lang="en-US" sz="1800" dirty="0"/>
          </a:p>
        </p:txBody>
      </p:sp>
      <p:sp>
        <p:nvSpPr>
          <p:cNvPr id="14" name="card 2"/>
          <p:cNvSpPr/>
          <p:nvPr/>
        </p:nvSpPr>
        <p:spPr>
          <a:xfrm>
            <a:off x="8138160" y="1554480"/>
            <a:ext cx="3566160" cy="4206240"/>
          </a:xfrm>
          <a:prstGeom prst="roundRect">
            <a:avLst>
              <a:gd name="adj" fmla="val 3077"/>
            </a:avLst>
          </a:prstGeom>
          <a:solidFill>
            <a:schemeClr val="bg2"/>
          </a:solidFill>
          <a:ln w="12700">
            <a:solidFill>
              <a:schemeClr val="bg2"/>
            </a:solidFill>
            <a:prstDash val="solid"/>
          </a:ln>
        </p:spPr>
      </p:sp>
      <p:sp>
        <p:nvSpPr>
          <p:cNvPr id="15" name="hex ?"/>
          <p:cNvSpPr/>
          <p:nvPr/>
        </p:nvSpPr>
        <p:spPr>
          <a:xfrm>
            <a:off x="8412480" y="1828800"/>
            <a:ext cx="914400" cy="914400"/>
          </a:xfrm>
          <a:prstGeom prst="hexagon">
            <a:avLst/>
          </a:prstGeom>
          <a:solidFill>
            <a:schemeClr val="bg1"/>
          </a:solidFill>
          <a:ln w="25400">
            <a:solidFill>
              <a:schemeClr val="accent1"/>
            </a:solidFill>
            <a:prstDash val="solid"/>
          </a:ln>
        </p:spPr>
      </p:sp>
      <p:sp>
        <p:nvSpPr>
          <p:cNvPr id="16" name="hex label ?"/>
          <p:cNvSpPr txBox="1"/>
          <p:nvPr/>
        </p:nvSpPr>
        <p:spPr>
          <a:xfrm>
            <a:off x="8412480" y="1828800"/>
            <a:ext cx="914400" cy="914400"/>
          </a:xfrm>
          <a:prstGeom prst="rect">
            <a:avLst/>
          </a:prstGeom>
          <a:noFill/>
          <a:ln/>
        </p:spPr>
        <p:txBody>
          <a:bodyPr wrap="square" lIns="0" tIns="0" rIns="0" bIns="0" rtlCol="0" anchor="ctr"/>
          <a:lstStyle/>
          <a:p>
            <a:pPr algn="ctr" indent="0" marL="0">
              <a:buNone/>
            </a:pPr>
            <a:r>
              <a:rPr lang="en-US" sz="2400" b="1" dirty="0">
                <a:solidFill>
                  <a:schemeClr val="accent1"/>
                </a:solidFill>
              </a:rPr>
              <a:t>?</a:t>
            </a:r>
            <a:endParaRPr lang="en-US" sz="2400" dirty="0"/>
          </a:p>
        </p:txBody>
      </p:sp>
      <p:sp>
        <p:nvSpPr>
          <p:cNvPr id="17" name="head 2"/>
          <p:cNvSpPr txBox="1"/>
          <p:nvPr/>
        </p:nvSpPr>
        <p:spPr>
          <a:xfrm>
            <a:off x="8412480" y="3017520"/>
            <a:ext cx="3017520" cy="1371600"/>
          </a:xfrm>
          <a:prstGeom prst="rect">
            <a:avLst/>
          </a:prstGeom>
          <a:noFill/>
          <a:ln/>
        </p:spPr>
        <p:txBody>
          <a:bodyPr wrap="square" lIns="0" tIns="0" rIns="0" bIns="0" rtlCol="0" anchor="t"/>
          <a:lstStyle/>
          <a:p>
            <a:pPr indent="0" marL="0">
              <a:buNone/>
            </a:pPr>
            <a:r>
              <a:rPr lang="en-US" sz="2200" b="1" dirty="0">
                <a:solidFill>
                  <a:schemeClr val="tx1"/>
                </a:solidFill>
              </a:rPr>
              <a:t>The mechanical people know what the robot should do.</a:t>
            </a:r>
            <a:endParaRPr lang="en-US" sz="2200" dirty="0"/>
          </a:p>
        </p:txBody>
      </p:sp>
      <p:sp>
        <p:nvSpPr>
          <p:cNvPr id="18" name="sub 2"/>
          <p:cNvSpPr txBox="1"/>
          <p:nvPr/>
        </p:nvSpPr>
        <p:spPr>
          <a:xfrm>
            <a:off x="8412480" y="4480560"/>
            <a:ext cx="3017520" cy="1005840"/>
          </a:xfrm>
          <a:prstGeom prst="rect">
            <a:avLst/>
          </a:prstGeom>
          <a:noFill/>
          <a:ln/>
        </p:spPr>
        <p:txBody>
          <a:bodyPr wrap="square" lIns="0" tIns="0" rIns="0" bIns="0" rtlCol="0" anchor="t"/>
          <a:lstStyle/>
          <a:p>
            <a:pPr indent="0" marL="0">
              <a:buNone/>
            </a:pPr>
            <a:r>
              <a:rPr lang="en-US" sz="1800" dirty="0">
                <a:solidFill>
                  <a:schemeClr val="tx2"/>
                </a:solidFill>
              </a:rPr>
              <a:t>They just can't type it in Java.</a:t>
            </a:r>
            <a:endParaRPr lang="en-US" sz="1800" dirty="0"/>
          </a:p>
        </p:txBody>
      </p:sp>
      <p:sp>
        <p:nvSpPr>
          <p:cNvPr id="25" name="Slide Number Placeholder 0"/>
          <p:cNvSpPr>
            <a:spLocks noGrp="1"/>
          </p:cNvSpPr>
          <p:nvPr>
            <p:ph type="sldNum" sz="quarter" idx="4294967295"/>
          </p:nvPr>
        </p:nvSpPr>
        <p:spPr>
          <a:xfrm>
            <a:off x="11247120" y="6263640"/>
            <a:ext cx="548640" cy="39319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2" type="title" hasCustomPrompt="1"/>
          </p:nvPr>
        </p:nvSpPr>
        <p:spPr>
          <a:xfrm>
            <a:off x="457200" y="365760"/>
            <a:ext cx="11274552" cy="822960"/>
          </a:xfrm>
          <a:prstGeom prst="rect">
            <a:avLst/>
          </a:prstGeom>
          <a:noFill/>
          <a:ln/>
        </p:spPr>
        <p:txBody>
          <a:bodyPr wrap="square" lIns="0" tIns="0" rIns="0" bIns="0" rtlCol="0" anchor="ctr"/>
          <a:lstStyle/>
          <a:p>
            <a:pPr algn="l" indent="0" marL="0">
              <a:buNone/>
            </a:pPr>
            <a:r>
              <a:rPr lang="en-US" sz="3200" b="1" dirty="0">
                <a:solidFill>
                  <a:schemeClr val="accent1"/>
                </a:solidFill>
              </a:rPr>
              <a:t>The programmer doesn't go away. The job changes.</a:t>
            </a:r>
            <a:endParaRPr lang="en-US" sz="3200" dirty="0"/>
          </a:p>
        </p:txBody>
      </p:sp>
      <p:sp>
        <p:nvSpPr>
          <p:cNvPr id="4" name="before card"/>
          <p:cNvSpPr/>
          <p:nvPr/>
        </p:nvSpPr>
        <p:spPr>
          <a:xfrm>
            <a:off x="457200" y="1325880"/>
            <a:ext cx="5486400" cy="3566160"/>
          </a:xfrm>
          <a:prstGeom prst="roundRect">
            <a:avLst>
              <a:gd name="adj" fmla="val 3077"/>
            </a:avLst>
          </a:prstGeom>
          <a:solidFill>
            <a:schemeClr val="bg2"/>
          </a:solidFill>
          <a:ln w="12700">
            <a:solidFill>
              <a:schemeClr val="bg2"/>
            </a:solidFill>
            <a:prstDash val="solid"/>
          </a:ln>
        </p:spPr>
      </p:sp>
      <p:sp>
        <p:nvSpPr>
          <p:cNvPr id="5" name="before head"/>
          <p:cNvSpPr txBox="1"/>
          <p:nvPr/>
        </p:nvSpPr>
        <p:spPr>
          <a:xfrm>
            <a:off x="731520" y="1463040"/>
            <a:ext cx="4937760" cy="411480"/>
          </a:xfrm>
          <a:prstGeom prst="rect">
            <a:avLst/>
          </a:prstGeom>
          <a:noFill/>
          <a:ln/>
        </p:spPr>
        <p:txBody>
          <a:bodyPr wrap="square" lIns="0" tIns="0" rIns="0" bIns="0" rtlCol="0" anchor="t"/>
          <a:lstStyle/>
          <a:p>
            <a:pPr indent="0" marL="0">
              <a:buNone/>
            </a:pPr>
            <a:r>
              <a:rPr lang="en-US" sz="2000" b="1" dirty="0">
                <a:solidFill>
                  <a:schemeClr val="accent1"/>
                </a:solidFill>
              </a:rPr>
              <a:t>Before anyone else touches it</a:t>
            </a:r>
            <a:endParaRPr lang="en-US" sz="2000" dirty="0"/>
          </a:p>
        </p:txBody>
      </p:sp>
      <p:sp>
        <p:nvSpPr>
          <p:cNvPr id="6" name="before text"/>
          <p:cNvSpPr txBox="1"/>
          <p:nvPr/>
        </p:nvSpPr>
        <p:spPr>
          <a:xfrm>
            <a:off x="731520" y="1965960"/>
            <a:ext cx="4937760" cy="2834640"/>
          </a:xfrm>
          <a:prstGeom prst="rect">
            <a:avLst/>
          </a:prstGeom>
          <a:noFill/>
          <a:ln/>
        </p:spPr>
        <p:txBody>
          <a:bodyPr wrap="square" lIns="0" tIns="0" rIns="0" bIns="0" rtlCol="0" anchor="t"/>
          <a:lstStyle/>
          <a:p>
            <a:pPr indent="0" marL="0">
              <a:buNone/>
            </a:pPr>
            <a:r>
              <a:rPr lang="en-US" sz="1600" b="1" dirty="0">
                <a:solidFill>
                  <a:schemeClr val="tx1"/>
                </a:solidFill>
              </a:rPr>
              <a:t>Describe</a:t>
            </a:r>
            <a:pPr indent="0" marL="0">
              <a:spcAft>
                <a:spcPts val="1000"/>
              </a:spcAft>
              <a:buNone/>
            </a:pPr>
            <a:r>
              <a:rPr lang="en-US" sz="1600" dirty="0">
                <a:solidFill>
                  <a:schemeClr val="tx1"/>
                </a:solidFill>
              </a:rPr>
              <a:t> the robot: every motor and servo, name, port, direction.</a:t>
            </a:r>
            <a:endParaRPr lang="en-US" sz="1600" dirty="0"/>
          </a:p>
          <a:p>
            <a:pPr indent="0" marL="0">
              <a:buNone/>
            </a:pPr>
            <a:r>
              <a:rPr lang="en-US" sz="1600" b="1" dirty="0">
                <a:solidFill>
                  <a:schemeClr val="tx1"/>
                </a:solidFill>
              </a:rPr>
              <a:t>Architect</a:t>
            </a:r>
            <a:pPr indent="0" marL="0">
              <a:spcAft>
                <a:spcPts val="1000"/>
              </a:spcAft>
              <a:buNone/>
            </a:pPr>
            <a:r>
              <a:rPr lang="en-US" sz="1600" dirty="0">
                <a:solidFill>
                  <a:schemeClr val="tx1"/>
                </a:solidFill>
              </a:rPr>
              <a:t> it: subsystems, state machines, what the autonomous will need later.</a:t>
            </a:r>
            <a:endParaRPr lang="en-US" sz="1600" dirty="0"/>
          </a:p>
          <a:p>
            <a:pPr indent="0" marL="0">
              <a:buNone/>
            </a:pPr>
            <a:r>
              <a:rPr lang="en-US" sz="1600" b="1" dirty="0">
                <a:solidFill>
                  <a:schemeClr val="tx1"/>
                </a:solidFill>
              </a:rPr>
              <a:t>Set the process</a:t>
            </a:r>
            <a:pPr indent="0" marL="0">
              <a:spcAft>
                <a:spcPts val="1400"/>
              </a:spcAft>
              <a:buNone/>
            </a:pPr>
            <a:r>
              <a:rPr lang="en-US" sz="1600" dirty="0">
                <a:solidFill>
                  <a:schemeClr val="tx1"/>
                </a:solidFill>
              </a:rPr>
              <a:t>: one change per prompt, test, commit.</a:t>
            </a:r>
            <a:endParaRPr lang="en-US" sz="1600" dirty="0"/>
          </a:p>
          <a:p>
            <a:pPr indent="0" marL="0">
              <a:buNone/>
            </a:pPr>
            <a:r>
              <a:rPr lang="en-US" sz="1600" dirty="0">
                <a:solidFill>
                  <a:schemeClr val="tx2"/>
                </a:solidFill>
              </a:rPr>
              <a:t>That groundwork is what lets a mechanical teammate make a change in English and have it land in the right place.</a:t>
            </a:r>
            <a:endParaRPr lang="en-US" sz="1600" dirty="0"/>
          </a:p>
        </p:txBody>
      </p:sp>
      <p:sp>
        <p:nvSpPr>
          <p:cNvPr id="7" name="after card"/>
          <p:cNvSpPr/>
          <p:nvPr/>
        </p:nvSpPr>
        <p:spPr>
          <a:xfrm>
            <a:off x="6245352" y="1325880"/>
            <a:ext cx="5486400" cy="3566160"/>
          </a:xfrm>
          <a:prstGeom prst="roundRect">
            <a:avLst>
              <a:gd name="adj" fmla="val 3077"/>
            </a:avLst>
          </a:prstGeom>
          <a:solidFill>
            <a:schemeClr val="bg2"/>
          </a:solidFill>
          <a:ln w="12700">
            <a:solidFill>
              <a:schemeClr val="bg2"/>
            </a:solidFill>
            <a:prstDash val="solid"/>
          </a:ln>
        </p:spPr>
      </p:sp>
      <p:sp>
        <p:nvSpPr>
          <p:cNvPr id="8" name="after head"/>
          <p:cNvSpPr txBox="1"/>
          <p:nvPr/>
        </p:nvSpPr>
        <p:spPr>
          <a:xfrm>
            <a:off x="6519672" y="1463040"/>
            <a:ext cx="4937760" cy="411480"/>
          </a:xfrm>
          <a:prstGeom prst="rect">
            <a:avLst/>
          </a:prstGeom>
          <a:noFill/>
          <a:ln/>
        </p:spPr>
        <p:txBody>
          <a:bodyPr wrap="square" lIns="0" tIns="0" rIns="0" bIns="0" rtlCol="0" anchor="t"/>
          <a:lstStyle/>
          <a:p>
            <a:pPr indent="0" marL="0">
              <a:buNone/>
            </a:pPr>
            <a:r>
              <a:rPr lang="en-US" sz="2000" b="1" dirty="0">
                <a:solidFill>
                  <a:schemeClr val="accent1"/>
                </a:solidFill>
              </a:rPr>
              <a:t>After every change</a:t>
            </a:r>
            <a:endParaRPr lang="en-US" sz="2000" dirty="0"/>
          </a:p>
        </p:txBody>
      </p:sp>
      <p:sp>
        <p:nvSpPr>
          <p:cNvPr id="9" name="after text"/>
          <p:cNvSpPr txBox="1"/>
          <p:nvPr/>
        </p:nvSpPr>
        <p:spPr>
          <a:xfrm>
            <a:off x="6519672" y="1965960"/>
            <a:ext cx="4937760" cy="2834640"/>
          </a:xfrm>
          <a:prstGeom prst="rect">
            <a:avLst/>
          </a:prstGeom>
          <a:noFill/>
          <a:ln/>
        </p:spPr>
        <p:txBody>
          <a:bodyPr wrap="square" lIns="0" tIns="0" rIns="0" bIns="0" rtlCol="0" anchor="t"/>
          <a:lstStyle/>
          <a:p>
            <a:pPr indent="0" marL="0">
              <a:buNone/>
            </a:pPr>
            <a:r>
              <a:rPr lang="en-US" sz="1600" b="1" dirty="0">
                <a:solidFill>
                  <a:schemeClr val="tx1"/>
                </a:solidFill>
              </a:rPr>
              <a:t>Review</a:t>
            </a:r>
            <a:pPr indent="0" marL="0">
              <a:spcAft>
                <a:spcPts val="1400"/>
              </a:spcAft>
              <a:buNone/>
            </a:pPr>
            <a:r>
              <a:rPr lang="en-US" sz="1600" dirty="0">
                <a:solidFill>
                  <a:schemeClr val="tx1"/>
                </a:solidFill>
              </a:rPr>
              <a:t> what the AI did, and catch drift.</a:t>
            </a:r>
            <a:endParaRPr lang="en-US" sz="1600" dirty="0"/>
          </a:p>
          <a:p>
            <a:pPr indent="0" marL="0">
              <a:spcAft>
                <a:spcPts val="1400"/>
              </a:spcAft>
              <a:buNone/>
            </a:pPr>
            <a:r>
              <a:rPr lang="en-US" sz="1600" dirty="0">
                <a:solidFill>
                  <a:schemeClr val="tx2"/>
                </a:solidFill>
              </a:rPr>
              <a:t>On the mentor robot: the autonomous that drove the intake through a fake gamepad. The D-pad that ended up doing two things (slow mode and flywheel tuning) instead of one.</a:t>
            </a:r>
            <a:endParaRPr lang="en-US" sz="1600" dirty="0"/>
          </a:p>
          <a:p>
            <a:pPr indent="0" marL="0">
              <a:buNone/>
            </a:pPr>
            <a:r>
              <a:rPr lang="en-US" sz="1600" dirty="0">
                <a:solidFill>
                  <a:schemeClr val="tx2"/>
                </a:solidFill>
              </a:rPr>
              <a:t>Both worked, and both were wrong. Only a programmer reading the code saw it.</a:t>
            </a:r>
            <a:endParaRPr lang="en-US" sz="1600" dirty="0"/>
          </a:p>
        </p:txBody>
      </p:sp>
      <p:sp>
        <p:nvSpPr>
          <p:cNvPr id="10" name="takeaway"/>
          <p:cNvSpPr txBox="1"/>
          <p:nvPr/>
        </p:nvSpPr>
        <p:spPr>
          <a:xfrm>
            <a:off x="457200" y="5120640"/>
            <a:ext cx="11247120" cy="822960"/>
          </a:xfrm>
          <a:prstGeom prst="rect">
            <a:avLst/>
          </a:prstGeom>
          <a:noFill/>
          <a:ln/>
        </p:spPr>
        <p:txBody>
          <a:bodyPr wrap="square" lIns="0" tIns="0" rIns="0" bIns="0" rtlCol="0" anchor="t"/>
          <a:lstStyle/>
          <a:p>
            <a:pPr indent="0" marL="0">
              <a:buNone/>
            </a:pPr>
            <a:r>
              <a:rPr lang="en-US" sz="1800" b="1" dirty="0">
                <a:solidFill>
                  <a:schemeClr val="accent1"/>
                </a:solidFill>
              </a:rPr>
              <a:t>The programmer gets the big picture back: “What do I want vision to do?” instead of “How do I parse the Limelight result?”</a:t>
            </a:r>
            <a:endParaRPr lang="en-US" sz="1800" dirty="0"/>
          </a:p>
        </p:txBody>
      </p:sp>
      <p:sp>
        <p:nvSpPr>
          <p:cNvPr id="25" name="Slide Number Placeholder 0"/>
          <p:cNvSpPr>
            <a:spLocks noGrp="1"/>
          </p:cNvSpPr>
          <p:nvPr>
            <p:ph type="sldNum" sz="quarter" idx="4294967295"/>
          </p:nvPr>
        </p:nvSpPr>
        <p:spPr>
          <a:xfrm>
            <a:off x="11247120" y="6263640"/>
            <a:ext cx="548640" cy="39319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2" type="title" hasCustomPrompt="1"/>
          </p:nvPr>
        </p:nvSpPr>
        <p:spPr>
          <a:xfrm>
            <a:off x="457200" y="365760"/>
            <a:ext cx="11274552" cy="822960"/>
          </a:xfrm>
          <a:prstGeom prst="rect">
            <a:avLst/>
          </a:prstGeom>
          <a:noFill/>
          <a:ln/>
        </p:spPr>
        <p:txBody>
          <a:bodyPr wrap="square" lIns="0" tIns="0" rIns="0" bIns="0" rtlCol="0" anchor="ctr"/>
          <a:lstStyle/>
          <a:p>
            <a:pPr algn="l" indent="0" marL="0">
              <a:buNone/>
            </a:pPr>
            <a:r>
              <a:rPr lang="en-US" sz="3200" b="1" dirty="0">
                <a:solidFill>
                  <a:schemeClr val="accent1"/>
                </a:solidFill>
              </a:rPr>
              <a:t>AI can shrink your skills. Or multiply them.</a:t>
            </a:r>
            <a:endParaRPr lang="en-US" sz="3200" dirty="0"/>
          </a:p>
        </p:txBody>
      </p:sp>
      <p:sp>
        <p:nvSpPr>
          <p:cNvPr id="4" name="study 0"/>
          <p:cNvSpPr/>
          <p:nvPr/>
        </p:nvSpPr>
        <p:spPr>
          <a:xfrm>
            <a:off x="457200" y="1325880"/>
            <a:ext cx="3566160" cy="3703320"/>
          </a:xfrm>
          <a:prstGeom prst="roundRect">
            <a:avLst>
              <a:gd name="adj" fmla="val 3077"/>
            </a:avLst>
          </a:prstGeom>
          <a:solidFill>
            <a:schemeClr val="bg2"/>
          </a:solidFill>
          <a:ln w="12700">
            <a:solidFill>
              <a:schemeClr val="bg2"/>
            </a:solidFill>
            <a:prstDash val="solid"/>
          </a:ln>
        </p:spPr>
      </p:sp>
      <p:sp>
        <p:nvSpPr>
          <p:cNvPr id="5" name="big 0"/>
          <p:cNvSpPr txBox="1"/>
          <p:nvPr/>
        </p:nvSpPr>
        <p:spPr>
          <a:xfrm>
            <a:off x="731520" y="1463040"/>
            <a:ext cx="3017520" cy="822960"/>
          </a:xfrm>
          <a:prstGeom prst="rect">
            <a:avLst/>
          </a:prstGeom>
          <a:noFill/>
          <a:ln/>
        </p:spPr>
        <p:txBody>
          <a:bodyPr wrap="square" lIns="0" tIns="0" rIns="0" bIns="0" rtlCol="0" anchor="ctr"/>
          <a:lstStyle/>
          <a:p>
            <a:pPr indent="0" marL="0">
              <a:buNone/>
            </a:pPr>
            <a:r>
              <a:rPr lang="en-US" sz="3600" b="1" dirty="0">
                <a:solidFill>
                  <a:schemeClr val="accent4"/>
                </a:solidFill>
              </a:rPr>
              <a:t>−17%</a:t>
            </a:r>
            <a:endParaRPr lang="en-US" sz="3600" dirty="0"/>
          </a:p>
        </p:txBody>
      </p:sp>
      <p:sp>
        <p:nvSpPr>
          <p:cNvPr id="6" name="lbl 0"/>
          <p:cNvSpPr txBox="1"/>
          <p:nvPr/>
        </p:nvSpPr>
        <p:spPr>
          <a:xfrm>
            <a:off x="731520" y="2286000"/>
            <a:ext cx="3017520" cy="365760"/>
          </a:xfrm>
          <a:prstGeom prst="rect">
            <a:avLst/>
          </a:prstGeom>
          <a:noFill/>
          <a:ln/>
        </p:spPr>
        <p:txBody>
          <a:bodyPr wrap="square" lIns="0" tIns="0" rIns="0" bIns="0" rtlCol="0" anchor="t"/>
          <a:lstStyle/>
          <a:p>
            <a:pPr indent="0" marL="0">
              <a:buNone/>
            </a:pPr>
            <a:r>
              <a:rPr lang="en-US" sz="1400" b="1" dirty="0">
                <a:solidFill>
                  <a:schemeClr val="tx2"/>
                </a:solidFill>
              </a:rPr>
              <a:t>on the exam</a:t>
            </a:r>
            <a:endParaRPr lang="en-US" sz="1400" dirty="0"/>
          </a:p>
        </p:txBody>
      </p:sp>
      <p:sp>
        <p:nvSpPr>
          <p:cNvPr id="7" name="txt 0"/>
          <p:cNvSpPr txBox="1"/>
          <p:nvPr/>
        </p:nvSpPr>
        <p:spPr>
          <a:xfrm>
            <a:off x="731520" y="2743200"/>
            <a:ext cx="3017520" cy="2194560"/>
          </a:xfrm>
          <a:prstGeom prst="rect">
            <a:avLst/>
          </a:prstGeom>
          <a:noFill/>
          <a:ln/>
        </p:spPr>
        <p:txBody>
          <a:bodyPr wrap="square" lIns="0" tIns="0" rIns="0" bIns="0" rtlCol="0" anchor="t"/>
          <a:lstStyle/>
          <a:p>
            <a:pPr indent="0" marL="0">
              <a:buNone/>
            </a:pPr>
            <a:r>
              <a:rPr lang="en-US" sz="1300" dirty="0">
                <a:solidFill>
                  <a:schemeClr val="tx1"/>
                </a:solidFill>
              </a:rPr>
              <a:t>PNAS 2025 · about 1,000 high-school students (math), randomized. Plain ChatGPT: practice +48%, unassisted exam −17%. A hints-only tutor “largely mitigated” the harm.</a:t>
            </a:r>
            <a:endParaRPr lang="en-US" sz="1300" dirty="0"/>
          </a:p>
        </p:txBody>
      </p:sp>
      <p:sp>
        <p:nvSpPr>
          <p:cNvPr id="8" name="study 1"/>
          <p:cNvSpPr/>
          <p:nvPr/>
        </p:nvSpPr>
        <p:spPr>
          <a:xfrm>
            <a:off x="4297680" y="1325880"/>
            <a:ext cx="3566160" cy="3703320"/>
          </a:xfrm>
          <a:prstGeom prst="roundRect">
            <a:avLst>
              <a:gd name="adj" fmla="val 3077"/>
            </a:avLst>
          </a:prstGeom>
          <a:solidFill>
            <a:schemeClr val="bg2"/>
          </a:solidFill>
          <a:ln w="12700">
            <a:solidFill>
              <a:schemeClr val="bg2"/>
            </a:solidFill>
            <a:prstDash val="solid"/>
          </a:ln>
        </p:spPr>
      </p:sp>
      <p:sp>
        <p:nvSpPr>
          <p:cNvPr id="9" name="big 1"/>
          <p:cNvSpPr txBox="1"/>
          <p:nvPr/>
        </p:nvSpPr>
        <p:spPr>
          <a:xfrm>
            <a:off x="4572000" y="1463040"/>
            <a:ext cx="3017520" cy="822960"/>
          </a:xfrm>
          <a:prstGeom prst="rect">
            <a:avLst/>
          </a:prstGeom>
          <a:noFill/>
          <a:ln/>
        </p:spPr>
        <p:txBody>
          <a:bodyPr wrap="square" lIns="0" tIns="0" rIns="0" bIns="0" rtlCol="0" anchor="ctr"/>
          <a:lstStyle/>
          <a:p>
            <a:pPr indent="0" marL="0">
              <a:buNone/>
            </a:pPr>
            <a:r>
              <a:rPr lang="en-US" sz="3600" b="1" dirty="0">
                <a:solidFill>
                  <a:schemeClr val="accent4"/>
                </a:solidFill>
              </a:rPr>
              <a:t>+19%</a:t>
            </a:r>
            <a:endParaRPr lang="en-US" sz="3600" dirty="0"/>
          </a:p>
        </p:txBody>
      </p:sp>
      <p:sp>
        <p:nvSpPr>
          <p:cNvPr id="10" name="lbl 1"/>
          <p:cNvSpPr txBox="1"/>
          <p:nvPr/>
        </p:nvSpPr>
        <p:spPr>
          <a:xfrm>
            <a:off x="4572000" y="2286000"/>
            <a:ext cx="3017520" cy="365760"/>
          </a:xfrm>
          <a:prstGeom prst="rect">
            <a:avLst/>
          </a:prstGeom>
          <a:noFill/>
          <a:ln/>
        </p:spPr>
        <p:txBody>
          <a:bodyPr wrap="square" lIns="0" tIns="0" rIns="0" bIns="0" rtlCol="0" anchor="t"/>
          <a:lstStyle/>
          <a:p>
            <a:pPr indent="0" marL="0">
              <a:buNone/>
            </a:pPr>
            <a:r>
              <a:rPr lang="en-US" sz="1400" b="1" dirty="0">
                <a:solidFill>
                  <a:schemeClr val="tx2"/>
                </a:solidFill>
              </a:rPr>
              <a:t>longer, not shorter</a:t>
            </a:r>
            <a:endParaRPr lang="en-US" sz="1400" dirty="0"/>
          </a:p>
        </p:txBody>
      </p:sp>
      <p:sp>
        <p:nvSpPr>
          <p:cNvPr id="11" name="txt 1"/>
          <p:cNvSpPr txBox="1"/>
          <p:nvPr/>
        </p:nvSpPr>
        <p:spPr>
          <a:xfrm>
            <a:off x="4572000" y="2743200"/>
            <a:ext cx="3017520" cy="2194560"/>
          </a:xfrm>
          <a:prstGeom prst="rect">
            <a:avLst/>
          </a:prstGeom>
          <a:noFill/>
          <a:ln/>
        </p:spPr>
        <p:txBody>
          <a:bodyPr wrap="square" lIns="0" tIns="0" rIns="0" bIns="0" rtlCol="0" anchor="t"/>
          <a:lstStyle/>
          <a:p>
            <a:pPr indent="0" marL="0">
              <a:buNone/>
            </a:pPr>
            <a:r>
              <a:rPr lang="en-US" sz="1300" dirty="0">
                <a:solidFill>
                  <a:schemeClr val="tx1"/>
                </a:solidFill>
              </a:rPr>
              <a:t>METR 2025 · 16 expert maintainers on their own code, 246 tasks. With AI they took 19% longer, and believed they'd been 20% faster.</a:t>
            </a:r>
            <a:endParaRPr lang="en-US" sz="1300" dirty="0"/>
          </a:p>
        </p:txBody>
      </p:sp>
      <p:sp>
        <p:nvSpPr>
          <p:cNvPr id="12" name="study 2"/>
          <p:cNvSpPr/>
          <p:nvPr/>
        </p:nvSpPr>
        <p:spPr>
          <a:xfrm>
            <a:off x="8138160" y="1325880"/>
            <a:ext cx="3566160" cy="3703320"/>
          </a:xfrm>
          <a:prstGeom prst="roundRect">
            <a:avLst>
              <a:gd name="adj" fmla="val 3077"/>
            </a:avLst>
          </a:prstGeom>
          <a:solidFill>
            <a:schemeClr val="bg2"/>
          </a:solidFill>
          <a:ln w="12700">
            <a:solidFill>
              <a:schemeClr val="bg2"/>
            </a:solidFill>
            <a:prstDash val="solid"/>
          </a:ln>
        </p:spPr>
      </p:sp>
      <p:sp>
        <p:nvSpPr>
          <p:cNvPr id="13" name="big 2"/>
          <p:cNvSpPr txBox="1"/>
          <p:nvPr/>
        </p:nvSpPr>
        <p:spPr>
          <a:xfrm>
            <a:off x="8412480" y="1463040"/>
            <a:ext cx="3017520" cy="822960"/>
          </a:xfrm>
          <a:prstGeom prst="rect">
            <a:avLst/>
          </a:prstGeom>
          <a:noFill/>
          <a:ln/>
        </p:spPr>
        <p:txBody>
          <a:bodyPr wrap="square" lIns="0" tIns="0" rIns="0" bIns="0" rtlCol="0" anchor="ctr"/>
          <a:lstStyle/>
          <a:p>
            <a:pPr indent="0" marL="0">
              <a:buNone/>
            </a:pPr>
            <a:r>
              <a:rPr lang="en-US" sz="3600" b="1" dirty="0">
                <a:solidFill>
                  <a:schemeClr val="accent4"/>
                </a:solidFill>
              </a:rPr>
              <a:t>50 vs 67</a:t>
            </a:r>
            <a:endParaRPr lang="en-US" sz="3600" dirty="0"/>
          </a:p>
        </p:txBody>
      </p:sp>
      <p:sp>
        <p:nvSpPr>
          <p:cNvPr id="14" name="lbl 2"/>
          <p:cNvSpPr txBox="1"/>
          <p:nvPr/>
        </p:nvSpPr>
        <p:spPr>
          <a:xfrm>
            <a:off x="8412480" y="2286000"/>
            <a:ext cx="3017520" cy="365760"/>
          </a:xfrm>
          <a:prstGeom prst="rect">
            <a:avLst/>
          </a:prstGeom>
          <a:noFill/>
          <a:ln/>
        </p:spPr>
        <p:txBody>
          <a:bodyPr wrap="square" lIns="0" tIns="0" rIns="0" bIns="0" rtlCol="0" anchor="t"/>
          <a:lstStyle/>
          <a:p>
            <a:pPr indent="0" marL="0">
              <a:buNone/>
            </a:pPr>
            <a:r>
              <a:rPr lang="en-US" sz="1400" b="1" dirty="0">
                <a:solidFill>
                  <a:schemeClr val="tx2"/>
                </a:solidFill>
              </a:rPr>
              <a:t>comprehension score</a:t>
            </a:r>
            <a:endParaRPr lang="en-US" sz="1400" dirty="0"/>
          </a:p>
        </p:txBody>
      </p:sp>
      <p:sp>
        <p:nvSpPr>
          <p:cNvPr id="15" name="txt 2"/>
          <p:cNvSpPr txBox="1"/>
          <p:nvPr/>
        </p:nvSpPr>
        <p:spPr>
          <a:xfrm>
            <a:off x="8412480" y="2743200"/>
            <a:ext cx="3017520" cy="2194560"/>
          </a:xfrm>
          <a:prstGeom prst="rect">
            <a:avLst/>
          </a:prstGeom>
          <a:noFill/>
          <a:ln/>
        </p:spPr>
        <p:txBody>
          <a:bodyPr wrap="square" lIns="0" tIns="0" rIns="0" bIns="0" rtlCol="0" anchor="t"/>
          <a:lstStyle/>
          <a:p>
            <a:pPr indent="0" marL="0">
              <a:buNone/>
            </a:pPr>
            <a:r>
              <a:rPr lang="en-US" sz="1300" dirty="0">
                <a:solidFill>
                  <a:schemeClr val="tx1"/>
                </a:solidFill>
              </a:rPr>
              <a:t>Anthropic, Jan 2026 · their own tool, their own study (not peer-reviewed). 52 mostly-junior engineers: AI group understood less, finished ~2 min faster. Delegating hurt; asking questions didn't.</a:t>
            </a:r>
            <a:endParaRPr lang="en-US" sz="1300" dirty="0"/>
          </a:p>
        </p:txBody>
      </p:sp>
      <p:sp>
        <p:nvSpPr>
          <p:cNvPr id="16" name="takeaway"/>
          <p:cNvSpPr txBox="1"/>
          <p:nvPr/>
        </p:nvSpPr>
        <p:spPr>
          <a:xfrm>
            <a:off x="457200" y="5257800"/>
            <a:ext cx="11247120" cy="731520"/>
          </a:xfrm>
          <a:prstGeom prst="rect">
            <a:avLst/>
          </a:prstGeom>
          <a:noFill/>
          <a:ln/>
        </p:spPr>
        <p:txBody>
          <a:bodyPr wrap="square" lIns="0" tIns="0" rIns="0" bIns="0" rtlCol="0" anchor="t"/>
          <a:lstStyle/>
          <a:p>
            <a:pPr indent="0" marL="0">
              <a:buNone/>
            </a:pPr>
            <a:r>
              <a:rPr lang="en-US" sz="1700" b="1" dirty="0">
                <a:solidFill>
                  <a:schemeClr val="accent1"/>
                </a:solidFill>
              </a:rPr>
              <a:t>The difference is how you use it. Delegate and auto-accept: you lose understanding. Ask, read the diff, explain it: you don't. That's our rule, on the next slide.</a:t>
            </a:r>
            <a:endParaRPr lang="en-US" sz="1700" dirty="0"/>
          </a:p>
        </p:txBody>
      </p:sp>
      <p:sp>
        <p:nvSpPr>
          <p:cNvPr id="25" name="Slide Number Placeholder 0"/>
          <p:cNvSpPr>
            <a:spLocks noGrp="1"/>
          </p:cNvSpPr>
          <p:nvPr>
            <p:ph type="sldNum" sz="quarter" idx="4294967295"/>
          </p:nvPr>
        </p:nvSpPr>
        <p:spPr>
          <a:xfrm>
            <a:off x="11247120" y="6263640"/>
            <a:ext cx="548640" cy="39319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2" type="title" hasCustomPrompt="1"/>
          </p:nvPr>
        </p:nvSpPr>
        <p:spPr>
          <a:xfrm>
            <a:off x="457200" y="365760"/>
            <a:ext cx="11274552" cy="822960"/>
          </a:xfrm>
          <a:prstGeom prst="rect">
            <a:avLst/>
          </a:prstGeom>
          <a:noFill/>
          <a:ln/>
        </p:spPr>
        <p:txBody>
          <a:bodyPr wrap="square" lIns="0" tIns="0" rIns="0" bIns="0" rtlCol="0" anchor="ctr"/>
          <a:lstStyle/>
          <a:p>
            <a:pPr algn="l" indent="0" marL="0">
              <a:buNone/>
            </a:pPr>
            <a:r>
              <a:rPr lang="en-US" sz="3200" b="1" dirty="0">
                <a:solidFill>
                  <a:schemeClr val="accent1"/>
                </a:solidFill>
              </a:rPr>
              <a:t>Our rule: no AI until you can debug without it</a:t>
            </a:r>
            <a:endParaRPr lang="en-US" sz="3200" dirty="0"/>
          </a:p>
        </p:txBody>
      </p:sp>
      <p:sp>
        <p:nvSpPr>
          <p:cNvPr id="4" name="quote card"/>
          <p:cNvSpPr/>
          <p:nvPr/>
        </p:nvSpPr>
        <p:spPr>
          <a:xfrm>
            <a:off x="457200" y="1325880"/>
            <a:ext cx="6949440" cy="2926080"/>
          </a:xfrm>
          <a:prstGeom prst="roundRect">
            <a:avLst>
              <a:gd name="adj" fmla="val 3750"/>
            </a:avLst>
          </a:prstGeom>
          <a:solidFill>
            <a:schemeClr val="bg2"/>
          </a:solidFill>
          <a:ln w="12700">
            <a:solidFill>
              <a:schemeClr val="bg2"/>
            </a:solidFill>
            <a:prstDash val="solid"/>
          </a:ln>
        </p:spPr>
      </p:sp>
      <p:sp>
        <p:nvSpPr>
          <p:cNvPr id="5" name="checklist quote"/>
          <p:cNvSpPr txBox="1"/>
          <p:nvPr/>
        </p:nvSpPr>
        <p:spPr>
          <a:xfrm>
            <a:off x="731520" y="1508760"/>
            <a:ext cx="6400800" cy="2286000"/>
          </a:xfrm>
          <a:prstGeom prst="rect">
            <a:avLst/>
          </a:prstGeom>
          <a:noFill/>
          <a:ln/>
        </p:spPr>
        <p:txBody>
          <a:bodyPr wrap="square" lIns="0" tIns="0" rIns="0" bIns="0" rtlCol="0" anchor="t"/>
          <a:lstStyle/>
          <a:p>
            <a:pPr indent="0" marL="0">
              <a:buNone/>
            </a:pPr>
            <a:r>
              <a:rPr lang="en-US" sz="1700" i="1" dirty="0">
                <a:solidFill>
                  <a:schemeClr val="tx1"/>
                </a:solidFill>
              </a:rPr>
              <a:t>“Do not use AI to help you on these assignments. We will probably use AI during the season. However, if you do not understand the basics of programming taught here, you will not be able to debug the code during the season. And, it becomes painfully obvious if you use AI because you cannot answer how your program works.”</a:t>
            </a:r>
            <a:endParaRPr lang="en-US" sz="1700" dirty="0"/>
          </a:p>
        </p:txBody>
      </p:sp>
      <p:sp>
        <p:nvSpPr>
          <p:cNvPr id="6" name="checklist attribution"/>
          <p:cNvSpPr txBox="1"/>
          <p:nvPr/>
        </p:nvSpPr>
        <p:spPr>
          <a:xfrm>
            <a:off x="731520" y="3794760"/>
            <a:ext cx="6400800" cy="320040"/>
          </a:xfrm>
          <a:prstGeom prst="rect">
            <a:avLst/>
          </a:prstGeom>
          <a:noFill/>
          <a:ln/>
        </p:spPr>
        <p:txBody>
          <a:bodyPr wrap="square" lIns="0" tIns="0" rIns="0" bIns="0" rtlCol="0" anchor="t"/>
          <a:lstStyle/>
          <a:p>
            <a:pPr indent="0" marL="0">
              <a:buNone/>
            </a:pPr>
            <a:r>
              <a:rPr lang="en-US" sz="1200" dirty="0">
                <a:solidFill>
                  <a:schemeClr val="accent1"/>
                </a:solidFill>
              </a:rPr>
              <a:t>The Hive, 2026 Programming Training Checklist</a:t>
            </a:r>
            <a:endParaRPr lang="en-US" sz="1200" dirty="0"/>
          </a:p>
        </p:txBody>
      </p:sp>
      <p:sp>
        <p:nvSpPr>
          <p:cNvPr id="7" name="hex 14"/>
          <p:cNvSpPr/>
          <p:nvPr/>
        </p:nvSpPr>
        <p:spPr>
          <a:xfrm>
            <a:off x="7772400" y="1371600"/>
            <a:ext cx="640080" cy="640080"/>
          </a:xfrm>
          <a:prstGeom prst="hexagon">
            <a:avLst/>
          </a:prstGeom>
          <a:solidFill>
            <a:schemeClr val="bg1"/>
          </a:solidFill>
          <a:ln w="25400">
            <a:solidFill>
              <a:schemeClr val="accent1"/>
            </a:solidFill>
            <a:prstDash val="solid"/>
          </a:ln>
        </p:spPr>
      </p:sp>
      <p:sp>
        <p:nvSpPr>
          <p:cNvPr id="8" name="hex label 14"/>
          <p:cNvSpPr txBox="1"/>
          <p:nvPr/>
        </p:nvSpPr>
        <p:spPr>
          <a:xfrm>
            <a:off x="7772400" y="1371600"/>
            <a:ext cx="640080" cy="640080"/>
          </a:xfrm>
          <a:prstGeom prst="rect">
            <a:avLst/>
          </a:prstGeom>
          <a:noFill/>
          <a:ln/>
        </p:spPr>
        <p:txBody>
          <a:bodyPr wrap="square" lIns="0" tIns="0" rIns="0" bIns="0" rtlCol="0" anchor="ctr"/>
          <a:lstStyle/>
          <a:p>
            <a:pPr algn="ctr" indent="0" marL="0">
              <a:buNone/>
            </a:pPr>
            <a:r>
              <a:rPr lang="en-US" sz="1800" b="1" dirty="0">
                <a:solidFill>
                  <a:schemeClr val="accent1"/>
                </a:solidFill>
              </a:rPr>
              <a:t>14</a:t>
            </a:r>
            <a:endParaRPr lang="en-US" sz="1800" dirty="0"/>
          </a:p>
        </p:txBody>
      </p:sp>
      <p:sp>
        <p:nvSpPr>
          <p:cNvPr id="9" name="gate 0"/>
          <p:cNvSpPr txBox="1"/>
          <p:nvPr/>
        </p:nvSpPr>
        <p:spPr>
          <a:xfrm>
            <a:off x="8595360" y="1325880"/>
            <a:ext cx="3108960" cy="731520"/>
          </a:xfrm>
          <a:prstGeom prst="rect">
            <a:avLst/>
          </a:prstGeom>
          <a:noFill/>
          <a:ln/>
        </p:spPr>
        <p:txBody>
          <a:bodyPr wrap="square" lIns="0" tIns="0" rIns="0" bIns="0" rtlCol="0" anchor="ctr"/>
          <a:lstStyle/>
          <a:p>
            <a:pPr indent="0" marL="0">
              <a:buNone/>
            </a:pPr>
            <a:r>
              <a:rPr lang="en-US" sz="1300" dirty="0">
                <a:solidFill>
                  <a:schemeClr val="tx1"/>
                </a:solidFill>
              </a:rPr>
              <a:t>chapters of Learn Java for FTC, by hand: read, type, do the exercise</a:t>
            </a:r>
            <a:endParaRPr lang="en-US" sz="1300" dirty="0"/>
          </a:p>
        </p:txBody>
      </p:sp>
      <p:sp>
        <p:nvSpPr>
          <p:cNvPr id="10" name="hex 40"/>
          <p:cNvSpPr/>
          <p:nvPr/>
        </p:nvSpPr>
        <p:spPr>
          <a:xfrm>
            <a:off x="7772400" y="2121408"/>
            <a:ext cx="640080" cy="640080"/>
          </a:xfrm>
          <a:prstGeom prst="hexagon">
            <a:avLst/>
          </a:prstGeom>
          <a:solidFill>
            <a:schemeClr val="bg1"/>
          </a:solidFill>
          <a:ln w="25400">
            <a:solidFill>
              <a:schemeClr val="accent1"/>
            </a:solidFill>
            <a:prstDash val="solid"/>
          </a:ln>
        </p:spPr>
      </p:sp>
      <p:sp>
        <p:nvSpPr>
          <p:cNvPr id="11" name="hex label 40"/>
          <p:cNvSpPr txBox="1"/>
          <p:nvPr/>
        </p:nvSpPr>
        <p:spPr>
          <a:xfrm>
            <a:off x="7772400" y="2121408"/>
            <a:ext cx="640080" cy="640080"/>
          </a:xfrm>
          <a:prstGeom prst="rect">
            <a:avLst/>
          </a:prstGeom>
          <a:noFill/>
          <a:ln/>
        </p:spPr>
        <p:txBody>
          <a:bodyPr wrap="square" lIns="0" tIns="0" rIns="0" bIns="0" rtlCol="0" anchor="ctr"/>
          <a:lstStyle/>
          <a:p>
            <a:pPr algn="ctr" indent="0" marL="0">
              <a:buNone/>
            </a:pPr>
            <a:r>
              <a:rPr lang="en-US" sz="1800" b="1" dirty="0">
                <a:solidFill>
                  <a:schemeClr val="accent1"/>
                </a:solidFill>
              </a:rPr>
              <a:t>40</a:t>
            </a:r>
            <a:endParaRPr lang="en-US" sz="1800" dirty="0"/>
          </a:p>
        </p:txBody>
      </p:sp>
      <p:sp>
        <p:nvSpPr>
          <p:cNvPr id="12" name="gate 1"/>
          <p:cNvSpPr txBox="1"/>
          <p:nvPr/>
        </p:nvSpPr>
        <p:spPr>
          <a:xfrm>
            <a:off x="8595360" y="2075688"/>
            <a:ext cx="3108960" cy="731520"/>
          </a:xfrm>
          <a:prstGeom prst="rect">
            <a:avLst/>
          </a:prstGeom>
          <a:noFill/>
          <a:ln/>
        </p:spPr>
        <p:txBody>
          <a:bodyPr wrap="square" lIns="0" tIns="0" rIns="0" bIns="0" rtlCol="0" anchor="ctr"/>
          <a:lstStyle/>
          <a:p>
            <a:pPr indent="0" marL="0">
              <a:buNone/>
            </a:pPr>
            <a:r>
              <a:rPr lang="en-US" sz="1300" dirty="0">
                <a:solidFill>
                  <a:schemeClr val="tx1"/>
                </a:solidFill>
              </a:rPr>
              <a:t>FTCSIM exercises: Intro, Movement, Sensors, Puzzles, Grabby</a:t>
            </a:r>
            <a:endParaRPr lang="en-US" sz="1300" dirty="0"/>
          </a:p>
        </p:txBody>
      </p:sp>
      <p:sp>
        <p:nvSpPr>
          <p:cNvPr id="13" name="hex 0"/>
          <p:cNvSpPr/>
          <p:nvPr/>
        </p:nvSpPr>
        <p:spPr>
          <a:xfrm>
            <a:off x="7772400" y="2871216"/>
            <a:ext cx="640080" cy="640080"/>
          </a:xfrm>
          <a:prstGeom prst="hexagon">
            <a:avLst/>
          </a:prstGeom>
          <a:solidFill>
            <a:schemeClr val="bg1"/>
          </a:solidFill>
          <a:ln w="25400">
            <a:solidFill>
              <a:schemeClr val="accent1"/>
            </a:solidFill>
            <a:prstDash val="solid"/>
          </a:ln>
        </p:spPr>
      </p:sp>
      <p:sp>
        <p:nvSpPr>
          <p:cNvPr id="14" name="hex label 0"/>
          <p:cNvSpPr txBox="1"/>
          <p:nvPr/>
        </p:nvSpPr>
        <p:spPr>
          <a:xfrm>
            <a:off x="7772400" y="2871216"/>
            <a:ext cx="640080" cy="640080"/>
          </a:xfrm>
          <a:prstGeom prst="rect">
            <a:avLst/>
          </a:prstGeom>
          <a:noFill/>
          <a:ln/>
        </p:spPr>
        <p:txBody>
          <a:bodyPr wrap="square" lIns="0" tIns="0" rIns="0" bIns="0" rtlCol="0" anchor="ctr"/>
          <a:lstStyle/>
          <a:p>
            <a:pPr algn="ctr" indent="0" marL="0">
              <a:buNone/>
            </a:pPr>
            <a:r>
              <a:rPr lang="en-US" sz="1800" b="1" dirty="0">
                <a:solidFill>
                  <a:schemeClr val="accent1"/>
                </a:solidFill>
              </a:rPr>
              <a:t>0</a:t>
            </a:r>
            <a:endParaRPr lang="en-US" sz="1800" dirty="0"/>
          </a:p>
        </p:txBody>
      </p:sp>
      <p:sp>
        <p:nvSpPr>
          <p:cNvPr id="15" name="gate 2"/>
          <p:cNvSpPr txBox="1"/>
          <p:nvPr/>
        </p:nvSpPr>
        <p:spPr>
          <a:xfrm>
            <a:off x="8595360" y="2825496"/>
            <a:ext cx="3108960" cy="731520"/>
          </a:xfrm>
          <a:prstGeom prst="rect">
            <a:avLst/>
          </a:prstGeom>
          <a:noFill/>
          <a:ln/>
        </p:spPr>
        <p:txBody>
          <a:bodyPr wrap="square" lIns="0" tIns="0" rIns="0" bIns="0" rtlCol="0" anchor="ctr"/>
          <a:lstStyle/>
          <a:p>
            <a:pPr indent="0" marL="0">
              <a:buNone/>
            </a:pPr>
            <a:r>
              <a:rPr lang="en-US" sz="1300" dirty="0">
                <a:solidFill>
                  <a:schemeClr val="tx1"/>
                </a:solidFill>
              </a:rPr>
              <a:t>AI until the mentor has checked every box, in order</a:t>
            </a:r>
            <a:endParaRPr lang="en-US" sz="1300" dirty="0"/>
          </a:p>
        </p:txBody>
      </p:sp>
      <p:sp>
        <p:nvSpPr>
          <p:cNvPr id="16" name="hex then"/>
          <p:cNvSpPr/>
          <p:nvPr/>
        </p:nvSpPr>
        <p:spPr>
          <a:xfrm>
            <a:off x="7772400" y="3621024"/>
            <a:ext cx="640080" cy="640080"/>
          </a:xfrm>
          <a:prstGeom prst="hexagon">
            <a:avLst/>
          </a:prstGeom>
          <a:solidFill>
            <a:schemeClr val="bg1"/>
          </a:solidFill>
          <a:ln w="25400">
            <a:solidFill>
              <a:schemeClr val="accent1"/>
            </a:solidFill>
            <a:prstDash val="solid"/>
          </a:ln>
        </p:spPr>
      </p:sp>
      <p:sp>
        <p:nvSpPr>
          <p:cNvPr id="17" name="hex label then"/>
          <p:cNvSpPr txBox="1"/>
          <p:nvPr/>
        </p:nvSpPr>
        <p:spPr>
          <a:xfrm>
            <a:off x="7772400" y="3621024"/>
            <a:ext cx="640080" cy="640080"/>
          </a:xfrm>
          <a:prstGeom prst="rect">
            <a:avLst/>
          </a:prstGeom>
          <a:noFill/>
          <a:ln/>
        </p:spPr>
        <p:txBody>
          <a:bodyPr wrap="square" lIns="0" tIns="0" rIns="0" bIns="0" rtlCol="0" anchor="ctr"/>
          <a:lstStyle/>
          <a:p>
            <a:pPr algn="ctr" indent="0" marL="0">
              <a:buNone/>
            </a:pPr>
            <a:r>
              <a:rPr lang="en-US" sz="1200" b="1" dirty="0">
                <a:solidFill>
                  <a:schemeClr val="accent1"/>
                </a:solidFill>
              </a:rPr>
              <a:t>then</a:t>
            </a:r>
            <a:endParaRPr lang="en-US" sz="1200" dirty="0"/>
          </a:p>
        </p:txBody>
      </p:sp>
      <p:sp>
        <p:nvSpPr>
          <p:cNvPr id="18" name="gate 3"/>
          <p:cNvSpPr txBox="1"/>
          <p:nvPr/>
        </p:nvSpPr>
        <p:spPr>
          <a:xfrm>
            <a:off x="8595360" y="3575304"/>
            <a:ext cx="3108960" cy="731520"/>
          </a:xfrm>
          <a:prstGeom prst="rect">
            <a:avLst/>
          </a:prstGeom>
          <a:noFill/>
          <a:ln/>
        </p:spPr>
        <p:txBody>
          <a:bodyPr wrap="square" lIns="0" tIns="0" rIns="0" bIns="0" rtlCol="0" anchor="ctr"/>
          <a:lstStyle/>
          <a:p>
            <a:pPr indent="0" marL="0">
              <a:buNone/>
            </a:pPr>
            <a:r>
              <a:rPr lang="en-US" sz="1300" dirty="0">
                <a:solidFill>
                  <a:schemeClr val="tx1"/>
                </a:solidFill>
              </a:rPr>
              <a:t>AI as a season tool, and you still explain the code</a:t>
            </a:r>
            <a:endParaRPr lang="en-US" sz="1300" dirty="0"/>
          </a:p>
        </p:txBody>
      </p:sp>
      <p:sp>
        <p:nvSpPr>
          <p:cNvPr id="19" name="same rule"/>
          <p:cNvSpPr txBox="1"/>
          <p:nvPr/>
        </p:nvSpPr>
        <p:spPr>
          <a:xfrm>
            <a:off x="457200" y="4526280"/>
            <a:ext cx="11247120" cy="685800"/>
          </a:xfrm>
          <a:prstGeom prst="rect">
            <a:avLst/>
          </a:prstGeom>
          <a:noFill/>
          <a:ln/>
        </p:spPr>
        <p:txBody>
          <a:bodyPr wrap="square" lIns="0" tIns="0" rIns="0" bIns="0" rtlCol="0" anchor="t"/>
          <a:lstStyle/>
          <a:p>
            <a:pPr indent="0" marL="0">
              <a:buNone/>
            </a:pPr>
            <a:r>
              <a:rPr lang="en-US" sz="1250" dirty="0">
                <a:solidFill>
                  <a:schemeClr val="tx2"/>
                </a:solidFill>
              </a:rPr>
              <a:t>FTC Utah says the same: students who use AI “should be able to explain how it contributed, check its output for accuracy, and credit it appropriately”, and using it or not “will have no effect on your judging.” Same rule as AP CS Principles: “students must be prepared to explain their code in detail.”</a:t>
            </a:r>
            <a:endParaRPr lang="en-US" sz="1250" dirty="0"/>
          </a:p>
        </p:txBody>
      </p:sp>
      <p:sp>
        <p:nvSpPr>
          <p:cNvPr id="20" name="takeaway"/>
          <p:cNvSpPr txBox="1"/>
          <p:nvPr/>
        </p:nvSpPr>
        <p:spPr>
          <a:xfrm>
            <a:off x="457200" y="5257800"/>
            <a:ext cx="11247120" cy="731520"/>
          </a:xfrm>
          <a:prstGeom prst="rect">
            <a:avLst/>
          </a:prstGeom>
          <a:noFill/>
          <a:ln/>
        </p:spPr>
        <p:txBody>
          <a:bodyPr wrap="square" lIns="0" tIns="0" rIns="0" bIns="0" rtlCol="0" anchor="t"/>
          <a:lstStyle/>
          <a:p>
            <a:pPr indent="0" marL="0">
              <a:buNone/>
            </a:pPr>
            <a:r>
              <a:rPr lang="en-US" sz="1700" b="1" dirty="0">
                <a:solidFill>
                  <a:schemeClr val="accent1"/>
                </a:solidFill>
              </a:rPr>
              <a:t>Fundamentals first, then AI. We think that's how you get the speed without losing the understanding.</a:t>
            </a:r>
            <a:endParaRPr lang="en-US" sz="1700" dirty="0"/>
          </a:p>
        </p:txBody>
      </p:sp>
      <p:sp>
        <p:nvSpPr>
          <p:cNvPr id="25" name="Slide Number Placeholder 0"/>
          <p:cNvSpPr>
            <a:spLocks noGrp="1"/>
          </p:cNvSpPr>
          <p:nvPr>
            <p:ph type="sldNum" sz="quarter" idx="4294967295"/>
          </p:nvPr>
        </p:nvSpPr>
        <p:spPr>
          <a:xfrm>
            <a:off x="11247120" y="6263640"/>
            <a:ext cx="548640" cy="39319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2" type="title" hasCustomPrompt="1"/>
          </p:nvPr>
        </p:nvSpPr>
        <p:spPr>
          <a:xfrm>
            <a:off x="457200" y="365760"/>
            <a:ext cx="11274552" cy="822960"/>
          </a:xfrm>
          <a:prstGeom prst="rect">
            <a:avLst/>
          </a:prstGeom>
          <a:noFill/>
          <a:ln/>
        </p:spPr>
        <p:txBody>
          <a:bodyPr wrap="square" lIns="0" tIns="0" rIns="0" bIns="0" rtlCol="0" anchor="ctr"/>
          <a:lstStyle/>
          <a:p>
            <a:pPr algn="l" indent="0" marL="0">
              <a:buNone/>
            </a:pPr>
            <a:r>
              <a:rPr lang="en-US" sz="3200" b="1" dirty="0">
                <a:solidFill>
                  <a:schemeClr val="accent1"/>
                </a:solidFill>
              </a:rPr>
              <a:t>Seventy years of “that's not real programming”</a:t>
            </a:r>
            <a:endParaRPr lang="en-US" sz="3200" dirty="0"/>
          </a:p>
        </p:txBody>
      </p:sp>
      <p:sp>
        <p:nvSpPr>
          <p:cNvPr id="4" name="year 1954"/>
          <p:cNvSpPr txBox="1"/>
          <p:nvPr/>
        </p:nvSpPr>
        <p:spPr>
          <a:xfrm>
            <a:off x="457200" y="1325880"/>
            <a:ext cx="822960" cy="713232"/>
          </a:xfrm>
          <a:prstGeom prst="rect">
            <a:avLst/>
          </a:prstGeom>
          <a:noFill/>
          <a:ln/>
        </p:spPr>
        <p:txBody>
          <a:bodyPr wrap="square" lIns="0" tIns="0" rIns="0" bIns="0" rtlCol="0" anchor="ctr"/>
          <a:lstStyle/>
          <a:p>
            <a:pPr indent="0" marL="0">
              <a:buNone/>
            </a:pPr>
            <a:r>
              <a:rPr lang="en-US" sz="2200" b="1" dirty="0">
                <a:solidFill>
                  <a:schemeClr val="accent1"/>
                </a:solidFill>
              </a:rPr>
              <a:t>1954</a:t>
            </a:r>
            <a:endParaRPr lang="en-US" sz="2200" dirty="0"/>
          </a:p>
        </p:txBody>
      </p:sp>
      <p:sp>
        <p:nvSpPr>
          <p:cNvPr id="5" name="layer 1954"/>
          <p:cNvSpPr txBox="1"/>
          <p:nvPr/>
        </p:nvSpPr>
        <p:spPr>
          <a:xfrm>
            <a:off x="1325880" y="1325880"/>
            <a:ext cx="1600200" cy="713232"/>
          </a:xfrm>
          <a:prstGeom prst="rect">
            <a:avLst/>
          </a:prstGeom>
          <a:noFill/>
          <a:ln/>
        </p:spPr>
        <p:txBody>
          <a:bodyPr wrap="square" lIns="0" tIns="0" rIns="0" bIns="0" rtlCol="0" anchor="ctr"/>
          <a:lstStyle/>
          <a:p>
            <a:pPr indent="0" marL="0">
              <a:buNone/>
            </a:pPr>
            <a:r>
              <a:rPr lang="en-US" sz="1500" b="1" dirty="0">
                <a:solidFill>
                  <a:schemeClr val="tx1"/>
                </a:solidFill>
              </a:rPr>
              <a:t>FORTRAN</a:t>
            </a:r>
            <a:endParaRPr lang="en-US" sz="1500" dirty="0"/>
          </a:p>
        </p:txBody>
      </p:sp>
      <p:sp>
        <p:nvSpPr>
          <p:cNvPr id="6" name="quote 1954"/>
          <p:cNvSpPr txBox="1"/>
          <p:nvPr/>
        </p:nvSpPr>
        <p:spPr>
          <a:xfrm>
            <a:off x="3017520" y="1325880"/>
            <a:ext cx="8686800" cy="713232"/>
          </a:xfrm>
          <a:prstGeom prst="rect">
            <a:avLst/>
          </a:prstGeom>
          <a:noFill/>
          <a:ln/>
        </p:spPr>
        <p:txBody>
          <a:bodyPr wrap="square" lIns="0" tIns="0" rIns="0" bIns="0" rtlCol="0" anchor="ctr"/>
          <a:lstStyle/>
          <a:p>
            <a:pPr indent="0" marL="0">
              <a:buNone/>
            </a:pPr>
            <a:r>
              <a:rPr lang="en-US" sz="1500" i="1" dirty="0">
                <a:solidFill>
                  <a:schemeClr val="tx2"/>
                </a:solidFill>
              </a:rPr>
              <a:t>John Backus, who led the FORTRAN team, writing in 1978: “the strength of the skepticism about ‘automatic programming’… as it existed in 1954”</a:t>
            </a:r>
            <a:endParaRPr lang="en-US" sz="1500" dirty="0"/>
          </a:p>
        </p:txBody>
      </p:sp>
      <p:sp>
        <p:nvSpPr>
          <p:cNvPr id="7" name="year 1983"/>
          <p:cNvSpPr txBox="1"/>
          <p:nvPr/>
        </p:nvSpPr>
        <p:spPr>
          <a:xfrm>
            <a:off x="457200" y="2112264"/>
            <a:ext cx="822960" cy="713232"/>
          </a:xfrm>
          <a:prstGeom prst="rect">
            <a:avLst/>
          </a:prstGeom>
          <a:noFill/>
          <a:ln/>
        </p:spPr>
        <p:txBody>
          <a:bodyPr wrap="square" lIns="0" tIns="0" rIns="0" bIns="0" rtlCol="0" anchor="ctr"/>
          <a:lstStyle/>
          <a:p>
            <a:pPr indent="0" marL="0">
              <a:buNone/>
            </a:pPr>
            <a:r>
              <a:rPr lang="en-US" sz="2200" b="1" dirty="0">
                <a:solidFill>
                  <a:schemeClr val="accent1"/>
                </a:solidFill>
              </a:rPr>
              <a:t>1983</a:t>
            </a:r>
            <a:endParaRPr lang="en-US" sz="2200" dirty="0"/>
          </a:p>
        </p:txBody>
      </p:sp>
      <p:sp>
        <p:nvSpPr>
          <p:cNvPr id="8" name="layer 1983"/>
          <p:cNvSpPr txBox="1"/>
          <p:nvPr/>
        </p:nvSpPr>
        <p:spPr>
          <a:xfrm>
            <a:off x="1325880" y="2112264"/>
            <a:ext cx="1600200" cy="713232"/>
          </a:xfrm>
          <a:prstGeom prst="rect">
            <a:avLst/>
          </a:prstGeom>
          <a:noFill/>
          <a:ln/>
        </p:spPr>
        <p:txBody>
          <a:bodyPr wrap="square" lIns="0" tIns="0" rIns="0" bIns="0" rtlCol="0" anchor="ctr"/>
          <a:lstStyle/>
          <a:p>
            <a:pPr indent="0" marL="0">
              <a:buNone/>
            </a:pPr>
            <a:r>
              <a:rPr lang="en-US" sz="1500" b="1" dirty="0">
                <a:solidFill>
                  <a:schemeClr val="tx1"/>
                </a:solidFill>
              </a:rPr>
              <a:t>Pascal</a:t>
            </a:r>
            <a:endParaRPr lang="en-US" sz="1500" dirty="0"/>
          </a:p>
        </p:txBody>
      </p:sp>
      <p:sp>
        <p:nvSpPr>
          <p:cNvPr id="9" name="quote 1983"/>
          <p:cNvSpPr txBox="1"/>
          <p:nvPr/>
        </p:nvSpPr>
        <p:spPr>
          <a:xfrm>
            <a:off x="3017520" y="2112264"/>
            <a:ext cx="8686800" cy="713232"/>
          </a:xfrm>
          <a:prstGeom prst="rect">
            <a:avLst/>
          </a:prstGeom>
          <a:noFill/>
          <a:ln/>
        </p:spPr>
        <p:txBody>
          <a:bodyPr wrap="square" lIns="0" tIns="0" rIns="0" bIns="0" rtlCol="0" anchor="ctr"/>
          <a:lstStyle/>
          <a:p>
            <a:pPr indent="0" marL="0">
              <a:buNone/>
            </a:pPr>
            <a:r>
              <a:rPr lang="en-US" sz="1500" i="1" dirty="0">
                <a:solidFill>
                  <a:schemeClr val="tx2"/>
                </a:solidFill>
              </a:rPr>
              <a:t>Ed Post: “Real Programmers use FORTRAN. Quiche Eaters use PASCAL.”</a:t>
            </a:r>
            <a:endParaRPr lang="en-US" sz="1500" dirty="0"/>
          </a:p>
        </p:txBody>
      </p:sp>
      <p:sp>
        <p:nvSpPr>
          <p:cNvPr id="10" name="year 2005"/>
          <p:cNvSpPr txBox="1"/>
          <p:nvPr/>
        </p:nvSpPr>
        <p:spPr>
          <a:xfrm>
            <a:off x="457200" y="2898648"/>
            <a:ext cx="822960" cy="713232"/>
          </a:xfrm>
          <a:prstGeom prst="rect">
            <a:avLst/>
          </a:prstGeom>
          <a:noFill/>
          <a:ln/>
        </p:spPr>
        <p:txBody>
          <a:bodyPr wrap="square" lIns="0" tIns="0" rIns="0" bIns="0" rtlCol="0" anchor="ctr"/>
          <a:lstStyle/>
          <a:p>
            <a:pPr indent="0" marL="0">
              <a:buNone/>
            </a:pPr>
            <a:r>
              <a:rPr lang="en-US" sz="2200" b="1" dirty="0">
                <a:solidFill>
                  <a:schemeClr val="accent1"/>
                </a:solidFill>
              </a:rPr>
              <a:t>2005</a:t>
            </a:r>
            <a:endParaRPr lang="en-US" sz="2200" dirty="0"/>
          </a:p>
        </p:txBody>
      </p:sp>
      <p:sp>
        <p:nvSpPr>
          <p:cNvPr id="11" name="layer 2005"/>
          <p:cNvSpPr txBox="1"/>
          <p:nvPr/>
        </p:nvSpPr>
        <p:spPr>
          <a:xfrm>
            <a:off x="1325880" y="2898648"/>
            <a:ext cx="1600200" cy="713232"/>
          </a:xfrm>
          <a:prstGeom prst="rect">
            <a:avLst/>
          </a:prstGeom>
          <a:noFill/>
          <a:ln/>
        </p:spPr>
        <p:txBody>
          <a:bodyPr wrap="square" lIns="0" tIns="0" rIns="0" bIns="0" rtlCol="0" anchor="ctr"/>
          <a:lstStyle/>
          <a:p>
            <a:pPr indent="0" marL="0">
              <a:buNone/>
            </a:pPr>
            <a:r>
              <a:rPr lang="en-US" sz="1500" b="1" dirty="0">
                <a:solidFill>
                  <a:schemeClr val="tx1"/>
                </a:solidFill>
              </a:rPr>
              <a:t>IDE autocomplete</a:t>
            </a:r>
            <a:endParaRPr lang="en-US" sz="1500" dirty="0"/>
          </a:p>
        </p:txBody>
      </p:sp>
      <p:sp>
        <p:nvSpPr>
          <p:cNvPr id="12" name="quote 2005"/>
          <p:cNvSpPr txBox="1"/>
          <p:nvPr/>
        </p:nvSpPr>
        <p:spPr>
          <a:xfrm>
            <a:off x="3017520" y="2898648"/>
            <a:ext cx="8686800" cy="713232"/>
          </a:xfrm>
          <a:prstGeom prst="rect">
            <a:avLst/>
          </a:prstGeom>
          <a:noFill/>
          <a:ln/>
        </p:spPr>
        <p:txBody>
          <a:bodyPr wrap="square" lIns="0" tIns="0" rIns="0" bIns="0" rtlCol="0" anchor="ctr"/>
          <a:lstStyle/>
          <a:p>
            <a:pPr indent="0" marL="0">
              <a:buNone/>
            </a:pPr>
            <a:r>
              <a:rPr lang="en-US" sz="1500" i="1" dirty="0">
                <a:solidFill>
                  <a:schemeClr val="tx2"/>
                </a:solidFill>
              </a:rPr>
              <a:t>Charles Petzold, on IntelliSense: “And I think it's making us dumber.”</a:t>
            </a:r>
            <a:endParaRPr lang="en-US" sz="1500" dirty="0"/>
          </a:p>
        </p:txBody>
      </p:sp>
      <p:sp>
        <p:nvSpPr>
          <p:cNvPr id="13" name="year 2017"/>
          <p:cNvSpPr txBox="1"/>
          <p:nvPr/>
        </p:nvSpPr>
        <p:spPr>
          <a:xfrm>
            <a:off x="457200" y="3685032"/>
            <a:ext cx="822960" cy="713232"/>
          </a:xfrm>
          <a:prstGeom prst="rect">
            <a:avLst/>
          </a:prstGeom>
          <a:noFill/>
          <a:ln/>
        </p:spPr>
        <p:txBody>
          <a:bodyPr wrap="square" lIns="0" tIns="0" rIns="0" bIns="0" rtlCol="0" anchor="ctr"/>
          <a:lstStyle/>
          <a:p>
            <a:pPr indent="0" marL="0">
              <a:buNone/>
            </a:pPr>
            <a:r>
              <a:rPr lang="en-US" sz="2200" b="1" dirty="0">
                <a:solidFill>
                  <a:schemeClr val="accent1"/>
                </a:solidFill>
              </a:rPr>
              <a:t>2017</a:t>
            </a:r>
            <a:endParaRPr lang="en-US" sz="2200" dirty="0"/>
          </a:p>
        </p:txBody>
      </p:sp>
      <p:sp>
        <p:nvSpPr>
          <p:cNvPr id="14" name="layer 2017"/>
          <p:cNvSpPr txBox="1"/>
          <p:nvPr/>
        </p:nvSpPr>
        <p:spPr>
          <a:xfrm>
            <a:off x="1325880" y="3685032"/>
            <a:ext cx="1600200" cy="713232"/>
          </a:xfrm>
          <a:prstGeom prst="rect">
            <a:avLst/>
          </a:prstGeom>
          <a:noFill/>
          <a:ln/>
        </p:spPr>
        <p:txBody>
          <a:bodyPr wrap="square" lIns="0" tIns="0" rIns="0" bIns="0" rtlCol="0" anchor="ctr"/>
          <a:lstStyle/>
          <a:p>
            <a:pPr indent="0" marL="0">
              <a:buNone/>
            </a:pPr>
            <a:r>
              <a:rPr lang="en-US" sz="1500" b="1" dirty="0">
                <a:solidFill>
                  <a:schemeClr val="tx1"/>
                </a:solidFill>
              </a:rPr>
              <a:t>Stack Overflow</a:t>
            </a:r>
            <a:endParaRPr lang="en-US" sz="1500" dirty="0"/>
          </a:p>
        </p:txBody>
      </p:sp>
      <p:sp>
        <p:nvSpPr>
          <p:cNvPr id="15" name="quote 2017"/>
          <p:cNvSpPr txBox="1"/>
          <p:nvPr/>
        </p:nvSpPr>
        <p:spPr>
          <a:xfrm>
            <a:off x="3017520" y="3685032"/>
            <a:ext cx="8686800" cy="713232"/>
          </a:xfrm>
          <a:prstGeom prst="rect">
            <a:avLst/>
          </a:prstGeom>
          <a:noFill/>
          <a:ln/>
        </p:spPr>
        <p:txBody>
          <a:bodyPr wrap="square" lIns="0" tIns="0" rIns="0" bIns="0" rtlCol="0" anchor="ctr"/>
          <a:lstStyle/>
          <a:p>
            <a:pPr indent="0" marL="0">
              <a:buNone/>
            </a:pPr>
            <a:r>
              <a:rPr lang="en-US" sz="1500" dirty="0">
                <a:solidFill>
                  <a:schemeClr val="tx2"/>
                </a:solidFill>
              </a:rPr>
              <a:t>15.4% of 1.3 M Android apps contained security-related code copied from Stack Overflow, and 97.9% of those had an insecure snippet (Fischer et al., IEEE S&amp;P)</a:t>
            </a:r>
            <a:endParaRPr lang="en-US" sz="1500" dirty="0"/>
          </a:p>
        </p:txBody>
      </p:sp>
      <p:sp>
        <p:nvSpPr>
          <p:cNvPr id="16" name="year 2026"/>
          <p:cNvSpPr txBox="1"/>
          <p:nvPr/>
        </p:nvSpPr>
        <p:spPr>
          <a:xfrm>
            <a:off x="457200" y="4471416"/>
            <a:ext cx="822960" cy="713232"/>
          </a:xfrm>
          <a:prstGeom prst="rect">
            <a:avLst/>
          </a:prstGeom>
          <a:noFill/>
          <a:ln/>
        </p:spPr>
        <p:txBody>
          <a:bodyPr wrap="square" lIns="0" tIns="0" rIns="0" bIns="0" rtlCol="0" anchor="ctr"/>
          <a:lstStyle/>
          <a:p>
            <a:pPr indent="0" marL="0">
              <a:buNone/>
            </a:pPr>
            <a:r>
              <a:rPr lang="en-US" sz="2200" b="1" dirty="0">
                <a:solidFill>
                  <a:schemeClr val="accent1"/>
                </a:solidFill>
              </a:rPr>
              <a:t>2026</a:t>
            </a:r>
            <a:endParaRPr lang="en-US" sz="2200" dirty="0"/>
          </a:p>
        </p:txBody>
      </p:sp>
      <p:sp>
        <p:nvSpPr>
          <p:cNvPr id="17" name="layer 2026"/>
          <p:cNvSpPr txBox="1"/>
          <p:nvPr/>
        </p:nvSpPr>
        <p:spPr>
          <a:xfrm>
            <a:off x="1325880" y="4471416"/>
            <a:ext cx="1600200" cy="713232"/>
          </a:xfrm>
          <a:prstGeom prst="rect">
            <a:avLst/>
          </a:prstGeom>
          <a:noFill/>
          <a:ln/>
        </p:spPr>
        <p:txBody>
          <a:bodyPr wrap="square" lIns="0" tIns="0" rIns="0" bIns="0" rtlCol="0" anchor="ctr"/>
          <a:lstStyle/>
          <a:p>
            <a:pPr indent="0" marL="0">
              <a:buNone/>
            </a:pPr>
            <a:r>
              <a:rPr lang="en-US" sz="1500" b="1" dirty="0">
                <a:solidFill>
                  <a:schemeClr val="tx1"/>
                </a:solidFill>
              </a:rPr>
              <a:t>AI coding</a:t>
            </a:r>
            <a:endParaRPr lang="en-US" sz="1500" dirty="0"/>
          </a:p>
        </p:txBody>
      </p:sp>
      <p:sp>
        <p:nvSpPr>
          <p:cNvPr id="18" name="quote 2026"/>
          <p:cNvSpPr txBox="1"/>
          <p:nvPr/>
        </p:nvSpPr>
        <p:spPr>
          <a:xfrm>
            <a:off x="3017520" y="4471416"/>
            <a:ext cx="8686800" cy="713232"/>
          </a:xfrm>
          <a:prstGeom prst="rect">
            <a:avLst/>
          </a:prstGeom>
          <a:noFill/>
          <a:ln/>
        </p:spPr>
        <p:txBody>
          <a:bodyPr wrap="square" lIns="0" tIns="0" rIns="0" bIns="0" rtlCol="0" anchor="ctr"/>
          <a:lstStyle/>
          <a:p>
            <a:pPr indent="0" marL="0">
              <a:buNone/>
            </a:pPr>
            <a:r>
              <a:rPr lang="en-US" sz="1500" dirty="0">
                <a:solidFill>
                  <a:schemeClr val="tx2"/>
                </a:solidFill>
              </a:rPr>
              <a:t>Gemini drove our mentors' autonomous through a fake gamepad. It worked, and a human reading the code caught it.</a:t>
            </a:r>
            <a:endParaRPr lang="en-US" sz="1500" dirty="0"/>
          </a:p>
        </p:txBody>
      </p:sp>
      <p:sp>
        <p:nvSpPr>
          <p:cNvPr id="19" name="takeaway"/>
          <p:cNvSpPr txBox="1"/>
          <p:nvPr/>
        </p:nvSpPr>
        <p:spPr>
          <a:xfrm>
            <a:off x="457200" y="5212080"/>
            <a:ext cx="11247120" cy="822960"/>
          </a:xfrm>
          <a:prstGeom prst="rect">
            <a:avLst/>
          </a:prstGeom>
          <a:noFill/>
          <a:ln/>
        </p:spPr>
        <p:txBody>
          <a:bodyPr wrap="square" lIns="0" tIns="0" rIns="0" bIns="0" rtlCol="0" anchor="t"/>
          <a:lstStyle/>
          <a:p>
            <a:pPr indent="0" marL="0">
              <a:buNone/>
            </a:pPr>
            <a:r>
              <a:rPr lang="en-US" sz="1400" b="1" dirty="0">
                <a:solidFill>
                  <a:schemeClr val="accent1"/>
                </a:solidFill>
              </a:rPr>
              <a:t>Every layer took the typing. None took the architecture, the testing, or the reading. Fred Brooks, 1987: “the hard part of building software [is] the specification, design, and testing of this conceptual construct, not the labor of representing it.”</a:t>
            </a:r>
            <a:endParaRPr lang="en-US" sz="1400" dirty="0"/>
          </a:p>
        </p:txBody>
      </p:sp>
      <p:sp>
        <p:nvSpPr>
          <p:cNvPr id="25" name="Slide Number Placeholder 0"/>
          <p:cNvSpPr>
            <a:spLocks noGrp="1"/>
          </p:cNvSpPr>
          <p:nvPr>
            <p:ph type="sldNum" sz="quarter" idx="4294967295"/>
          </p:nvPr>
        </p:nvSpPr>
        <p:spPr>
          <a:xfrm>
            <a:off x="11247120" y="6263640"/>
            <a:ext cx="548640" cy="39319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2" type="title" hasCustomPrompt="1"/>
          </p:nvPr>
        </p:nvSpPr>
        <p:spPr>
          <a:xfrm>
            <a:off x="457200" y="365760"/>
            <a:ext cx="11274552" cy="822960"/>
          </a:xfrm>
          <a:prstGeom prst="rect">
            <a:avLst/>
          </a:prstGeom>
          <a:noFill/>
          <a:ln/>
        </p:spPr>
        <p:txBody>
          <a:bodyPr wrap="square" lIns="0" tIns="0" rIns="0" bIns="0" rtlCol="0" anchor="ctr"/>
          <a:lstStyle/>
          <a:p>
            <a:pPr algn="l" indent="0" marL="0">
              <a:buNone/>
            </a:pPr>
            <a:r>
              <a:rPr lang="en-US" sz="3200" b="1" dirty="0">
                <a:solidFill>
                  <a:schemeClr val="accent1"/>
                </a:solidFill>
              </a:rPr>
              <a:t>What the mentors did that week</a:t>
            </a:r>
            <a:endParaRPr lang="en-US" sz="3200" dirty="0"/>
          </a:p>
        </p:txBody>
      </p:sp>
      <p:sp>
        <p:nvSpPr>
          <p:cNvPr id="4" name="timeline"/>
          <p:cNvSpPr/>
          <p:nvPr/>
        </p:nvSpPr>
        <p:spPr>
          <a:xfrm>
            <a:off x="713232" y="1508760"/>
            <a:ext cx="0" cy="4242816"/>
          </a:xfrm>
          <a:prstGeom prst="line">
            <a:avLst/>
          </a:prstGeom>
          <a:noFill/>
          <a:ln w="19050">
            <a:solidFill>
              <a:schemeClr val="accent1"/>
            </a:solidFill>
            <a:prstDash val="solid"/>
          </a:ln>
        </p:spPr>
      </p:sp>
      <p:sp>
        <p:nvSpPr>
          <p:cNvPr id="5" name="dot 0"/>
          <p:cNvSpPr/>
          <p:nvPr/>
        </p:nvSpPr>
        <p:spPr>
          <a:xfrm>
            <a:off x="594360" y="1389888"/>
            <a:ext cx="237744" cy="237744"/>
          </a:xfrm>
          <a:prstGeom prst="hexagon">
            <a:avLst/>
          </a:prstGeom>
          <a:solidFill>
            <a:schemeClr val="accent1"/>
          </a:solidFill>
          <a:ln w="12700">
            <a:solidFill>
              <a:schemeClr val="accent1"/>
            </a:solidFill>
            <a:prstDash val="solid"/>
          </a:ln>
        </p:spPr>
      </p:sp>
      <p:sp>
        <p:nvSpPr>
          <p:cNvPr id="6" name="time 0"/>
          <p:cNvSpPr txBox="1"/>
          <p:nvPr/>
        </p:nvSpPr>
        <p:spPr>
          <a:xfrm>
            <a:off x="960120" y="1371600"/>
            <a:ext cx="1325880" cy="274320"/>
          </a:xfrm>
          <a:prstGeom prst="rect">
            <a:avLst/>
          </a:prstGeom>
          <a:noFill/>
          <a:ln/>
        </p:spPr>
        <p:txBody>
          <a:bodyPr wrap="square" lIns="0" tIns="0" rIns="0" bIns="0" rtlCol="0" anchor="t"/>
          <a:lstStyle/>
          <a:p>
            <a:pPr indent="0" marL="0">
              <a:buNone/>
            </a:pPr>
            <a:r>
              <a:rPr lang="en-US" sz="1100" b="1" dirty="0">
                <a:solidFill>
                  <a:schemeClr val="accent1"/>
                </a:solidFill>
              </a:rPr>
              <a:t>Sep 17, 10:26 PM</a:t>
            </a:r>
            <a:endParaRPr lang="en-US" sz="1100" dirty="0"/>
          </a:p>
        </p:txBody>
      </p:sp>
      <p:sp>
        <p:nvSpPr>
          <p:cNvPr id="7" name="event 0"/>
          <p:cNvSpPr txBox="1"/>
          <p:nvPr/>
        </p:nvSpPr>
        <p:spPr>
          <a:xfrm>
            <a:off x="2286000" y="1371600"/>
            <a:ext cx="4206240" cy="530352"/>
          </a:xfrm>
          <a:prstGeom prst="rect">
            <a:avLst/>
          </a:prstGeom>
          <a:noFill/>
          <a:ln/>
        </p:spPr>
        <p:txBody>
          <a:bodyPr wrap="square" lIns="0" tIns="0" rIns="0" bIns="0" rtlCol="0" anchor="t"/>
          <a:lstStyle/>
          <a:p>
            <a:pPr indent="0" marL="0">
              <a:buNone/>
            </a:pPr>
            <a:r>
              <a:rPr lang="en-US" sz="1100" dirty="0">
                <a:solidFill>
                  <a:schemeClr val="tx2"/>
                </a:solidFill>
              </a:rPr>
              <a:t>Ben (coordinator) describes the whole robot → working TeleOp that night, subsystem classes (25 minutes, 5 prompts)</a:t>
            </a:r>
            <a:endParaRPr lang="en-US" sz="1100" dirty="0"/>
          </a:p>
        </p:txBody>
      </p:sp>
      <p:sp>
        <p:nvSpPr>
          <p:cNvPr id="8" name="dot 1"/>
          <p:cNvSpPr/>
          <p:nvPr/>
        </p:nvSpPr>
        <p:spPr>
          <a:xfrm>
            <a:off x="594360" y="1920240"/>
            <a:ext cx="237744" cy="237744"/>
          </a:xfrm>
          <a:prstGeom prst="hexagon">
            <a:avLst/>
          </a:prstGeom>
          <a:solidFill>
            <a:schemeClr val="accent1"/>
          </a:solidFill>
          <a:ln w="12700">
            <a:solidFill>
              <a:schemeClr val="accent1"/>
            </a:solidFill>
            <a:prstDash val="solid"/>
          </a:ln>
        </p:spPr>
      </p:sp>
      <p:sp>
        <p:nvSpPr>
          <p:cNvPr id="9" name="time 1"/>
          <p:cNvSpPr txBox="1"/>
          <p:nvPr/>
        </p:nvSpPr>
        <p:spPr>
          <a:xfrm>
            <a:off x="960120" y="1901952"/>
            <a:ext cx="1325880" cy="274320"/>
          </a:xfrm>
          <a:prstGeom prst="rect">
            <a:avLst/>
          </a:prstGeom>
          <a:noFill/>
          <a:ln/>
        </p:spPr>
        <p:txBody>
          <a:bodyPr wrap="square" lIns="0" tIns="0" rIns="0" bIns="0" rtlCol="0" anchor="t"/>
          <a:lstStyle/>
          <a:p>
            <a:pPr indent="0" marL="0">
              <a:buNone/>
            </a:pPr>
            <a:r>
              <a:rPr lang="en-US" sz="1100" b="1" dirty="0">
                <a:solidFill>
                  <a:schemeClr val="accent1"/>
                </a:solidFill>
              </a:rPr>
              <a:t>Sep 18, ~9:50 PM</a:t>
            </a:r>
            <a:endParaRPr lang="en-US" sz="1100" dirty="0"/>
          </a:p>
        </p:txBody>
      </p:sp>
      <p:sp>
        <p:nvSpPr>
          <p:cNvPr id="10" name="event 1"/>
          <p:cNvSpPr txBox="1"/>
          <p:nvPr/>
        </p:nvSpPr>
        <p:spPr>
          <a:xfrm>
            <a:off x="2286000" y="1901952"/>
            <a:ext cx="4206240" cy="530352"/>
          </a:xfrm>
          <a:prstGeom prst="rect">
            <a:avLst/>
          </a:prstGeom>
          <a:noFill/>
          <a:ln/>
        </p:spPr>
        <p:txBody>
          <a:bodyPr wrap="square" lIns="0" tIns="0" rIns="0" bIns="0" rtlCol="0" anchor="t"/>
          <a:lstStyle/>
          <a:p>
            <a:pPr indent="0" marL="0">
              <a:buNone/>
            </a:pPr>
            <a:r>
              <a:rPr lang="en-US" sz="1100" dirty="0">
                <a:solidFill>
                  <a:schemeClr val="tx2"/>
                </a:solidFill>
              </a:rPr>
              <a:t>First autonomous state machines, Shoot First / Shoot Delayed. Asim's design, called out at the robot, typed by Ben</a:t>
            </a:r>
            <a:endParaRPr lang="en-US" sz="1100" dirty="0"/>
          </a:p>
        </p:txBody>
      </p:sp>
      <p:sp>
        <p:nvSpPr>
          <p:cNvPr id="11" name="dot 2"/>
          <p:cNvSpPr/>
          <p:nvPr/>
        </p:nvSpPr>
        <p:spPr>
          <a:xfrm>
            <a:off x="594360" y="2450592"/>
            <a:ext cx="237744" cy="237744"/>
          </a:xfrm>
          <a:prstGeom prst="hexagon">
            <a:avLst/>
          </a:prstGeom>
          <a:solidFill>
            <a:schemeClr val="accent1"/>
          </a:solidFill>
          <a:ln w="12700">
            <a:solidFill>
              <a:schemeClr val="accent1"/>
            </a:solidFill>
            <a:prstDash val="solid"/>
          </a:ln>
        </p:spPr>
      </p:sp>
      <p:sp>
        <p:nvSpPr>
          <p:cNvPr id="12" name="time 2"/>
          <p:cNvSpPr txBox="1"/>
          <p:nvPr/>
        </p:nvSpPr>
        <p:spPr>
          <a:xfrm>
            <a:off x="960120" y="2432304"/>
            <a:ext cx="1325880" cy="274320"/>
          </a:xfrm>
          <a:prstGeom prst="rect">
            <a:avLst/>
          </a:prstGeom>
          <a:noFill/>
          <a:ln/>
        </p:spPr>
        <p:txBody>
          <a:bodyPr wrap="square" lIns="0" tIns="0" rIns="0" bIns="0" rtlCol="0" anchor="t"/>
          <a:lstStyle/>
          <a:p>
            <a:pPr indent="0" marL="0">
              <a:buNone/>
            </a:pPr>
            <a:r>
              <a:rPr lang="en-US" sz="1100" b="1" dirty="0">
                <a:solidFill>
                  <a:schemeClr val="accent1"/>
                </a:solidFill>
              </a:rPr>
              <a:t>Sep 19, 8:29 AM</a:t>
            </a:r>
            <a:endParaRPr lang="en-US" sz="1100" dirty="0"/>
          </a:p>
        </p:txBody>
      </p:sp>
      <p:sp>
        <p:nvSpPr>
          <p:cNvPr id="13" name="event 2"/>
          <p:cNvSpPr txBox="1"/>
          <p:nvPr/>
        </p:nvSpPr>
        <p:spPr>
          <a:xfrm>
            <a:off x="2286000" y="2432304"/>
            <a:ext cx="4206240" cy="530352"/>
          </a:xfrm>
          <a:prstGeom prst="rect">
            <a:avLst/>
          </a:prstGeom>
          <a:noFill/>
          <a:ln/>
        </p:spPr>
        <p:txBody>
          <a:bodyPr wrap="square" lIns="0" tIns="0" rIns="0" bIns="0" rtlCol="0" anchor="t"/>
          <a:lstStyle/>
          <a:p>
            <a:pPr indent="0" marL="0">
              <a:buNone/>
            </a:pPr>
            <a:r>
              <a:rPr lang="en-US" sz="1100" dirty="0">
                <a:solidFill>
                  <a:schemeClr val="tx2"/>
                </a:solidFill>
              </a:rPr>
              <a:t>Asim (mechanical), at the keyboard: “holding both joysticks left made the robot strafe right, and vice versa. please fix”</a:t>
            </a:r>
            <a:endParaRPr lang="en-US" sz="1100" dirty="0"/>
          </a:p>
        </p:txBody>
      </p:sp>
      <p:sp>
        <p:nvSpPr>
          <p:cNvPr id="14" name="dot 3"/>
          <p:cNvSpPr/>
          <p:nvPr/>
        </p:nvSpPr>
        <p:spPr>
          <a:xfrm>
            <a:off x="594360" y="2980944"/>
            <a:ext cx="237744" cy="237744"/>
          </a:xfrm>
          <a:prstGeom prst="hexagon">
            <a:avLst/>
          </a:prstGeom>
          <a:solidFill>
            <a:schemeClr val="accent1"/>
          </a:solidFill>
          <a:ln w="12700">
            <a:solidFill>
              <a:schemeClr val="accent1"/>
            </a:solidFill>
            <a:prstDash val="solid"/>
          </a:ln>
        </p:spPr>
      </p:sp>
      <p:sp>
        <p:nvSpPr>
          <p:cNvPr id="15" name="time 3"/>
          <p:cNvSpPr txBox="1"/>
          <p:nvPr/>
        </p:nvSpPr>
        <p:spPr>
          <a:xfrm>
            <a:off x="960120" y="2962656"/>
            <a:ext cx="1325880" cy="274320"/>
          </a:xfrm>
          <a:prstGeom prst="rect">
            <a:avLst/>
          </a:prstGeom>
          <a:noFill/>
          <a:ln/>
        </p:spPr>
        <p:txBody>
          <a:bodyPr wrap="square" lIns="0" tIns="0" rIns="0" bIns="0" rtlCol="0" anchor="t"/>
          <a:lstStyle/>
          <a:p>
            <a:pPr indent="0" marL="0">
              <a:buNone/>
            </a:pPr>
            <a:r>
              <a:rPr lang="en-US" sz="1100" b="1" dirty="0">
                <a:solidFill>
                  <a:schemeClr val="accent1"/>
                </a:solidFill>
              </a:rPr>
              <a:t>8:36 AM</a:t>
            </a:r>
            <a:endParaRPr lang="en-US" sz="1100" dirty="0"/>
          </a:p>
        </p:txBody>
      </p:sp>
      <p:sp>
        <p:nvSpPr>
          <p:cNvPr id="16" name="event 3"/>
          <p:cNvSpPr txBox="1"/>
          <p:nvPr/>
        </p:nvSpPr>
        <p:spPr>
          <a:xfrm>
            <a:off x="2286000" y="2962656"/>
            <a:ext cx="4206240" cy="530352"/>
          </a:xfrm>
          <a:prstGeom prst="rect">
            <a:avLst/>
          </a:prstGeom>
          <a:noFill/>
          <a:ln/>
        </p:spPr>
        <p:txBody>
          <a:bodyPr wrap="square" lIns="0" tIns="0" rIns="0" bIns="0" rtlCol="0" anchor="t"/>
          <a:lstStyle/>
          <a:p>
            <a:pPr indent="0" marL="0">
              <a:buNone/>
            </a:pPr>
            <a:r>
              <a:rPr lang="en-US" sz="1100" i="1" dirty="0">
                <a:solidFill>
                  <a:schemeClr val="tx1"/>
                </a:solidFill>
              </a:rPr>
              <a:t>“it is spitting balls out, so i would like to shorten it” (reverse bump 200 → 100 ms)</a:t>
            </a:r>
            <a:endParaRPr lang="en-US" sz="1100" dirty="0"/>
          </a:p>
        </p:txBody>
      </p:sp>
      <p:sp>
        <p:nvSpPr>
          <p:cNvPr id="17" name="dot 4"/>
          <p:cNvSpPr/>
          <p:nvPr/>
        </p:nvSpPr>
        <p:spPr>
          <a:xfrm>
            <a:off x="594360" y="3511296"/>
            <a:ext cx="237744" cy="237744"/>
          </a:xfrm>
          <a:prstGeom prst="hexagon">
            <a:avLst/>
          </a:prstGeom>
          <a:solidFill>
            <a:schemeClr val="accent1"/>
          </a:solidFill>
          <a:ln w="12700">
            <a:solidFill>
              <a:schemeClr val="accent1"/>
            </a:solidFill>
            <a:prstDash val="solid"/>
          </a:ln>
        </p:spPr>
      </p:sp>
      <p:sp>
        <p:nvSpPr>
          <p:cNvPr id="18" name="time 4"/>
          <p:cNvSpPr txBox="1"/>
          <p:nvPr/>
        </p:nvSpPr>
        <p:spPr>
          <a:xfrm>
            <a:off x="960120" y="3493008"/>
            <a:ext cx="1325880" cy="274320"/>
          </a:xfrm>
          <a:prstGeom prst="rect">
            <a:avLst/>
          </a:prstGeom>
          <a:noFill/>
          <a:ln/>
        </p:spPr>
        <p:txBody>
          <a:bodyPr wrap="square" lIns="0" tIns="0" rIns="0" bIns="0" rtlCol="0" anchor="t"/>
          <a:lstStyle/>
          <a:p>
            <a:pPr indent="0" marL="0">
              <a:buNone/>
            </a:pPr>
            <a:r>
              <a:rPr lang="en-US" sz="1100" b="1" dirty="0">
                <a:solidFill>
                  <a:schemeClr val="accent1"/>
                </a:solidFill>
              </a:rPr>
              <a:t>8:40 AM</a:t>
            </a:r>
            <a:endParaRPr lang="en-US" sz="1100" dirty="0"/>
          </a:p>
        </p:txBody>
      </p:sp>
      <p:sp>
        <p:nvSpPr>
          <p:cNvPr id="19" name="event 4"/>
          <p:cNvSpPr txBox="1"/>
          <p:nvPr/>
        </p:nvSpPr>
        <p:spPr>
          <a:xfrm>
            <a:off x="2286000" y="3493008"/>
            <a:ext cx="4206240" cy="530352"/>
          </a:xfrm>
          <a:prstGeom prst="rect">
            <a:avLst/>
          </a:prstGeom>
          <a:noFill/>
          <a:ln/>
        </p:spPr>
        <p:txBody>
          <a:bodyPr wrap="square" lIns="0" tIns="0" rIns="0" bIns="0" rtlCol="0" anchor="t"/>
          <a:lstStyle/>
          <a:p>
            <a:pPr indent="0" marL="0">
              <a:buNone/>
            </a:pPr>
            <a:r>
              <a:rPr lang="en-US" sz="1100" i="1" dirty="0">
                <a:solidFill>
                  <a:schemeClr val="tx1"/>
                </a:solidFill>
              </a:rPr>
              <a:t>“we get points for not touching the wall. Can we add a backup after the turn and drive forward?”</a:t>
            </a:r>
            <a:endParaRPr lang="en-US" sz="1100" dirty="0"/>
          </a:p>
        </p:txBody>
      </p:sp>
      <p:sp>
        <p:nvSpPr>
          <p:cNvPr id="20" name="dot 5"/>
          <p:cNvSpPr/>
          <p:nvPr/>
        </p:nvSpPr>
        <p:spPr>
          <a:xfrm>
            <a:off x="594360" y="4041648"/>
            <a:ext cx="237744" cy="237744"/>
          </a:xfrm>
          <a:prstGeom prst="hexagon">
            <a:avLst/>
          </a:prstGeom>
          <a:solidFill>
            <a:schemeClr val="accent1"/>
          </a:solidFill>
          <a:ln w="12700">
            <a:solidFill>
              <a:schemeClr val="accent1"/>
            </a:solidFill>
            <a:prstDash val="solid"/>
          </a:ln>
        </p:spPr>
      </p:sp>
      <p:sp>
        <p:nvSpPr>
          <p:cNvPr id="21" name="time 5"/>
          <p:cNvSpPr txBox="1"/>
          <p:nvPr/>
        </p:nvSpPr>
        <p:spPr>
          <a:xfrm>
            <a:off x="960120" y="4023360"/>
            <a:ext cx="1325880" cy="274320"/>
          </a:xfrm>
          <a:prstGeom prst="rect">
            <a:avLst/>
          </a:prstGeom>
          <a:noFill/>
          <a:ln/>
        </p:spPr>
        <p:txBody>
          <a:bodyPr wrap="square" lIns="0" tIns="0" rIns="0" bIns="0" rtlCol="0" anchor="t"/>
          <a:lstStyle/>
          <a:p>
            <a:pPr indent="0" marL="0">
              <a:buNone/>
            </a:pPr>
            <a:r>
              <a:rPr lang="en-US" sz="1100" b="1" dirty="0">
                <a:solidFill>
                  <a:schemeClr val="accent1"/>
                </a:solidFill>
              </a:rPr>
              <a:t>11:35 AM</a:t>
            </a:r>
            <a:endParaRPr lang="en-US" sz="1100" dirty="0"/>
          </a:p>
        </p:txBody>
      </p:sp>
      <p:sp>
        <p:nvSpPr>
          <p:cNvPr id="22" name="event 5"/>
          <p:cNvSpPr txBox="1"/>
          <p:nvPr/>
        </p:nvSpPr>
        <p:spPr>
          <a:xfrm>
            <a:off x="2286000" y="4023360"/>
            <a:ext cx="4206240" cy="530352"/>
          </a:xfrm>
          <a:prstGeom prst="rect">
            <a:avLst/>
          </a:prstGeom>
          <a:noFill/>
          <a:ln/>
        </p:spPr>
        <p:txBody>
          <a:bodyPr wrap="square" lIns="0" tIns="0" rIns="0" bIns="0" rtlCol="0" anchor="t"/>
          <a:lstStyle/>
          <a:p>
            <a:pPr indent="0" marL="0">
              <a:buNone/>
            </a:pPr>
            <a:r>
              <a:rPr lang="en-US" sz="1100" i="1" dirty="0">
                <a:solidFill>
                  <a:schemeClr val="tx1"/>
                </a:solidFill>
              </a:rPr>
              <a:t>“I thought gamepad 1 dpad was slow mode, not tuning the flywheel.”</a:t>
            </a:r>
            <a:endParaRPr lang="en-US" sz="1100" dirty="0"/>
          </a:p>
        </p:txBody>
      </p:sp>
      <p:sp>
        <p:nvSpPr>
          <p:cNvPr id="23" name="dot 6"/>
          <p:cNvSpPr/>
          <p:nvPr/>
        </p:nvSpPr>
        <p:spPr>
          <a:xfrm>
            <a:off x="594360" y="4572000"/>
            <a:ext cx="237744" cy="237744"/>
          </a:xfrm>
          <a:prstGeom prst="hexagon">
            <a:avLst/>
          </a:prstGeom>
          <a:solidFill>
            <a:schemeClr val="accent1"/>
          </a:solidFill>
          <a:ln w="12700">
            <a:solidFill>
              <a:schemeClr val="accent1"/>
            </a:solidFill>
            <a:prstDash val="solid"/>
          </a:ln>
        </p:spPr>
      </p:sp>
      <p:sp>
        <p:nvSpPr>
          <p:cNvPr id="24" name="time 6"/>
          <p:cNvSpPr txBox="1"/>
          <p:nvPr/>
        </p:nvSpPr>
        <p:spPr>
          <a:xfrm>
            <a:off x="960120" y="4553712"/>
            <a:ext cx="1325880" cy="274320"/>
          </a:xfrm>
          <a:prstGeom prst="rect">
            <a:avLst/>
          </a:prstGeom>
          <a:noFill/>
          <a:ln/>
        </p:spPr>
        <p:txBody>
          <a:bodyPr wrap="square" lIns="0" tIns="0" rIns="0" bIns="0" rtlCol="0" anchor="t"/>
          <a:lstStyle/>
          <a:p>
            <a:pPr indent="0" marL="0">
              <a:buNone/>
            </a:pPr>
            <a:r>
              <a:rPr lang="en-US" sz="1100" b="1" dirty="0">
                <a:solidFill>
                  <a:schemeClr val="accent1"/>
                </a:solidFill>
              </a:rPr>
              <a:t>11:37 AM</a:t>
            </a:r>
            <a:endParaRPr lang="en-US" sz="1100" dirty="0"/>
          </a:p>
        </p:txBody>
      </p:sp>
      <p:sp>
        <p:nvSpPr>
          <p:cNvPr id="25" name="event 6"/>
          <p:cNvSpPr txBox="1"/>
          <p:nvPr/>
        </p:nvSpPr>
        <p:spPr>
          <a:xfrm>
            <a:off x="2286000" y="4553712"/>
            <a:ext cx="4206240" cy="530352"/>
          </a:xfrm>
          <a:prstGeom prst="rect">
            <a:avLst/>
          </a:prstGeom>
          <a:noFill/>
          <a:ln/>
        </p:spPr>
        <p:txBody>
          <a:bodyPr wrap="square" lIns="0" tIns="0" rIns="0" bIns="0" rtlCol="0" anchor="t"/>
          <a:lstStyle/>
          <a:p>
            <a:pPr indent="0" marL="0">
              <a:buNone/>
            </a:pPr>
            <a:r>
              <a:rPr lang="en-US" sz="1100" i="1" dirty="0">
                <a:solidFill>
                  <a:schemeClr val="tx1"/>
                </a:solidFill>
              </a:rPr>
              <a:t>“I don't want the intake to resume. I want the intake to stop (whether it was stopped or running).”</a:t>
            </a:r>
            <a:endParaRPr lang="en-US" sz="1100" dirty="0"/>
          </a:p>
        </p:txBody>
      </p:sp>
      <p:sp>
        <p:nvSpPr>
          <p:cNvPr id="26" name="dot 7"/>
          <p:cNvSpPr/>
          <p:nvPr/>
        </p:nvSpPr>
        <p:spPr>
          <a:xfrm>
            <a:off x="594360" y="5102352"/>
            <a:ext cx="237744" cy="237744"/>
          </a:xfrm>
          <a:prstGeom prst="hexagon">
            <a:avLst/>
          </a:prstGeom>
          <a:solidFill>
            <a:schemeClr val="accent1"/>
          </a:solidFill>
          <a:ln w="12700">
            <a:solidFill>
              <a:schemeClr val="accent1"/>
            </a:solidFill>
            <a:prstDash val="solid"/>
          </a:ln>
        </p:spPr>
      </p:sp>
      <p:sp>
        <p:nvSpPr>
          <p:cNvPr id="27" name="time 7"/>
          <p:cNvSpPr txBox="1"/>
          <p:nvPr/>
        </p:nvSpPr>
        <p:spPr>
          <a:xfrm>
            <a:off x="960120" y="5084064"/>
            <a:ext cx="1325880" cy="274320"/>
          </a:xfrm>
          <a:prstGeom prst="rect">
            <a:avLst/>
          </a:prstGeom>
          <a:noFill/>
          <a:ln/>
        </p:spPr>
        <p:txBody>
          <a:bodyPr wrap="square" lIns="0" tIns="0" rIns="0" bIns="0" rtlCol="0" anchor="t"/>
          <a:lstStyle/>
          <a:p>
            <a:pPr indent="0" marL="0">
              <a:buNone/>
            </a:pPr>
            <a:r>
              <a:rPr lang="en-US" sz="1100" b="1" dirty="0">
                <a:solidFill>
                  <a:schemeClr val="accent1"/>
                </a:solidFill>
              </a:rPr>
              <a:t>2:57 PM</a:t>
            </a:r>
            <a:endParaRPr lang="en-US" sz="1100" dirty="0"/>
          </a:p>
        </p:txBody>
      </p:sp>
      <p:sp>
        <p:nvSpPr>
          <p:cNvPr id="28" name="event 7"/>
          <p:cNvSpPr txBox="1"/>
          <p:nvPr/>
        </p:nvSpPr>
        <p:spPr>
          <a:xfrm>
            <a:off x="2286000" y="5084064"/>
            <a:ext cx="4206240" cy="530352"/>
          </a:xfrm>
          <a:prstGeom prst="rect">
            <a:avLst/>
          </a:prstGeom>
          <a:noFill/>
          <a:ln/>
        </p:spPr>
        <p:txBody>
          <a:bodyPr wrap="square" lIns="0" tIns="0" rIns="0" bIns="0" rtlCol="0" anchor="t"/>
          <a:lstStyle/>
          <a:p>
            <a:pPr indent="0" marL="0">
              <a:buNone/>
            </a:pPr>
            <a:r>
              <a:rPr lang="en-US" sz="1100" i="1" dirty="0">
                <a:solidFill>
                  <a:schemeClr val="tx1"/>
                </a:solidFill>
              </a:rPr>
              <a:t>“Let's set the default speed to 0.95” (default changed from 1.0)</a:t>
            </a:r>
            <a:endParaRPr lang="en-US" sz="1100" dirty="0"/>
          </a:p>
        </p:txBody>
      </p:sp>
      <p:sp>
        <p:nvSpPr>
          <p:cNvPr id="29" name="dot 8"/>
          <p:cNvSpPr/>
          <p:nvPr/>
        </p:nvSpPr>
        <p:spPr>
          <a:xfrm>
            <a:off x="594360" y="5632704"/>
            <a:ext cx="237744" cy="237744"/>
          </a:xfrm>
          <a:prstGeom prst="hexagon">
            <a:avLst/>
          </a:prstGeom>
          <a:solidFill>
            <a:schemeClr val="accent1"/>
          </a:solidFill>
          <a:ln w="12700">
            <a:solidFill>
              <a:schemeClr val="accent1"/>
            </a:solidFill>
            <a:prstDash val="solid"/>
          </a:ln>
        </p:spPr>
      </p:sp>
      <p:sp>
        <p:nvSpPr>
          <p:cNvPr id="30" name="time 8"/>
          <p:cNvSpPr txBox="1"/>
          <p:nvPr/>
        </p:nvSpPr>
        <p:spPr>
          <a:xfrm>
            <a:off x="960120" y="5614416"/>
            <a:ext cx="1325880" cy="274320"/>
          </a:xfrm>
          <a:prstGeom prst="rect">
            <a:avLst/>
          </a:prstGeom>
          <a:noFill/>
          <a:ln/>
        </p:spPr>
        <p:txBody>
          <a:bodyPr wrap="square" lIns="0" tIns="0" rIns="0" bIns="0" rtlCol="0" anchor="t"/>
          <a:lstStyle/>
          <a:p>
            <a:pPr indent="0" marL="0">
              <a:buNone/>
            </a:pPr>
            <a:r>
              <a:rPr lang="en-US" sz="1100" b="1" dirty="0">
                <a:solidFill>
                  <a:schemeClr val="accent1"/>
                </a:solidFill>
              </a:rPr>
              <a:t>Scrimmage</a:t>
            </a:r>
            <a:endParaRPr lang="en-US" sz="1100" dirty="0"/>
          </a:p>
        </p:txBody>
      </p:sp>
      <p:sp>
        <p:nvSpPr>
          <p:cNvPr id="31" name="event 8"/>
          <p:cNvSpPr txBox="1"/>
          <p:nvPr/>
        </p:nvSpPr>
        <p:spPr>
          <a:xfrm>
            <a:off x="2286000" y="5614416"/>
            <a:ext cx="4206240" cy="530352"/>
          </a:xfrm>
          <a:prstGeom prst="rect">
            <a:avLst/>
          </a:prstGeom>
          <a:noFill/>
          <a:ln/>
        </p:spPr>
        <p:txBody>
          <a:bodyPr wrap="square" lIns="0" tIns="0" rIns="0" bIns="0" rtlCol="0" anchor="t"/>
          <a:lstStyle/>
          <a:p>
            <a:pPr indent="0" marL="0">
              <a:buNone/>
            </a:pPr>
            <a:r>
              <a:rPr lang="en-US" sz="1100" dirty="0">
                <a:solidFill>
                  <a:schemeClr val="tx2"/>
                </a:solidFill>
              </a:rPr>
              <a:t>Autonomous scored; TeleOp drove.</a:t>
            </a:r>
            <a:endParaRPr lang="en-US" sz="1100" dirty="0"/>
          </a:p>
        </p:txBody>
      </p:sp>
      <p:pic>
        <p:nvPicPr>
          <p:cNvPr id="32" name="spitting balls screenshot" descr="/home/claude/teaching-ai-coding/docs/images/android-studio-spitting-balls-prompt.png">    </p:cNvPr>
          <p:cNvPicPr>
            <a:picLocks noChangeAspect="1"/>
          </p:cNvPicPr>
          <p:nvPr/>
        </p:nvPicPr>
        <p:blipFill>
          <a:blip r:embed="rId1"/>
          <a:stretch>
            <a:fillRect/>
          </a:stretch>
        </p:blipFill>
        <p:spPr>
          <a:xfrm>
            <a:off x="6766560" y="1371600"/>
            <a:ext cx="4965192" cy="2944368"/>
          </a:xfrm>
          <a:prstGeom prst="rect">
            <a:avLst/>
          </a:prstGeom>
        </p:spPr>
      </p:pic>
      <p:sp>
        <p:nvSpPr>
          <p:cNvPr id="33" name="screenshot caption"/>
          <p:cNvSpPr txBox="1"/>
          <p:nvPr/>
        </p:nvSpPr>
        <p:spPr>
          <a:xfrm>
            <a:off x="6766560" y="4389120"/>
            <a:ext cx="4965192" cy="731520"/>
          </a:xfrm>
          <a:prstGeom prst="rect">
            <a:avLst/>
          </a:prstGeom>
          <a:noFill/>
          <a:ln/>
        </p:spPr>
        <p:txBody>
          <a:bodyPr wrap="square" lIns="0" tIns="0" rIns="0" bIns="0" rtlCol="0" anchor="t"/>
          <a:lstStyle/>
          <a:p>
            <a:pPr indent="0" marL="0">
              <a:buNone/>
            </a:pPr>
            <a:r>
              <a:rPr lang="en-US" sz="1100" dirty="0">
                <a:solidFill>
                  <a:schemeClr val="tx2"/>
                </a:solidFill>
              </a:rPr>
              <a:t>Sep 19, 8:36 AM, as typed, with Gemini's reply. It reports the numbers (200 ms at −0.5, 300 ms pause), offers two options, then changes both at once. The next prompt put the power back.</a:t>
            </a:r>
            <a:endParaRPr lang="en-US" sz="1100" dirty="0"/>
          </a:p>
        </p:txBody>
      </p:sp>
      <p:sp>
        <p:nvSpPr>
          <p:cNvPr id="34" name="stat"/>
          <p:cNvSpPr txBox="1"/>
          <p:nvPr/>
        </p:nvSpPr>
        <p:spPr>
          <a:xfrm>
            <a:off x="6766560" y="5212080"/>
            <a:ext cx="4965192" cy="731520"/>
          </a:xfrm>
          <a:prstGeom prst="rect">
            <a:avLst/>
          </a:prstGeom>
          <a:noFill/>
          <a:ln/>
        </p:spPr>
        <p:txBody>
          <a:bodyPr wrap="square" lIns="0" tIns="0" rIns="0" bIns="0" rtlCol="0" anchor="t"/>
          <a:lstStyle/>
          <a:p>
            <a:pPr indent="0" marL="0">
              <a:buNone/>
            </a:pPr>
            <a:r>
              <a:rPr lang="en-US" sz="2000" b="1" dirty="0">
                <a:solidFill>
                  <a:schemeClr val="accent1"/>
                </a:solidFill>
              </a:rPr>
              <a:t>67 prompts, two days and an evening. 0 lines of Java typed.</a:t>
            </a:r>
            <a:endParaRPr lang="en-US" sz="2000" dirty="0"/>
          </a:p>
        </p:txBody>
      </p:sp>
      <p:sp>
        <p:nvSpPr>
          <p:cNvPr id="25" name="Slide Number Placeholder 0"/>
          <p:cNvSpPr>
            <a:spLocks noGrp="1"/>
          </p:cNvSpPr>
          <p:nvPr>
            <p:ph type="sldNum" sz="quarter" idx="4294967295"/>
          </p:nvPr>
        </p:nvSpPr>
        <p:spPr>
          <a:xfrm>
            <a:off x="11247120" y="6263640"/>
            <a:ext cx="548640" cy="39319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hex decoration"/>
          <p:cNvSpPr/>
          <p:nvPr/>
        </p:nvSpPr>
        <p:spPr>
          <a:xfrm>
            <a:off x="-2743200" y="1097280"/>
            <a:ext cx="4572000" cy="4754880"/>
          </a:xfrm>
          <a:prstGeom prst="hexagon">
            <a:avLst/>
          </a:prstGeom>
          <a:solidFill>
            <a:srgbClr val="000000">
              <a:alpha val="0"/>
            </a:srgbClr>
          </a:solidFill>
          <a:ln w="25400">
            <a:solidFill>
              <a:schemeClr val="accent1"/>
            </a:solidFill>
            <a:prstDash val="solid"/>
          </a:ln>
        </p:spPr>
      </p:sp>
      <p:sp>
        <p:nvSpPr>
          <p:cNvPr id="3" name="quote"/>
          <p:cNvSpPr txBox="1"/>
          <p:nvPr/>
        </p:nvSpPr>
        <p:spPr>
          <a:xfrm>
            <a:off x="2377440" y="1280160"/>
            <a:ext cx="9052560" cy="3657600"/>
          </a:xfrm>
          <a:prstGeom prst="rect">
            <a:avLst/>
          </a:prstGeom>
          <a:noFill/>
          <a:ln/>
        </p:spPr>
        <p:txBody>
          <a:bodyPr wrap="square" lIns="0" tIns="0" rIns="0" bIns="0" rtlCol="0" anchor="ctr"/>
          <a:lstStyle/>
          <a:p>
            <a:pPr indent="0" marL="0">
              <a:buNone/>
            </a:pPr>
            <a:r>
              <a:rPr lang="en-US" sz="2800" dirty="0">
                <a:solidFill>
                  <a:schemeClr val="tx1"/>
                </a:solidFill>
              </a:rPr>
              <a:t>“I've written Java for twenty-five years. I didn't type a line of it. After the first build, the changes came from the mechanical mentors — sometimes typed by them, sometimes called out from over the robot while I typed. They don't write Java.”</a:t>
            </a:r>
            <a:endParaRPr lang="en-US" sz="2800" dirty="0"/>
          </a:p>
        </p:txBody>
      </p:sp>
      <p:sp>
        <p:nvSpPr>
          <p:cNvPr id="4" name="attribution"/>
          <p:cNvSpPr txBox="1"/>
          <p:nvPr/>
        </p:nvSpPr>
        <p:spPr>
          <a:xfrm>
            <a:off x="2377440" y="5029200"/>
            <a:ext cx="9144000" cy="457200"/>
          </a:xfrm>
          <a:prstGeom prst="rect">
            <a:avLst/>
          </a:prstGeom>
          <a:noFill/>
          <a:ln/>
        </p:spPr>
        <p:txBody>
          <a:bodyPr wrap="square" lIns="0" tIns="0" rIns="0" bIns="0" rtlCol="0" anchor="ctr"/>
          <a:lstStyle/>
          <a:p>
            <a:pPr indent="0" marL="0">
              <a:buNone/>
            </a:pPr>
            <a:r>
              <a:rPr lang="en-US" sz="1800" dirty="0">
                <a:solidFill>
                  <a:schemeClr val="accent1"/>
                </a:solidFill>
              </a:rPr>
              <a:t>Ben, our coordinator</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2" type="title" hasCustomPrompt="1"/>
          </p:nvPr>
        </p:nvSpPr>
        <p:spPr>
          <a:xfrm>
            <a:off x="457200" y="365760"/>
            <a:ext cx="11274552" cy="822960"/>
          </a:xfrm>
          <a:prstGeom prst="rect">
            <a:avLst/>
          </a:prstGeom>
          <a:noFill/>
          <a:ln/>
        </p:spPr>
        <p:txBody>
          <a:bodyPr wrap="square" lIns="0" tIns="0" rIns="0" bIns="0" rtlCol="0" anchor="ctr"/>
          <a:lstStyle/>
          <a:p>
            <a:pPr algn="l" indent="0" marL="0">
              <a:buNone/>
            </a:pPr>
            <a:r>
              <a:rPr lang="en-US" sz="3200" b="1" dirty="0">
                <a:solidFill>
                  <a:schemeClr val="accent1"/>
                </a:solidFill>
              </a:rPr>
              <a:t>Hand-coding vs. architecting with AI</a:t>
            </a:r>
            <a:endParaRPr lang="en-US" sz="3200" dirty="0"/>
          </a:p>
        </p:txBody>
      </p:sp>
      <p:sp>
        <p:nvSpPr>
          <p:cNvPr id="4" name="col1 head"/>
          <p:cNvSpPr txBox="1"/>
          <p:nvPr/>
        </p:nvSpPr>
        <p:spPr>
          <a:xfrm>
            <a:off x="457200" y="1280160"/>
            <a:ext cx="5394960" cy="457200"/>
          </a:xfrm>
          <a:prstGeom prst="rect">
            <a:avLst/>
          </a:prstGeom>
          <a:noFill/>
          <a:ln/>
        </p:spPr>
        <p:txBody>
          <a:bodyPr wrap="square" lIns="0" tIns="0" rIns="0" bIns="0" rtlCol="0" anchor="t"/>
          <a:lstStyle/>
          <a:p>
            <a:pPr indent="0" marL="0">
              <a:buNone/>
            </a:pPr>
            <a:r>
              <a:rPr lang="en-US" sz="2000" b="1" dirty="0">
                <a:solidFill>
                  <a:schemeClr val="tx1"/>
                </a:solidFill>
              </a:rPr>
              <a:t>Our robot, hand-coded by us</a:t>
            </a:r>
            <a:endParaRPr lang="en-US" sz="2000" dirty="0"/>
          </a:p>
        </p:txBody>
      </p:sp>
      <p:sp>
        <p:nvSpPr>
          <p:cNvPr id="5" name="col2 head"/>
          <p:cNvSpPr txBox="1"/>
          <p:nvPr/>
        </p:nvSpPr>
        <p:spPr>
          <a:xfrm>
            <a:off x="6309360" y="1280160"/>
            <a:ext cx="5394960" cy="457200"/>
          </a:xfrm>
          <a:prstGeom prst="rect">
            <a:avLst/>
          </a:prstGeom>
          <a:noFill/>
          <a:ln/>
        </p:spPr>
        <p:txBody>
          <a:bodyPr wrap="square" lIns="0" tIns="0" rIns="0" bIns="0" rtlCol="0" anchor="t"/>
          <a:lstStyle/>
          <a:p>
            <a:pPr indent="0" marL="0">
              <a:buNone/>
            </a:pPr>
            <a:r>
              <a:rPr lang="en-US" sz="2000" b="1" dirty="0">
                <a:solidFill>
                  <a:schemeClr val="accent1"/>
                </a:solidFill>
              </a:rPr>
              <a:t>Mentor robot, described to Gemini</a:t>
            </a:r>
            <a:endParaRPr lang="en-US" sz="2000" dirty="0"/>
          </a:p>
        </p:txBody>
      </p:sp>
      <p:sp>
        <p:nvSpPr>
          <p:cNvPr id="6" name="l0"/>
          <p:cNvSpPr/>
          <p:nvPr/>
        </p:nvSpPr>
        <p:spPr>
          <a:xfrm>
            <a:off x="457200" y="1828800"/>
            <a:ext cx="5394960" cy="658368"/>
          </a:xfrm>
          <a:prstGeom prst="roundRect">
            <a:avLst>
              <a:gd name="adj" fmla="val 16667"/>
            </a:avLst>
          </a:prstGeom>
          <a:solidFill>
            <a:schemeClr val="bg2"/>
          </a:solidFill>
          <a:ln w="12700">
            <a:solidFill>
              <a:schemeClr val="bg2"/>
            </a:solidFill>
            <a:prstDash val="solid"/>
          </a:ln>
        </p:spPr>
      </p:sp>
      <p:sp>
        <p:nvSpPr>
          <p:cNvPr id="7" name="r0"/>
          <p:cNvSpPr/>
          <p:nvPr/>
        </p:nvSpPr>
        <p:spPr>
          <a:xfrm>
            <a:off x="6309360" y="1828800"/>
            <a:ext cx="5394960" cy="658368"/>
          </a:xfrm>
          <a:prstGeom prst="roundRect">
            <a:avLst>
              <a:gd name="adj" fmla="val 16667"/>
            </a:avLst>
          </a:prstGeom>
          <a:solidFill>
            <a:schemeClr val="bg2"/>
          </a:solidFill>
          <a:ln w="12700">
            <a:solidFill>
              <a:schemeClr val="bg2"/>
            </a:solidFill>
            <a:prstDash val="solid"/>
          </a:ln>
        </p:spPr>
      </p:sp>
      <p:sp>
        <p:nvSpPr>
          <p:cNvPr id="8" name="lt0"/>
          <p:cNvSpPr txBox="1"/>
          <p:nvPr/>
        </p:nvSpPr>
        <p:spPr>
          <a:xfrm>
            <a:off x="640080" y="1828800"/>
            <a:ext cx="5029200" cy="658368"/>
          </a:xfrm>
          <a:prstGeom prst="rect">
            <a:avLst/>
          </a:prstGeom>
          <a:noFill/>
          <a:ln/>
        </p:spPr>
        <p:txBody>
          <a:bodyPr wrap="square" lIns="0" tIns="0" rIns="0" bIns="0" rtlCol="0" anchor="ctr"/>
          <a:lstStyle/>
          <a:p>
            <a:pPr indent="0" marL="0">
              <a:buNone/>
            </a:pPr>
            <a:r>
              <a:rPr lang="en-US" sz="1150" dirty="0">
                <a:solidFill>
                  <a:schemeClr val="tx1"/>
                </a:solidFill>
              </a:rPr>
              <a:t>3 of us could code it: Tom, Sophi, Sadiqah. We were siloed, Tom on TeleOp and Sophi on autonomous</a:t>
            </a:r>
            <a:endParaRPr lang="en-US" sz="1150" dirty="0"/>
          </a:p>
        </p:txBody>
      </p:sp>
      <p:sp>
        <p:nvSpPr>
          <p:cNvPr id="9" name="rt0"/>
          <p:cNvSpPr txBox="1"/>
          <p:nvPr/>
        </p:nvSpPr>
        <p:spPr>
          <a:xfrm>
            <a:off x="6492240" y="1828800"/>
            <a:ext cx="5029200" cy="658368"/>
          </a:xfrm>
          <a:prstGeom prst="rect">
            <a:avLst/>
          </a:prstGeom>
          <a:noFill/>
          <a:ln/>
        </p:spPr>
        <p:txBody>
          <a:bodyPr wrap="square" lIns="0" tIns="0" rIns="0" bIns="0" rtlCol="0" anchor="ctr"/>
          <a:lstStyle/>
          <a:p>
            <a:pPr indent="0" marL="0">
              <a:buNone/>
            </a:pPr>
            <a:r>
              <a:rPr lang="en-US" sz="1150" dirty="0">
                <a:solidFill>
                  <a:schemeClr val="tx1"/>
                </a:solidFill>
              </a:rPr>
              <a:t>2 people wrote prompts, one who writes Java and one who doesn't</a:t>
            </a:r>
            <a:endParaRPr lang="en-US" sz="1150" dirty="0"/>
          </a:p>
        </p:txBody>
      </p:sp>
      <p:sp>
        <p:nvSpPr>
          <p:cNvPr id="10" name="l1"/>
          <p:cNvSpPr/>
          <p:nvPr/>
        </p:nvSpPr>
        <p:spPr>
          <a:xfrm>
            <a:off x="457200" y="2578608"/>
            <a:ext cx="5394960" cy="658368"/>
          </a:xfrm>
          <a:prstGeom prst="roundRect">
            <a:avLst>
              <a:gd name="adj" fmla="val 16667"/>
            </a:avLst>
          </a:prstGeom>
          <a:solidFill>
            <a:schemeClr val="bg2"/>
          </a:solidFill>
          <a:ln w="12700">
            <a:solidFill>
              <a:schemeClr val="bg2"/>
            </a:solidFill>
            <a:prstDash val="solid"/>
          </a:ln>
        </p:spPr>
      </p:sp>
      <p:sp>
        <p:nvSpPr>
          <p:cNvPr id="11" name="r1"/>
          <p:cNvSpPr/>
          <p:nvPr/>
        </p:nvSpPr>
        <p:spPr>
          <a:xfrm>
            <a:off x="6309360" y="2578608"/>
            <a:ext cx="5394960" cy="658368"/>
          </a:xfrm>
          <a:prstGeom prst="roundRect">
            <a:avLst>
              <a:gd name="adj" fmla="val 16667"/>
            </a:avLst>
          </a:prstGeom>
          <a:solidFill>
            <a:schemeClr val="bg2"/>
          </a:solidFill>
          <a:ln w="12700">
            <a:solidFill>
              <a:schemeClr val="bg2"/>
            </a:solidFill>
            <a:prstDash val="solid"/>
          </a:ln>
        </p:spPr>
      </p:sp>
      <p:sp>
        <p:nvSpPr>
          <p:cNvPr id="12" name="lt1"/>
          <p:cNvSpPr txBox="1"/>
          <p:nvPr/>
        </p:nvSpPr>
        <p:spPr>
          <a:xfrm>
            <a:off x="640080" y="2578608"/>
            <a:ext cx="5029200" cy="658368"/>
          </a:xfrm>
          <a:prstGeom prst="rect">
            <a:avLst/>
          </a:prstGeom>
          <a:noFill/>
          <a:ln/>
        </p:spPr>
        <p:txBody>
          <a:bodyPr wrap="square" lIns="0" tIns="0" rIns="0" bIns="0" rtlCol="0" anchor="ctr"/>
          <a:lstStyle/>
          <a:p>
            <a:pPr indent="0" marL="0">
              <a:buNone/>
            </a:pPr>
            <a:r>
              <a:rPr lang="en-US" sz="1150" dirty="0">
                <a:solidFill>
                  <a:schemeClr val="tx1"/>
                </a:solidFill>
              </a:rPr>
              <a:t>4 days of coding</a:t>
            </a:r>
            <a:endParaRPr lang="en-US" sz="1150" dirty="0"/>
          </a:p>
        </p:txBody>
      </p:sp>
      <p:sp>
        <p:nvSpPr>
          <p:cNvPr id="13" name="rt1"/>
          <p:cNvSpPr txBox="1"/>
          <p:nvPr/>
        </p:nvSpPr>
        <p:spPr>
          <a:xfrm>
            <a:off x="6492240" y="2578608"/>
            <a:ext cx="5029200" cy="658368"/>
          </a:xfrm>
          <a:prstGeom prst="rect">
            <a:avLst/>
          </a:prstGeom>
          <a:noFill/>
          <a:ln/>
        </p:spPr>
        <p:txBody>
          <a:bodyPr wrap="square" lIns="0" tIns="0" rIns="0" bIns="0" rtlCol="0" anchor="ctr"/>
          <a:lstStyle/>
          <a:p>
            <a:pPr indent="0" marL="0">
              <a:buNone/>
            </a:pPr>
            <a:r>
              <a:rPr lang="en-US" sz="1150" dirty="0">
                <a:solidFill>
                  <a:schemeClr val="tx1"/>
                </a:solidFill>
              </a:rPr>
              <a:t>67 prompts over two days and an evening; working TeleOp the first night</a:t>
            </a:r>
            <a:endParaRPr lang="en-US" sz="1150" dirty="0"/>
          </a:p>
        </p:txBody>
      </p:sp>
      <p:sp>
        <p:nvSpPr>
          <p:cNvPr id="14" name="l2"/>
          <p:cNvSpPr/>
          <p:nvPr/>
        </p:nvSpPr>
        <p:spPr>
          <a:xfrm>
            <a:off x="457200" y="3328416"/>
            <a:ext cx="5394960" cy="658368"/>
          </a:xfrm>
          <a:prstGeom prst="roundRect">
            <a:avLst>
              <a:gd name="adj" fmla="val 16667"/>
            </a:avLst>
          </a:prstGeom>
          <a:solidFill>
            <a:schemeClr val="bg2"/>
          </a:solidFill>
          <a:ln w="12700">
            <a:solidFill>
              <a:schemeClr val="bg2"/>
            </a:solidFill>
            <a:prstDash val="solid"/>
          </a:ln>
        </p:spPr>
      </p:sp>
      <p:sp>
        <p:nvSpPr>
          <p:cNvPr id="15" name="r2"/>
          <p:cNvSpPr/>
          <p:nvPr/>
        </p:nvSpPr>
        <p:spPr>
          <a:xfrm>
            <a:off x="6309360" y="3328416"/>
            <a:ext cx="5394960" cy="658368"/>
          </a:xfrm>
          <a:prstGeom prst="roundRect">
            <a:avLst>
              <a:gd name="adj" fmla="val 16667"/>
            </a:avLst>
          </a:prstGeom>
          <a:solidFill>
            <a:schemeClr val="bg2"/>
          </a:solidFill>
          <a:ln w="12700">
            <a:solidFill>
              <a:schemeClr val="bg2"/>
            </a:solidFill>
            <a:prstDash val="solid"/>
          </a:ln>
        </p:spPr>
      </p:sp>
      <p:sp>
        <p:nvSpPr>
          <p:cNvPr id="16" name="lt2"/>
          <p:cNvSpPr txBox="1"/>
          <p:nvPr/>
        </p:nvSpPr>
        <p:spPr>
          <a:xfrm>
            <a:off x="640080" y="3328416"/>
            <a:ext cx="5029200" cy="658368"/>
          </a:xfrm>
          <a:prstGeom prst="rect">
            <a:avLst/>
          </a:prstGeom>
          <a:noFill/>
          <a:ln/>
        </p:spPr>
        <p:txBody>
          <a:bodyPr wrap="square" lIns="0" tIns="0" rIns="0" bIns="0" rtlCol="0" anchor="ctr"/>
          <a:lstStyle/>
          <a:p>
            <a:pPr indent="0" marL="0">
              <a:buNone/>
            </a:pPr>
            <a:r>
              <a:rPr lang="en-US" sz="1150" dirty="0">
                <a:solidFill>
                  <a:schemeClr val="tx1"/>
                </a:solidFill>
              </a:rPr>
              <a:t>A borrowed sample autonomous only powered two wheels, and the other two were braking. Tom saw the robot crawl in morning testing, then had to read Sophi's code cold to find why</a:t>
            </a:r>
            <a:endParaRPr lang="en-US" sz="1150" dirty="0"/>
          </a:p>
        </p:txBody>
      </p:sp>
      <p:sp>
        <p:nvSpPr>
          <p:cNvPr id="17" name="rt2"/>
          <p:cNvSpPr txBox="1"/>
          <p:nvPr/>
        </p:nvSpPr>
        <p:spPr>
          <a:xfrm>
            <a:off x="6492240" y="3328416"/>
            <a:ext cx="5029200" cy="658368"/>
          </a:xfrm>
          <a:prstGeom prst="rect">
            <a:avLst/>
          </a:prstGeom>
          <a:noFill/>
          <a:ln/>
        </p:spPr>
        <p:txBody>
          <a:bodyPr wrap="square" lIns="0" tIns="0" rIns="0" bIns="0" rtlCol="0" anchor="ctr"/>
          <a:lstStyle/>
          <a:p>
            <a:pPr indent="0" marL="0">
              <a:buNone/>
            </a:pPr>
            <a:r>
              <a:rPr lang="en-US" sz="1150" dirty="0">
                <a:solidFill>
                  <a:schemeClr val="tx1"/>
                </a:solidFill>
              </a:rPr>
              <a:t>Mechanical mentor fixed strafe, flywheel bump and controls in English, with no Java</a:t>
            </a:r>
            <a:endParaRPr lang="en-US" sz="1150" dirty="0"/>
          </a:p>
        </p:txBody>
      </p:sp>
      <p:sp>
        <p:nvSpPr>
          <p:cNvPr id="18" name="l3"/>
          <p:cNvSpPr/>
          <p:nvPr/>
        </p:nvSpPr>
        <p:spPr>
          <a:xfrm>
            <a:off x="457200" y="4078224"/>
            <a:ext cx="5394960" cy="658368"/>
          </a:xfrm>
          <a:prstGeom prst="roundRect">
            <a:avLst>
              <a:gd name="adj" fmla="val 16667"/>
            </a:avLst>
          </a:prstGeom>
          <a:solidFill>
            <a:schemeClr val="bg2"/>
          </a:solidFill>
          <a:ln w="12700">
            <a:solidFill>
              <a:schemeClr val="bg2"/>
            </a:solidFill>
            <a:prstDash val="solid"/>
          </a:ln>
        </p:spPr>
      </p:sp>
      <p:sp>
        <p:nvSpPr>
          <p:cNvPr id="19" name="r3"/>
          <p:cNvSpPr/>
          <p:nvPr/>
        </p:nvSpPr>
        <p:spPr>
          <a:xfrm>
            <a:off x="6309360" y="4078224"/>
            <a:ext cx="5394960" cy="658368"/>
          </a:xfrm>
          <a:prstGeom prst="roundRect">
            <a:avLst>
              <a:gd name="adj" fmla="val 16667"/>
            </a:avLst>
          </a:prstGeom>
          <a:solidFill>
            <a:schemeClr val="bg2"/>
          </a:solidFill>
          <a:ln w="12700">
            <a:solidFill>
              <a:schemeClr val="bg2"/>
            </a:solidFill>
            <a:prstDash val="solid"/>
          </a:ln>
        </p:spPr>
      </p:sp>
      <p:sp>
        <p:nvSpPr>
          <p:cNvPr id="20" name="lt3"/>
          <p:cNvSpPr txBox="1"/>
          <p:nvPr/>
        </p:nvSpPr>
        <p:spPr>
          <a:xfrm>
            <a:off x="640080" y="4078224"/>
            <a:ext cx="5029200" cy="658368"/>
          </a:xfrm>
          <a:prstGeom prst="rect">
            <a:avLst/>
          </a:prstGeom>
          <a:noFill/>
          <a:ln/>
        </p:spPr>
        <p:txBody>
          <a:bodyPr wrap="square" lIns="0" tIns="0" rIns="0" bIns="0" rtlCol="0" anchor="ctr"/>
          <a:lstStyle/>
          <a:p>
            <a:pPr indent="0" marL="0">
              <a:buNone/>
            </a:pPr>
            <a:r>
              <a:rPr lang="en-US" sz="1150" dirty="0">
                <a:solidFill>
                  <a:schemeClr val="tx1"/>
                </a:solidFill>
              </a:rPr>
              <a:t>Programmer codes while the mechanical teammate waits. Often one programmer does it all and kludges around mechanical problems. One new autonomous state: 10 to 20 minutes of boilerplate</a:t>
            </a:r>
            <a:endParaRPr lang="en-US" sz="1150" dirty="0"/>
          </a:p>
        </p:txBody>
      </p:sp>
      <p:sp>
        <p:nvSpPr>
          <p:cNvPr id="21" name="rt3"/>
          <p:cNvSpPr txBox="1"/>
          <p:nvPr/>
        </p:nvSpPr>
        <p:spPr>
          <a:xfrm>
            <a:off x="6492240" y="4078224"/>
            <a:ext cx="5029200" cy="658368"/>
          </a:xfrm>
          <a:prstGeom prst="rect">
            <a:avLst/>
          </a:prstGeom>
          <a:noFill/>
          <a:ln/>
        </p:spPr>
        <p:txBody>
          <a:bodyPr wrap="square" lIns="0" tIns="0" rIns="0" bIns="0" rtlCol="0" anchor="ctr"/>
          <a:lstStyle/>
          <a:p>
            <a:pPr indent="0" marL="0">
              <a:buNone/>
            </a:pPr>
            <a:r>
              <a:rPr lang="en-US" sz="1150" dirty="0">
                <a:solidFill>
                  <a:schemeClr val="tx1"/>
                </a:solidFill>
              </a:rPr>
              <a:t>Firewheel transfer servos came out Sep 18 (reported 7:50 PM); code reworked that night by describing the new design</a:t>
            </a:r>
            <a:endParaRPr lang="en-US" sz="1150" dirty="0"/>
          </a:p>
        </p:txBody>
      </p:sp>
      <p:sp>
        <p:nvSpPr>
          <p:cNvPr id="22" name="l4"/>
          <p:cNvSpPr/>
          <p:nvPr/>
        </p:nvSpPr>
        <p:spPr>
          <a:xfrm>
            <a:off x="457200" y="4828032"/>
            <a:ext cx="5394960" cy="658368"/>
          </a:xfrm>
          <a:prstGeom prst="roundRect">
            <a:avLst>
              <a:gd name="adj" fmla="val 16667"/>
            </a:avLst>
          </a:prstGeom>
          <a:solidFill>
            <a:schemeClr val="bg2"/>
          </a:solidFill>
          <a:ln w="12700">
            <a:solidFill>
              <a:schemeClr val="bg2"/>
            </a:solidFill>
            <a:prstDash val="solid"/>
          </a:ln>
        </p:spPr>
      </p:sp>
      <p:sp>
        <p:nvSpPr>
          <p:cNvPr id="23" name="r4"/>
          <p:cNvSpPr/>
          <p:nvPr/>
        </p:nvSpPr>
        <p:spPr>
          <a:xfrm>
            <a:off x="6309360" y="4828032"/>
            <a:ext cx="5394960" cy="658368"/>
          </a:xfrm>
          <a:prstGeom prst="roundRect">
            <a:avLst>
              <a:gd name="adj" fmla="val 16667"/>
            </a:avLst>
          </a:prstGeom>
          <a:solidFill>
            <a:schemeClr val="bg2"/>
          </a:solidFill>
          <a:ln w="12700">
            <a:solidFill>
              <a:schemeClr val="bg2"/>
            </a:solidFill>
            <a:prstDash val="solid"/>
          </a:ln>
        </p:spPr>
      </p:sp>
      <p:sp>
        <p:nvSpPr>
          <p:cNvPr id="24" name="lt4"/>
          <p:cNvSpPr txBox="1"/>
          <p:nvPr/>
        </p:nvSpPr>
        <p:spPr>
          <a:xfrm>
            <a:off x="640080" y="4828032"/>
            <a:ext cx="5029200" cy="658368"/>
          </a:xfrm>
          <a:prstGeom prst="rect">
            <a:avLst/>
          </a:prstGeom>
          <a:noFill/>
          <a:ln/>
        </p:spPr>
        <p:txBody>
          <a:bodyPr wrap="square" lIns="0" tIns="0" rIns="0" bIns="0" rtlCol="0" anchor="ctr"/>
          <a:lstStyle/>
          <a:p>
            <a:pPr indent="0" marL="0">
              <a:buNone/>
            </a:pPr>
            <a:r>
              <a:rPr lang="en-US" sz="1150" dirty="0">
                <a:solidFill>
                  <a:schemeClr val="tx1"/>
                </a:solidFill>
              </a:rPr>
              <a:t>Each of us understood our own file. Nobody could summarize the other's</a:t>
            </a:r>
            <a:endParaRPr lang="en-US" sz="1150" dirty="0"/>
          </a:p>
        </p:txBody>
      </p:sp>
      <p:sp>
        <p:nvSpPr>
          <p:cNvPr id="25" name="rt4"/>
          <p:cNvSpPr txBox="1"/>
          <p:nvPr/>
        </p:nvSpPr>
        <p:spPr>
          <a:xfrm>
            <a:off x="6492240" y="4828032"/>
            <a:ext cx="5029200" cy="658368"/>
          </a:xfrm>
          <a:prstGeom prst="rect">
            <a:avLst/>
          </a:prstGeom>
          <a:noFill/>
          <a:ln/>
        </p:spPr>
        <p:txBody>
          <a:bodyPr wrap="square" lIns="0" tIns="0" rIns="0" bIns="0" rtlCol="0" anchor="ctr"/>
          <a:lstStyle/>
          <a:p>
            <a:pPr indent="0" marL="0">
              <a:buNone/>
            </a:pPr>
            <a:r>
              <a:rPr lang="en-US" sz="1150" dirty="0">
                <a:solidFill>
                  <a:schemeClr val="tx1"/>
                </a:solidFill>
              </a:rPr>
              <a:t>Someone still has to read what Gemini wrote (the Reader role)</a:t>
            </a:r>
            <a:endParaRPr lang="en-US" sz="1150" dirty="0"/>
          </a:p>
        </p:txBody>
      </p:sp>
      <p:sp>
        <p:nvSpPr>
          <p:cNvPr id="26" name="takeaway"/>
          <p:cNvSpPr txBox="1"/>
          <p:nvPr/>
        </p:nvSpPr>
        <p:spPr>
          <a:xfrm>
            <a:off x="457200" y="5715000"/>
            <a:ext cx="11247120" cy="411480"/>
          </a:xfrm>
          <a:prstGeom prst="rect">
            <a:avLst/>
          </a:prstGeom>
          <a:noFill/>
          <a:ln/>
        </p:spPr>
        <p:txBody>
          <a:bodyPr wrap="square" lIns="0" tIns="0" rIns="0" bIns="0" rtlCol="0" anchor="t"/>
          <a:lstStyle/>
          <a:p>
            <a:pPr indent="0" marL="0">
              <a:buNone/>
            </a:pPr>
            <a:r>
              <a:rPr lang="en-US" sz="1500" b="1" dirty="0">
                <a:solidFill>
                  <a:schemeClr val="accent1"/>
                </a:solidFill>
              </a:rPr>
              <a:t>The bottleneck moved: from “who can type Java” to “who can describe the robot precisely.”</a:t>
            </a:r>
            <a:endParaRPr lang="en-US" sz="1500" dirty="0"/>
          </a:p>
        </p:txBody>
      </p:sp>
      <p:sp>
        <p:nvSpPr>
          <p:cNvPr id="25" name="Slide Number Placeholder 0"/>
          <p:cNvSpPr>
            <a:spLocks noGrp="1"/>
          </p:cNvSpPr>
          <p:nvPr>
            <p:ph type="sldNum" sz="quarter" idx="4294967295"/>
          </p:nvPr>
        </p:nvSpPr>
        <p:spPr>
          <a:xfrm>
            <a:off x="11247120" y="6263640"/>
            <a:ext cx="548640" cy="39319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2" type="title" hasCustomPrompt="1"/>
          </p:nvPr>
        </p:nvSpPr>
        <p:spPr>
          <a:xfrm>
            <a:off x="457200" y="365760"/>
            <a:ext cx="11274552" cy="822960"/>
          </a:xfrm>
          <a:prstGeom prst="rect">
            <a:avLst/>
          </a:prstGeom>
          <a:noFill/>
          <a:ln/>
        </p:spPr>
        <p:txBody>
          <a:bodyPr wrap="square" lIns="0" tIns="0" rIns="0" bIns="0" rtlCol="0" anchor="ctr"/>
          <a:lstStyle/>
          <a:p>
            <a:pPr algn="l" indent="0" marL="0">
              <a:buNone/>
            </a:pPr>
            <a:r>
              <a:rPr lang="en-US" sz="3200" b="1" dirty="0">
                <a:solidFill>
                  <a:schemeClr val="accent1"/>
                </a:solidFill>
              </a:rPr>
              <a:t>The method: describe → generate → test → refine</a:t>
            </a:r>
            <a:endParaRPr lang="en-US" sz="3200" dirty="0"/>
          </a:p>
        </p:txBody>
      </p:sp>
      <p:sp>
        <p:nvSpPr>
          <p:cNvPr id="4" name="step DESCRIBE"/>
          <p:cNvSpPr/>
          <p:nvPr/>
        </p:nvSpPr>
        <p:spPr>
          <a:xfrm>
            <a:off x="457200" y="2103120"/>
            <a:ext cx="2468880" cy="914400"/>
          </a:xfrm>
          <a:prstGeom prst="hexagon">
            <a:avLst/>
          </a:prstGeom>
          <a:solidFill>
            <a:schemeClr val="accent1"/>
          </a:solidFill>
          <a:ln w="25400">
            <a:solidFill>
              <a:schemeClr val="accent1"/>
            </a:solidFill>
            <a:prstDash val="solid"/>
          </a:ln>
        </p:spPr>
      </p:sp>
      <p:sp>
        <p:nvSpPr>
          <p:cNvPr id="5" name="step label DESCRIBE"/>
          <p:cNvSpPr txBox="1"/>
          <p:nvPr/>
        </p:nvSpPr>
        <p:spPr>
          <a:xfrm>
            <a:off x="457200" y="2103120"/>
            <a:ext cx="2468880" cy="914400"/>
          </a:xfrm>
          <a:prstGeom prst="rect">
            <a:avLst/>
          </a:prstGeom>
          <a:noFill/>
          <a:ln/>
        </p:spPr>
        <p:txBody>
          <a:bodyPr wrap="square" lIns="0" tIns="0" rIns="0" bIns="0" rtlCol="0" anchor="ctr"/>
          <a:lstStyle/>
          <a:p>
            <a:pPr algn="ctr" indent="0" marL="0">
              <a:buNone/>
            </a:pPr>
            <a:r>
              <a:rPr lang="en-US" sz="2000" b="1" dirty="0">
                <a:solidFill>
                  <a:schemeClr val="bg1"/>
                </a:solidFill>
              </a:rPr>
              <a:t>DESCRIBE</a:t>
            </a:r>
            <a:endParaRPr lang="en-US" sz="2000" dirty="0"/>
          </a:p>
        </p:txBody>
      </p:sp>
      <p:sp>
        <p:nvSpPr>
          <p:cNvPr id="6" name="arrow 0"/>
          <p:cNvSpPr/>
          <p:nvPr/>
        </p:nvSpPr>
        <p:spPr>
          <a:xfrm>
            <a:off x="2971800" y="2377440"/>
            <a:ext cx="320040" cy="365760"/>
          </a:xfrm>
          <a:prstGeom prst="rightArrow">
            <a:avLst/>
          </a:prstGeom>
          <a:solidFill>
            <a:schemeClr val="accent1"/>
          </a:solidFill>
          <a:ln w="12700">
            <a:solidFill>
              <a:schemeClr val="accent1"/>
            </a:solidFill>
            <a:prstDash val="solid"/>
          </a:ln>
        </p:spPr>
      </p:sp>
      <p:sp>
        <p:nvSpPr>
          <p:cNvPr id="7" name="step text DESCRIBE"/>
          <p:cNvSpPr txBox="1"/>
          <p:nvPr/>
        </p:nvSpPr>
        <p:spPr>
          <a:xfrm>
            <a:off x="457200" y="3246120"/>
            <a:ext cx="2468880" cy="1463040"/>
          </a:xfrm>
          <a:prstGeom prst="rect">
            <a:avLst/>
          </a:prstGeom>
          <a:noFill/>
          <a:ln/>
        </p:spPr>
        <p:txBody>
          <a:bodyPr wrap="square" lIns="0" tIns="0" rIns="0" bIns="0" rtlCol="0" anchor="t"/>
          <a:lstStyle/>
          <a:p>
            <a:pPr indent="0" marL="0">
              <a:buNone/>
            </a:pPr>
            <a:r>
              <a:rPr lang="en-US" sz="1300" i="1" dirty="0">
                <a:solidFill>
                  <a:schemeClr val="tx2"/>
                </a:solidFill>
              </a:rPr>
              <a:t>“The intake is a motor named ‘intake’ plus two CR servos. A toggles collect at 0.5 power…”</a:t>
            </a:r>
            <a:endParaRPr lang="en-US" sz="1300" dirty="0"/>
          </a:p>
        </p:txBody>
      </p:sp>
      <p:sp>
        <p:nvSpPr>
          <p:cNvPr id="8" name="step GENERATE"/>
          <p:cNvSpPr/>
          <p:nvPr/>
        </p:nvSpPr>
        <p:spPr>
          <a:xfrm>
            <a:off x="3337560" y="2103120"/>
            <a:ext cx="2468880" cy="914400"/>
          </a:xfrm>
          <a:prstGeom prst="hexagon">
            <a:avLst/>
          </a:prstGeom>
          <a:solidFill>
            <a:schemeClr val="bg2"/>
          </a:solidFill>
          <a:ln w="25400">
            <a:solidFill>
              <a:schemeClr val="accent1"/>
            </a:solidFill>
            <a:prstDash val="solid"/>
          </a:ln>
        </p:spPr>
      </p:sp>
      <p:sp>
        <p:nvSpPr>
          <p:cNvPr id="9" name="step label GENERATE"/>
          <p:cNvSpPr txBox="1"/>
          <p:nvPr/>
        </p:nvSpPr>
        <p:spPr>
          <a:xfrm>
            <a:off x="3337560" y="2103120"/>
            <a:ext cx="2468880" cy="914400"/>
          </a:xfrm>
          <a:prstGeom prst="rect">
            <a:avLst/>
          </a:prstGeom>
          <a:noFill/>
          <a:ln/>
        </p:spPr>
        <p:txBody>
          <a:bodyPr wrap="square" lIns="0" tIns="0" rIns="0" bIns="0" rtlCol="0" anchor="ctr"/>
          <a:lstStyle/>
          <a:p>
            <a:pPr algn="ctr" indent="0" marL="0">
              <a:buNone/>
            </a:pPr>
            <a:r>
              <a:rPr lang="en-US" sz="2000" b="1" dirty="0">
                <a:solidFill>
                  <a:schemeClr val="accent1"/>
                </a:solidFill>
              </a:rPr>
              <a:t>GENERATE</a:t>
            </a:r>
            <a:endParaRPr lang="en-US" sz="2000" dirty="0"/>
          </a:p>
        </p:txBody>
      </p:sp>
      <p:sp>
        <p:nvSpPr>
          <p:cNvPr id="10" name="arrow 1"/>
          <p:cNvSpPr/>
          <p:nvPr/>
        </p:nvSpPr>
        <p:spPr>
          <a:xfrm>
            <a:off x="5852160" y="2377440"/>
            <a:ext cx="320040" cy="365760"/>
          </a:xfrm>
          <a:prstGeom prst="rightArrow">
            <a:avLst/>
          </a:prstGeom>
          <a:solidFill>
            <a:schemeClr val="accent1"/>
          </a:solidFill>
          <a:ln w="12700">
            <a:solidFill>
              <a:schemeClr val="accent1"/>
            </a:solidFill>
            <a:prstDash val="solid"/>
          </a:ln>
        </p:spPr>
      </p:sp>
      <p:sp>
        <p:nvSpPr>
          <p:cNvPr id="11" name="step text GENERATE"/>
          <p:cNvSpPr txBox="1"/>
          <p:nvPr/>
        </p:nvSpPr>
        <p:spPr>
          <a:xfrm>
            <a:off x="3337560" y="3246120"/>
            <a:ext cx="2468880" cy="1463040"/>
          </a:xfrm>
          <a:prstGeom prst="rect">
            <a:avLst/>
          </a:prstGeom>
          <a:noFill/>
          <a:ln/>
        </p:spPr>
        <p:txBody>
          <a:bodyPr wrap="square" lIns="0" tIns="0" rIns="0" bIns="0" rtlCol="0" anchor="t"/>
          <a:lstStyle/>
          <a:p>
            <a:pPr indent="0" marL="0">
              <a:buNone/>
            </a:pPr>
            <a:r>
              <a:rPr lang="en-US" sz="1300" dirty="0">
                <a:solidFill>
                  <a:schemeClr val="tx2"/>
                </a:solidFill>
              </a:rPr>
              <a:t>Gemini writes or edits the OpMode</a:t>
            </a:r>
            <a:endParaRPr lang="en-US" sz="1300" dirty="0"/>
          </a:p>
        </p:txBody>
      </p:sp>
      <p:sp>
        <p:nvSpPr>
          <p:cNvPr id="12" name="step TEST"/>
          <p:cNvSpPr/>
          <p:nvPr/>
        </p:nvSpPr>
        <p:spPr>
          <a:xfrm>
            <a:off x="6217920" y="2103120"/>
            <a:ext cx="2468880" cy="914400"/>
          </a:xfrm>
          <a:prstGeom prst="hexagon">
            <a:avLst/>
          </a:prstGeom>
          <a:solidFill>
            <a:schemeClr val="bg2"/>
          </a:solidFill>
          <a:ln w="25400">
            <a:solidFill>
              <a:schemeClr val="accent1"/>
            </a:solidFill>
            <a:prstDash val="solid"/>
          </a:ln>
        </p:spPr>
      </p:sp>
      <p:sp>
        <p:nvSpPr>
          <p:cNvPr id="13" name="step label TEST"/>
          <p:cNvSpPr txBox="1"/>
          <p:nvPr/>
        </p:nvSpPr>
        <p:spPr>
          <a:xfrm>
            <a:off x="6217920" y="2103120"/>
            <a:ext cx="2468880" cy="914400"/>
          </a:xfrm>
          <a:prstGeom prst="rect">
            <a:avLst/>
          </a:prstGeom>
          <a:noFill/>
          <a:ln/>
        </p:spPr>
        <p:txBody>
          <a:bodyPr wrap="square" lIns="0" tIns="0" rIns="0" bIns="0" rtlCol="0" anchor="ctr"/>
          <a:lstStyle/>
          <a:p>
            <a:pPr algn="ctr" indent="0" marL="0">
              <a:buNone/>
            </a:pPr>
            <a:r>
              <a:rPr lang="en-US" sz="2000" b="1" dirty="0">
                <a:solidFill>
                  <a:schemeClr val="accent1"/>
                </a:solidFill>
              </a:rPr>
              <a:t>TEST</a:t>
            </a:r>
            <a:endParaRPr lang="en-US" sz="2000" dirty="0"/>
          </a:p>
        </p:txBody>
      </p:sp>
      <p:sp>
        <p:nvSpPr>
          <p:cNvPr id="14" name="arrow 2"/>
          <p:cNvSpPr/>
          <p:nvPr/>
        </p:nvSpPr>
        <p:spPr>
          <a:xfrm>
            <a:off x="8732520" y="2377440"/>
            <a:ext cx="320040" cy="365760"/>
          </a:xfrm>
          <a:prstGeom prst="rightArrow">
            <a:avLst/>
          </a:prstGeom>
          <a:solidFill>
            <a:schemeClr val="accent1"/>
          </a:solidFill>
          <a:ln w="12700">
            <a:solidFill>
              <a:schemeClr val="accent1"/>
            </a:solidFill>
            <a:prstDash val="solid"/>
          </a:ln>
        </p:spPr>
      </p:sp>
      <p:sp>
        <p:nvSpPr>
          <p:cNvPr id="15" name="step text TEST"/>
          <p:cNvSpPr txBox="1"/>
          <p:nvPr/>
        </p:nvSpPr>
        <p:spPr>
          <a:xfrm>
            <a:off x="6217920" y="3246120"/>
            <a:ext cx="2468880" cy="1463040"/>
          </a:xfrm>
          <a:prstGeom prst="rect">
            <a:avLst/>
          </a:prstGeom>
          <a:noFill/>
          <a:ln/>
        </p:spPr>
        <p:txBody>
          <a:bodyPr wrap="square" lIns="0" tIns="0" rIns="0" bIns="0" rtlCol="0" anchor="t"/>
          <a:lstStyle/>
          <a:p>
            <a:pPr indent="0" marL="0">
              <a:buNone/>
            </a:pPr>
            <a:r>
              <a:rPr lang="en-US" sz="1300" dirty="0">
                <a:solidFill>
                  <a:schemeClr val="tx2"/>
                </a:solidFill>
              </a:rPr>
              <a:t>Deploy to the robot. Try it.</a:t>
            </a:r>
            <a:endParaRPr lang="en-US" sz="1300" dirty="0"/>
          </a:p>
        </p:txBody>
      </p:sp>
      <p:sp>
        <p:nvSpPr>
          <p:cNvPr id="16" name="step REFINE"/>
          <p:cNvSpPr/>
          <p:nvPr/>
        </p:nvSpPr>
        <p:spPr>
          <a:xfrm>
            <a:off x="9098280" y="2103120"/>
            <a:ext cx="2468880" cy="914400"/>
          </a:xfrm>
          <a:prstGeom prst="hexagon">
            <a:avLst/>
          </a:prstGeom>
          <a:solidFill>
            <a:schemeClr val="accent1"/>
          </a:solidFill>
          <a:ln w="25400">
            <a:solidFill>
              <a:schemeClr val="accent1"/>
            </a:solidFill>
            <a:prstDash val="solid"/>
          </a:ln>
        </p:spPr>
      </p:sp>
      <p:sp>
        <p:nvSpPr>
          <p:cNvPr id="17" name="step label REFINE"/>
          <p:cNvSpPr txBox="1"/>
          <p:nvPr/>
        </p:nvSpPr>
        <p:spPr>
          <a:xfrm>
            <a:off x="9098280" y="2103120"/>
            <a:ext cx="2468880" cy="914400"/>
          </a:xfrm>
          <a:prstGeom prst="rect">
            <a:avLst/>
          </a:prstGeom>
          <a:noFill/>
          <a:ln/>
        </p:spPr>
        <p:txBody>
          <a:bodyPr wrap="square" lIns="0" tIns="0" rIns="0" bIns="0" rtlCol="0" anchor="ctr"/>
          <a:lstStyle/>
          <a:p>
            <a:pPr algn="ctr" indent="0" marL="0">
              <a:buNone/>
            </a:pPr>
            <a:r>
              <a:rPr lang="en-US" sz="2000" b="1" dirty="0">
                <a:solidFill>
                  <a:schemeClr val="bg1"/>
                </a:solidFill>
              </a:rPr>
              <a:t>REFINE</a:t>
            </a:r>
            <a:endParaRPr lang="en-US" sz="2000" dirty="0"/>
          </a:p>
        </p:txBody>
      </p:sp>
      <p:sp>
        <p:nvSpPr>
          <p:cNvPr id="18" name="step text REFINE"/>
          <p:cNvSpPr txBox="1"/>
          <p:nvPr/>
        </p:nvSpPr>
        <p:spPr>
          <a:xfrm>
            <a:off x="9098280" y="3246120"/>
            <a:ext cx="2468880" cy="1463040"/>
          </a:xfrm>
          <a:prstGeom prst="rect">
            <a:avLst/>
          </a:prstGeom>
          <a:noFill/>
          <a:ln/>
        </p:spPr>
        <p:txBody>
          <a:bodyPr wrap="square" lIns="0" tIns="0" rIns="0" bIns="0" rtlCol="0" anchor="t"/>
          <a:lstStyle/>
          <a:p>
            <a:pPr indent="0" marL="0">
              <a:buNone/>
            </a:pPr>
            <a:r>
              <a:rPr lang="en-US" sz="1300" i="1" dirty="0">
                <a:solidFill>
                  <a:schemeClr val="tx2"/>
                </a:solidFill>
              </a:rPr>
              <a:t>“it is spitting balls out, so i would like to shorten it”</a:t>
            </a:r>
            <a:endParaRPr lang="en-US" sz="1300" dirty="0"/>
          </a:p>
        </p:txBody>
      </p:sp>
      <p:sp>
        <p:nvSpPr>
          <p:cNvPr id="19" name="return line"/>
          <p:cNvSpPr/>
          <p:nvPr/>
        </p:nvSpPr>
        <p:spPr>
          <a:xfrm>
            <a:off x="4572000" y="4937760"/>
            <a:ext cx="5760720" cy="0"/>
          </a:xfrm>
          <a:prstGeom prst="line">
            <a:avLst/>
          </a:prstGeom>
          <a:noFill/>
          <a:ln w="19050">
            <a:solidFill>
              <a:schemeClr val="accent1"/>
            </a:solidFill>
            <a:prstDash val="solid"/>
            <a:headEnd type="triangle"/>
          </a:ln>
        </p:spPr>
      </p:sp>
      <p:sp>
        <p:nvSpPr>
          <p:cNvPr id="20" name="return label"/>
          <p:cNvSpPr txBox="1"/>
          <p:nvPr/>
        </p:nvSpPr>
        <p:spPr>
          <a:xfrm>
            <a:off x="4754880" y="5029200"/>
            <a:ext cx="5486400" cy="365760"/>
          </a:xfrm>
          <a:prstGeom prst="rect">
            <a:avLst/>
          </a:prstGeom>
          <a:noFill/>
          <a:ln/>
        </p:spPr>
        <p:txBody>
          <a:bodyPr wrap="square" lIns="0" tIns="0" rIns="0" bIns="0" rtlCol="0" anchor="t"/>
          <a:lstStyle/>
          <a:p>
            <a:pPr indent="0" marL="0">
              <a:buNone/>
            </a:pPr>
            <a:r>
              <a:rPr lang="en-US" sz="1200" dirty="0">
                <a:solidFill>
                  <a:schemeClr val="tx2"/>
                </a:solidFill>
              </a:rPr>
              <a:t>…and back to GENERATE</a:t>
            </a:r>
            <a:endParaRPr lang="en-US" sz="1200" dirty="0"/>
          </a:p>
        </p:txBody>
      </p:sp>
      <p:sp>
        <p:nvSpPr>
          <p:cNvPr id="21" name="takeaway"/>
          <p:cNvSpPr txBox="1"/>
          <p:nvPr/>
        </p:nvSpPr>
        <p:spPr>
          <a:xfrm>
            <a:off x="457200" y="5669280"/>
            <a:ext cx="11247120" cy="457200"/>
          </a:xfrm>
          <a:prstGeom prst="rect">
            <a:avLst/>
          </a:prstGeom>
          <a:noFill/>
          <a:ln/>
        </p:spPr>
        <p:txBody>
          <a:bodyPr wrap="square" lIns="0" tIns="0" rIns="0" bIns="0" rtlCol="0" anchor="t"/>
          <a:lstStyle/>
          <a:p>
            <a:pPr indent="0" marL="0">
              <a:buNone/>
            </a:pPr>
            <a:r>
              <a:rPr lang="en-US" sz="1500" b="1" dirty="0">
                <a:solidFill>
                  <a:schemeClr val="accent1"/>
                </a:solidFill>
              </a:rPr>
              <a:t>The skill you build is DESCRIBE and REFINE: names, directions, timing, order.</a:t>
            </a:r>
            <a:endParaRPr lang="en-US" sz="1500" dirty="0"/>
          </a:p>
        </p:txBody>
      </p:sp>
      <p:sp>
        <p:nvSpPr>
          <p:cNvPr id="25" name="Slide Number Placeholder 0"/>
          <p:cNvSpPr>
            <a:spLocks noGrp="1"/>
          </p:cNvSpPr>
          <p:nvPr>
            <p:ph type="sldNum" sz="quarter" idx="4294967295"/>
          </p:nvPr>
        </p:nvSpPr>
        <p:spPr>
          <a:xfrm>
            <a:off x="11247120" y="6263640"/>
            <a:ext cx="548640" cy="39319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2" type="title" hasCustomPrompt="1"/>
          </p:nvPr>
        </p:nvSpPr>
        <p:spPr>
          <a:xfrm>
            <a:off x="457200" y="365760"/>
            <a:ext cx="11274552" cy="822960"/>
          </a:xfrm>
          <a:prstGeom prst="rect">
            <a:avLst/>
          </a:prstGeom>
          <a:noFill/>
          <a:ln/>
        </p:spPr>
        <p:txBody>
          <a:bodyPr wrap="square" lIns="0" tIns="0" rIns="0" bIns="0" rtlCol="0" anchor="ctr"/>
          <a:lstStyle/>
          <a:p>
            <a:pPr algn="l" indent="0" marL="0">
              <a:buNone/>
            </a:pPr>
            <a:r>
              <a:rPr lang="en-US" sz="3200" b="1" dirty="0">
                <a:solidFill>
                  <a:schemeClr val="accent1"/>
                </a:solidFill>
              </a:rPr>
              <a:t>The checkpoints, one trip around the loop each</a:t>
            </a:r>
            <a:endParaRPr lang="en-US" sz="3200" dirty="0"/>
          </a:p>
        </p:txBody>
      </p:sp>
      <p:sp>
        <p:nvSpPr>
          <p:cNvPr id="4" name="hex 0"/>
          <p:cNvSpPr/>
          <p:nvPr/>
        </p:nvSpPr>
        <p:spPr>
          <a:xfrm>
            <a:off x="457200" y="1417320"/>
            <a:ext cx="640080" cy="640080"/>
          </a:xfrm>
          <a:prstGeom prst="hexagon">
            <a:avLst/>
          </a:prstGeom>
          <a:solidFill>
            <a:schemeClr val="bg1"/>
          </a:solidFill>
          <a:ln w="25400">
            <a:solidFill>
              <a:schemeClr val="accent1"/>
            </a:solidFill>
            <a:prstDash val="solid"/>
          </a:ln>
        </p:spPr>
      </p:sp>
      <p:sp>
        <p:nvSpPr>
          <p:cNvPr id="5" name="hex label 0"/>
          <p:cNvSpPr txBox="1"/>
          <p:nvPr/>
        </p:nvSpPr>
        <p:spPr>
          <a:xfrm>
            <a:off x="457200" y="1417320"/>
            <a:ext cx="640080" cy="640080"/>
          </a:xfrm>
          <a:prstGeom prst="rect">
            <a:avLst/>
          </a:prstGeom>
          <a:noFill/>
          <a:ln/>
        </p:spPr>
        <p:txBody>
          <a:bodyPr wrap="square" lIns="0" tIns="0" rIns="0" bIns="0" rtlCol="0" anchor="ctr"/>
          <a:lstStyle/>
          <a:p>
            <a:pPr algn="ctr" indent="0" marL="0">
              <a:buNone/>
            </a:pPr>
            <a:r>
              <a:rPr lang="en-US" sz="1800" b="1" dirty="0">
                <a:solidFill>
                  <a:schemeClr val="accent1"/>
                </a:solidFill>
              </a:rPr>
              <a:t>0</a:t>
            </a:r>
            <a:endParaRPr lang="en-US" sz="1800" dirty="0"/>
          </a:p>
        </p:txBody>
      </p:sp>
      <p:sp>
        <p:nvSpPr>
          <p:cNvPr id="6" name="cp 0"/>
          <p:cNvSpPr txBox="1"/>
          <p:nvPr/>
        </p:nvSpPr>
        <p:spPr>
          <a:xfrm>
            <a:off x="1280160" y="1417320"/>
            <a:ext cx="4663440" cy="640080"/>
          </a:xfrm>
          <a:prstGeom prst="rect">
            <a:avLst/>
          </a:prstGeom>
          <a:noFill/>
          <a:ln/>
        </p:spPr>
        <p:txBody>
          <a:bodyPr wrap="square" lIns="0" tIns="0" rIns="0" bIns="0" rtlCol="0" anchor="ctr"/>
          <a:lstStyle/>
          <a:p>
            <a:pPr indent="0" marL="0">
              <a:buNone/>
            </a:pPr>
            <a:r>
              <a:rPr lang="en-US" sz="1400" dirty="0">
                <a:solidFill>
                  <a:schemeClr val="tx1"/>
                </a:solidFill>
              </a:rPr>
              <a:t>Install Android Studio + FtcRobotController, sign in to Gemini</a:t>
            </a:r>
            <a:endParaRPr lang="en-US" sz="1400" dirty="0"/>
          </a:p>
        </p:txBody>
      </p:sp>
      <p:sp>
        <p:nvSpPr>
          <p:cNvPr id="7" name="hex 1"/>
          <p:cNvSpPr/>
          <p:nvPr/>
        </p:nvSpPr>
        <p:spPr>
          <a:xfrm>
            <a:off x="457200" y="2313432"/>
            <a:ext cx="640080" cy="640080"/>
          </a:xfrm>
          <a:prstGeom prst="hexagon">
            <a:avLst/>
          </a:prstGeom>
          <a:solidFill>
            <a:schemeClr val="bg1"/>
          </a:solidFill>
          <a:ln w="25400">
            <a:solidFill>
              <a:schemeClr val="accent1"/>
            </a:solidFill>
            <a:prstDash val="solid"/>
          </a:ln>
        </p:spPr>
      </p:sp>
      <p:sp>
        <p:nvSpPr>
          <p:cNvPr id="8" name="hex label 1"/>
          <p:cNvSpPr txBox="1"/>
          <p:nvPr/>
        </p:nvSpPr>
        <p:spPr>
          <a:xfrm>
            <a:off x="457200" y="2313432"/>
            <a:ext cx="640080" cy="640080"/>
          </a:xfrm>
          <a:prstGeom prst="rect">
            <a:avLst/>
          </a:prstGeom>
          <a:noFill/>
          <a:ln/>
        </p:spPr>
        <p:txBody>
          <a:bodyPr wrap="square" lIns="0" tIns="0" rIns="0" bIns="0" rtlCol="0" anchor="ctr"/>
          <a:lstStyle/>
          <a:p>
            <a:pPr algn="ctr" indent="0" marL="0">
              <a:buNone/>
            </a:pPr>
            <a:r>
              <a:rPr lang="en-US" sz="1800" b="1" dirty="0">
                <a:solidFill>
                  <a:schemeClr val="accent1"/>
                </a:solidFill>
              </a:rPr>
              <a:t>1</a:t>
            </a:r>
            <a:endParaRPr lang="en-US" sz="1800" dirty="0"/>
          </a:p>
        </p:txBody>
      </p:sp>
      <p:sp>
        <p:nvSpPr>
          <p:cNvPr id="9" name="cp 1"/>
          <p:cNvSpPr txBox="1"/>
          <p:nvPr/>
        </p:nvSpPr>
        <p:spPr>
          <a:xfrm>
            <a:off x="1280160" y="2313432"/>
            <a:ext cx="4663440" cy="640080"/>
          </a:xfrm>
          <a:prstGeom prst="rect">
            <a:avLst/>
          </a:prstGeom>
          <a:noFill/>
          <a:ln/>
        </p:spPr>
        <p:txBody>
          <a:bodyPr wrap="square" lIns="0" tIns="0" rIns="0" bIns="0" rtlCol="0" anchor="ctr"/>
          <a:lstStyle/>
          <a:p>
            <a:pPr indent="0" marL="0">
              <a:buNone/>
            </a:pPr>
            <a:r>
              <a:rPr lang="en-US" sz="1400" dirty="0">
                <a:solidFill>
                  <a:schemeClr val="tx1"/>
                </a:solidFill>
              </a:rPr>
              <a:t>Describe the robot: names, ports, purposes, directions</a:t>
            </a:r>
            <a:endParaRPr lang="en-US" sz="1400" dirty="0"/>
          </a:p>
        </p:txBody>
      </p:sp>
      <p:sp>
        <p:nvSpPr>
          <p:cNvPr id="10" name="hex 2"/>
          <p:cNvSpPr/>
          <p:nvPr/>
        </p:nvSpPr>
        <p:spPr>
          <a:xfrm>
            <a:off x="457200" y="3209544"/>
            <a:ext cx="640080" cy="640080"/>
          </a:xfrm>
          <a:prstGeom prst="hexagon">
            <a:avLst/>
          </a:prstGeom>
          <a:solidFill>
            <a:schemeClr val="bg1"/>
          </a:solidFill>
          <a:ln w="25400">
            <a:solidFill>
              <a:schemeClr val="accent1"/>
            </a:solidFill>
            <a:prstDash val="solid"/>
          </a:ln>
        </p:spPr>
      </p:sp>
      <p:sp>
        <p:nvSpPr>
          <p:cNvPr id="11" name="hex label 2"/>
          <p:cNvSpPr txBox="1"/>
          <p:nvPr/>
        </p:nvSpPr>
        <p:spPr>
          <a:xfrm>
            <a:off x="457200" y="3209544"/>
            <a:ext cx="640080" cy="640080"/>
          </a:xfrm>
          <a:prstGeom prst="rect">
            <a:avLst/>
          </a:prstGeom>
          <a:noFill/>
          <a:ln/>
        </p:spPr>
        <p:txBody>
          <a:bodyPr wrap="square" lIns="0" tIns="0" rIns="0" bIns="0" rtlCol="0" anchor="ctr"/>
          <a:lstStyle/>
          <a:p>
            <a:pPr algn="ctr" indent="0" marL="0">
              <a:buNone/>
            </a:pPr>
            <a:r>
              <a:rPr lang="en-US" sz="1800" b="1" dirty="0">
                <a:solidFill>
                  <a:schemeClr val="accent1"/>
                </a:solidFill>
              </a:rPr>
              <a:t>2</a:t>
            </a:r>
            <a:endParaRPr lang="en-US" sz="1800" dirty="0"/>
          </a:p>
        </p:txBody>
      </p:sp>
      <p:sp>
        <p:nvSpPr>
          <p:cNvPr id="12" name="cp 2"/>
          <p:cNvSpPr txBox="1"/>
          <p:nvPr/>
        </p:nvSpPr>
        <p:spPr>
          <a:xfrm>
            <a:off x="1280160" y="3209544"/>
            <a:ext cx="4663440" cy="640080"/>
          </a:xfrm>
          <a:prstGeom prst="rect">
            <a:avLst/>
          </a:prstGeom>
          <a:noFill/>
          <a:ln/>
        </p:spPr>
        <p:txBody>
          <a:bodyPr wrap="square" lIns="0" tIns="0" rIns="0" bIns="0" rtlCol="0" anchor="ctr"/>
          <a:lstStyle/>
          <a:p>
            <a:pPr indent="0" marL="0">
              <a:buNone/>
            </a:pPr>
            <a:r>
              <a:rPr lang="en-US" sz="1400" dirty="0">
                <a:solidFill>
                  <a:schemeClr val="tx1"/>
                </a:solidFill>
              </a:rPr>
              <a:t>Mecanum drive</a:t>
            </a:r>
            <a:pPr indent="0" marL="0">
              <a:buNone/>
            </a:pPr>
            <a:r>
              <a:rPr lang="en-US" sz="1400" b="1" dirty="0">
                <a:solidFill>
                  <a:schemeClr val="accent3"/>
                </a:solidFill>
              </a:rPr>
              <a:t>  → test</a:t>
            </a:r>
            <a:endParaRPr lang="en-US" sz="1400" dirty="0"/>
          </a:p>
        </p:txBody>
      </p:sp>
      <p:sp>
        <p:nvSpPr>
          <p:cNvPr id="13" name="hex 3"/>
          <p:cNvSpPr/>
          <p:nvPr/>
        </p:nvSpPr>
        <p:spPr>
          <a:xfrm>
            <a:off x="457200" y="4105656"/>
            <a:ext cx="640080" cy="640080"/>
          </a:xfrm>
          <a:prstGeom prst="hexagon">
            <a:avLst/>
          </a:prstGeom>
          <a:solidFill>
            <a:schemeClr val="bg1"/>
          </a:solidFill>
          <a:ln w="25400">
            <a:solidFill>
              <a:schemeClr val="accent1"/>
            </a:solidFill>
            <a:prstDash val="solid"/>
          </a:ln>
        </p:spPr>
      </p:sp>
      <p:sp>
        <p:nvSpPr>
          <p:cNvPr id="14" name="hex label 3"/>
          <p:cNvSpPr txBox="1"/>
          <p:nvPr/>
        </p:nvSpPr>
        <p:spPr>
          <a:xfrm>
            <a:off x="457200" y="4105656"/>
            <a:ext cx="640080" cy="640080"/>
          </a:xfrm>
          <a:prstGeom prst="rect">
            <a:avLst/>
          </a:prstGeom>
          <a:noFill/>
          <a:ln/>
        </p:spPr>
        <p:txBody>
          <a:bodyPr wrap="square" lIns="0" tIns="0" rIns="0" bIns="0" rtlCol="0" anchor="ctr"/>
          <a:lstStyle/>
          <a:p>
            <a:pPr algn="ctr" indent="0" marL="0">
              <a:buNone/>
            </a:pPr>
            <a:r>
              <a:rPr lang="en-US" sz="1800" b="1" dirty="0">
                <a:solidFill>
                  <a:schemeClr val="accent1"/>
                </a:solidFill>
              </a:rPr>
              <a:t>3</a:t>
            </a:r>
            <a:endParaRPr lang="en-US" sz="1800" dirty="0"/>
          </a:p>
        </p:txBody>
      </p:sp>
      <p:sp>
        <p:nvSpPr>
          <p:cNvPr id="15" name="cp 3"/>
          <p:cNvSpPr txBox="1"/>
          <p:nvPr/>
        </p:nvSpPr>
        <p:spPr>
          <a:xfrm>
            <a:off x="1280160" y="4105656"/>
            <a:ext cx="4663440" cy="640080"/>
          </a:xfrm>
          <a:prstGeom prst="rect">
            <a:avLst/>
          </a:prstGeom>
          <a:noFill/>
          <a:ln/>
        </p:spPr>
        <p:txBody>
          <a:bodyPr wrap="square" lIns="0" tIns="0" rIns="0" bIns="0" rtlCol="0" anchor="ctr"/>
          <a:lstStyle/>
          <a:p>
            <a:pPr indent="0" marL="0">
              <a:buNone/>
            </a:pPr>
            <a:r>
              <a:rPr lang="en-US" sz="1400" dirty="0">
                <a:solidFill>
                  <a:schemeClr val="tx1"/>
                </a:solidFill>
              </a:rPr>
              <a:t>Intake</a:t>
            </a:r>
            <a:pPr indent="0" marL="0">
              <a:buNone/>
            </a:pPr>
            <a:r>
              <a:rPr lang="en-US" sz="1400" b="1" dirty="0">
                <a:solidFill>
                  <a:schemeClr val="accent3"/>
                </a:solidFill>
              </a:rPr>
              <a:t>  → test</a:t>
            </a:r>
            <a:endParaRPr lang="en-US" sz="1400" dirty="0"/>
          </a:p>
        </p:txBody>
      </p:sp>
      <p:sp>
        <p:nvSpPr>
          <p:cNvPr id="16" name="hex 4"/>
          <p:cNvSpPr/>
          <p:nvPr/>
        </p:nvSpPr>
        <p:spPr>
          <a:xfrm>
            <a:off x="457200" y="5001768"/>
            <a:ext cx="640080" cy="640080"/>
          </a:xfrm>
          <a:prstGeom prst="hexagon">
            <a:avLst/>
          </a:prstGeom>
          <a:solidFill>
            <a:schemeClr val="bg1"/>
          </a:solidFill>
          <a:ln w="25400">
            <a:solidFill>
              <a:schemeClr val="accent1"/>
            </a:solidFill>
            <a:prstDash val="solid"/>
          </a:ln>
        </p:spPr>
      </p:sp>
      <p:sp>
        <p:nvSpPr>
          <p:cNvPr id="17" name="hex label 4"/>
          <p:cNvSpPr txBox="1"/>
          <p:nvPr/>
        </p:nvSpPr>
        <p:spPr>
          <a:xfrm>
            <a:off x="457200" y="5001768"/>
            <a:ext cx="640080" cy="640080"/>
          </a:xfrm>
          <a:prstGeom prst="rect">
            <a:avLst/>
          </a:prstGeom>
          <a:noFill/>
          <a:ln/>
        </p:spPr>
        <p:txBody>
          <a:bodyPr wrap="square" lIns="0" tIns="0" rIns="0" bIns="0" rtlCol="0" anchor="ctr"/>
          <a:lstStyle/>
          <a:p>
            <a:pPr algn="ctr" indent="0" marL="0">
              <a:buNone/>
            </a:pPr>
            <a:r>
              <a:rPr lang="en-US" sz="1800" b="1" dirty="0">
                <a:solidFill>
                  <a:schemeClr val="accent1"/>
                </a:solidFill>
              </a:rPr>
              <a:t>4</a:t>
            </a:r>
            <a:endParaRPr lang="en-US" sz="1800" dirty="0"/>
          </a:p>
        </p:txBody>
      </p:sp>
      <p:sp>
        <p:nvSpPr>
          <p:cNvPr id="18" name="cp 4"/>
          <p:cNvSpPr txBox="1"/>
          <p:nvPr/>
        </p:nvSpPr>
        <p:spPr>
          <a:xfrm>
            <a:off x="1280160" y="5001768"/>
            <a:ext cx="4663440" cy="640080"/>
          </a:xfrm>
          <a:prstGeom prst="rect">
            <a:avLst/>
          </a:prstGeom>
          <a:noFill/>
          <a:ln/>
        </p:spPr>
        <p:txBody>
          <a:bodyPr wrap="square" lIns="0" tIns="0" rIns="0" bIns="0" rtlCol="0" anchor="ctr"/>
          <a:lstStyle/>
          <a:p>
            <a:pPr indent="0" marL="0">
              <a:buNone/>
            </a:pPr>
            <a:r>
              <a:rPr lang="en-US" sz="1400" dirty="0">
                <a:solidFill>
                  <a:schemeClr val="tx1"/>
                </a:solidFill>
              </a:rPr>
              <a:t>Shooter: flywheel startup sequence + pulsed feed</a:t>
            </a:r>
            <a:pPr indent="0" marL="0">
              <a:buNone/>
            </a:pPr>
            <a:r>
              <a:rPr lang="en-US" sz="1400" b="1" dirty="0">
                <a:solidFill>
                  <a:schemeClr val="accent3"/>
                </a:solidFill>
              </a:rPr>
              <a:t>  → test</a:t>
            </a:r>
            <a:endParaRPr lang="en-US" sz="1400" dirty="0"/>
          </a:p>
        </p:txBody>
      </p:sp>
      <p:sp>
        <p:nvSpPr>
          <p:cNvPr id="19" name="hex 5"/>
          <p:cNvSpPr/>
          <p:nvPr/>
        </p:nvSpPr>
        <p:spPr>
          <a:xfrm>
            <a:off x="6217920" y="1417320"/>
            <a:ext cx="640080" cy="640080"/>
          </a:xfrm>
          <a:prstGeom prst="hexagon">
            <a:avLst/>
          </a:prstGeom>
          <a:solidFill>
            <a:schemeClr val="bg1"/>
          </a:solidFill>
          <a:ln w="25400">
            <a:solidFill>
              <a:schemeClr val="accent1"/>
            </a:solidFill>
            <a:prstDash val="solid"/>
          </a:ln>
        </p:spPr>
      </p:sp>
      <p:sp>
        <p:nvSpPr>
          <p:cNvPr id="20" name="hex label 5"/>
          <p:cNvSpPr txBox="1"/>
          <p:nvPr/>
        </p:nvSpPr>
        <p:spPr>
          <a:xfrm>
            <a:off x="6217920" y="1417320"/>
            <a:ext cx="640080" cy="640080"/>
          </a:xfrm>
          <a:prstGeom prst="rect">
            <a:avLst/>
          </a:prstGeom>
          <a:noFill/>
          <a:ln/>
        </p:spPr>
        <p:txBody>
          <a:bodyPr wrap="square" lIns="0" tIns="0" rIns="0" bIns="0" rtlCol="0" anchor="ctr"/>
          <a:lstStyle/>
          <a:p>
            <a:pPr algn="ctr" indent="0" marL="0">
              <a:buNone/>
            </a:pPr>
            <a:r>
              <a:rPr lang="en-US" sz="1800" b="1" dirty="0">
                <a:solidFill>
                  <a:schemeClr val="accent1"/>
                </a:solidFill>
              </a:rPr>
              <a:t>5</a:t>
            </a:r>
            <a:endParaRPr lang="en-US" sz="1800" dirty="0"/>
          </a:p>
        </p:txBody>
      </p:sp>
      <p:sp>
        <p:nvSpPr>
          <p:cNvPr id="21" name="cp 5"/>
          <p:cNvSpPr txBox="1"/>
          <p:nvPr/>
        </p:nvSpPr>
        <p:spPr>
          <a:xfrm>
            <a:off x="7040880" y="1417320"/>
            <a:ext cx="4663440" cy="640080"/>
          </a:xfrm>
          <a:prstGeom prst="rect">
            <a:avLst/>
          </a:prstGeom>
          <a:noFill/>
          <a:ln/>
        </p:spPr>
        <p:txBody>
          <a:bodyPr wrap="square" lIns="0" tIns="0" rIns="0" bIns="0" rtlCol="0" anchor="ctr"/>
          <a:lstStyle/>
          <a:p>
            <a:pPr indent="0" marL="0">
              <a:buNone/>
            </a:pPr>
            <a:r>
              <a:rPr lang="en-US" sz="1400" dirty="0">
                <a:solidFill>
                  <a:schemeClr val="tx1"/>
                </a:solidFill>
              </a:rPr>
              <a:t>Refine: the mechanical mentor's four real prompts</a:t>
            </a:r>
            <a:endParaRPr lang="en-US" sz="1400" dirty="0"/>
          </a:p>
        </p:txBody>
      </p:sp>
      <p:sp>
        <p:nvSpPr>
          <p:cNvPr id="22" name="hex 6"/>
          <p:cNvSpPr/>
          <p:nvPr/>
        </p:nvSpPr>
        <p:spPr>
          <a:xfrm>
            <a:off x="6217920" y="2313432"/>
            <a:ext cx="640080" cy="640080"/>
          </a:xfrm>
          <a:prstGeom prst="hexagon">
            <a:avLst/>
          </a:prstGeom>
          <a:solidFill>
            <a:schemeClr val="bg1"/>
          </a:solidFill>
          <a:ln w="25400">
            <a:solidFill>
              <a:schemeClr val="accent1"/>
            </a:solidFill>
            <a:prstDash val="solid"/>
          </a:ln>
        </p:spPr>
      </p:sp>
      <p:sp>
        <p:nvSpPr>
          <p:cNvPr id="23" name="hex label 6"/>
          <p:cNvSpPr txBox="1"/>
          <p:nvPr/>
        </p:nvSpPr>
        <p:spPr>
          <a:xfrm>
            <a:off x="6217920" y="2313432"/>
            <a:ext cx="640080" cy="640080"/>
          </a:xfrm>
          <a:prstGeom prst="rect">
            <a:avLst/>
          </a:prstGeom>
          <a:noFill/>
          <a:ln/>
        </p:spPr>
        <p:txBody>
          <a:bodyPr wrap="square" lIns="0" tIns="0" rIns="0" bIns="0" rtlCol="0" anchor="ctr"/>
          <a:lstStyle/>
          <a:p>
            <a:pPr algn="ctr" indent="0" marL="0">
              <a:buNone/>
            </a:pPr>
            <a:r>
              <a:rPr lang="en-US" sz="1800" b="1" dirty="0">
                <a:solidFill>
                  <a:schemeClr val="accent1"/>
                </a:solidFill>
              </a:rPr>
              <a:t>6</a:t>
            </a:r>
            <a:endParaRPr lang="en-US" sz="1800" dirty="0"/>
          </a:p>
        </p:txBody>
      </p:sp>
      <p:sp>
        <p:nvSpPr>
          <p:cNvPr id="24" name="cp 6"/>
          <p:cNvSpPr txBox="1"/>
          <p:nvPr/>
        </p:nvSpPr>
        <p:spPr>
          <a:xfrm>
            <a:off x="7040880" y="2313432"/>
            <a:ext cx="4663440" cy="640080"/>
          </a:xfrm>
          <a:prstGeom prst="rect">
            <a:avLst/>
          </a:prstGeom>
          <a:noFill/>
          <a:ln/>
        </p:spPr>
        <p:txBody>
          <a:bodyPr wrap="square" lIns="0" tIns="0" rIns="0" bIns="0" rtlCol="0" anchor="ctr"/>
          <a:lstStyle/>
          <a:p>
            <a:pPr indent="0" marL="0">
              <a:buNone/>
            </a:pPr>
            <a:r>
              <a:rPr lang="en-US" sz="1400" dirty="0">
                <a:solidFill>
                  <a:schemeClr val="tx1"/>
                </a:solidFill>
              </a:rPr>
              <a:t>Auto v1: back off the wall and shoot</a:t>
            </a:r>
            <a:pPr indent="0" marL="0">
              <a:buNone/>
            </a:pPr>
            <a:r>
              <a:rPr lang="en-US" sz="1400" b="1" dirty="0">
                <a:solidFill>
                  <a:schemeClr val="accent3"/>
                </a:solidFill>
              </a:rPr>
              <a:t>  → test</a:t>
            </a:r>
            <a:endParaRPr lang="en-US" sz="1400" dirty="0"/>
          </a:p>
        </p:txBody>
      </p:sp>
      <p:sp>
        <p:nvSpPr>
          <p:cNvPr id="25" name="hex 7"/>
          <p:cNvSpPr/>
          <p:nvPr/>
        </p:nvSpPr>
        <p:spPr>
          <a:xfrm>
            <a:off x="6217920" y="3209544"/>
            <a:ext cx="640080" cy="640080"/>
          </a:xfrm>
          <a:prstGeom prst="hexagon">
            <a:avLst/>
          </a:prstGeom>
          <a:solidFill>
            <a:schemeClr val="bg1"/>
          </a:solidFill>
          <a:ln w="25400">
            <a:solidFill>
              <a:schemeClr val="accent1"/>
            </a:solidFill>
            <a:prstDash val="solid"/>
          </a:ln>
        </p:spPr>
      </p:sp>
      <p:sp>
        <p:nvSpPr>
          <p:cNvPr id="26" name="hex label 7"/>
          <p:cNvSpPr txBox="1"/>
          <p:nvPr/>
        </p:nvSpPr>
        <p:spPr>
          <a:xfrm>
            <a:off x="6217920" y="3209544"/>
            <a:ext cx="640080" cy="640080"/>
          </a:xfrm>
          <a:prstGeom prst="rect">
            <a:avLst/>
          </a:prstGeom>
          <a:noFill/>
          <a:ln/>
        </p:spPr>
        <p:txBody>
          <a:bodyPr wrap="square" lIns="0" tIns="0" rIns="0" bIns="0" rtlCol="0" anchor="ctr"/>
          <a:lstStyle/>
          <a:p>
            <a:pPr algn="ctr" indent="0" marL="0">
              <a:buNone/>
            </a:pPr>
            <a:r>
              <a:rPr lang="en-US" sz="1800" b="1" dirty="0">
                <a:solidFill>
                  <a:schemeClr val="accent1"/>
                </a:solidFill>
              </a:rPr>
              <a:t>7</a:t>
            </a:r>
            <a:endParaRPr lang="en-US" sz="1800" dirty="0"/>
          </a:p>
        </p:txBody>
      </p:sp>
      <p:sp>
        <p:nvSpPr>
          <p:cNvPr id="27" name="cp 7"/>
          <p:cNvSpPr txBox="1"/>
          <p:nvPr/>
        </p:nvSpPr>
        <p:spPr>
          <a:xfrm>
            <a:off x="7040880" y="3209544"/>
            <a:ext cx="4663440" cy="640080"/>
          </a:xfrm>
          <a:prstGeom prst="rect">
            <a:avLst/>
          </a:prstGeom>
          <a:noFill/>
          <a:ln/>
        </p:spPr>
        <p:txBody>
          <a:bodyPr wrap="square" lIns="0" tIns="0" rIns="0" bIns="0" rtlCol="0" anchor="ctr"/>
          <a:lstStyle/>
          <a:p>
            <a:pPr indent="0" marL="0">
              <a:buNone/>
            </a:pPr>
            <a:r>
              <a:rPr lang="en-US" sz="1400" dirty="0">
                <a:solidFill>
                  <a:schemeClr val="tx1"/>
                </a:solidFill>
              </a:rPr>
              <a:t>Auto v2: Shoot First / Shoot Delayed, which parks</a:t>
            </a:r>
            <a:pPr indent="0" marL="0">
              <a:buNone/>
            </a:pPr>
            <a:r>
              <a:rPr lang="en-US" sz="1400" b="1" dirty="0">
                <a:solidFill>
                  <a:schemeClr val="accent3"/>
                </a:solidFill>
              </a:rPr>
              <a:t>  → test</a:t>
            </a:r>
            <a:endParaRPr lang="en-US" sz="1400" dirty="0"/>
          </a:p>
        </p:txBody>
      </p:sp>
      <p:sp>
        <p:nvSpPr>
          <p:cNvPr id="28" name="hex 8"/>
          <p:cNvSpPr/>
          <p:nvPr/>
        </p:nvSpPr>
        <p:spPr>
          <a:xfrm>
            <a:off x="6217920" y="4105656"/>
            <a:ext cx="640080" cy="640080"/>
          </a:xfrm>
          <a:prstGeom prst="hexagon">
            <a:avLst/>
          </a:prstGeom>
          <a:solidFill>
            <a:schemeClr val="bg1"/>
          </a:solidFill>
          <a:ln w="25400">
            <a:solidFill>
              <a:schemeClr val="accent1"/>
            </a:solidFill>
            <a:prstDash val="solid"/>
          </a:ln>
        </p:spPr>
      </p:sp>
      <p:sp>
        <p:nvSpPr>
          <p:cNvPr id="29" name="hex label 8"/>
          <p:cNvSpPr txBox="1"/>
          <p:nvPr/>
        </p:nvSpPr>
        <p:spPr>
          <a:xfrm>
            <a:off x="6217920" y="4105656"/>
            <a:ext cx="640080" cy="640080"/>
          </a:xfrm>
          <a:prstGeom prst="rect">
            <a:avLst/>
          </a:prstGeom>
          <a:noFill/>
          <a:ln/>
        </p:spPr>
        <p:txBody>
          <a:bodyPr wrap="square" lIns="0" tIns="0" rIns="0" bIns="0" rtlCol="0" anchor="ctr"/>
          <a:lstStyle/>
          <a:p>
            <a:pPr algn="ctr" indent="0" marL="0">
              <a:buNone/>
            </a:pPr>
            <a:r>
              <a:rPr lang="en-US" sz="1800" b="1" dirty="0">
                <a:solidFill>
                  <a:schemeClr val="accent1"/>
                </a:solidFill>
              </a:rPr>
              <a:t>8</a:t>
            </a:r>
            <a:endParaRPr lang="en-US" sz="1800" dirty="0"/>
          </a:p>
        </p:txBody>
      </p:sp>
      <p:sp>
        <p:nvSpPr>
          <p:cNvPr id="30" name="cp 8"/>
          <p:cNvSpPr txBox="1"/>
          <p:nvPr/>
        </p:nvSpPr>
        <p:spPr>
          <a:xfrm>
            <a:off x="7040880" y="4105656"/>
            <a:ext cx="4663440" cy="640080"/>
          </a:xfrm>
          <a:prstGeom prst="rect">
            <a:avLst/>
          </a:prstGeom>
          <a:noFill/>
          <a:ln/>
        </p:spPr>
        <p:txBody>
          <a:bodyPr wrap="square" lIns="0" tIns="0" rIns="0" bIns="0" rtlCol="0" anchor="ctr"/>
          <a:lstStyle/>
          <a:p>
            <a:pPr indent="0" marL="0">
              <a:buNone/>
            </a:pPr>
            <a:r>
              <a:rPr lang="en-US" sz="1400" dirty="0">
                <a:solidFill>
                  <a:schemeClr val="tx1"/>
                </a:solidFill>
              </a:rPr>
              <a:t>Auto v3: under 30 seconds, keep the LEAVE points</a:t>
            </a:r>
            <a:pPr indent="0" marL="0">
              <a:buNone/>
            </a:pPr>
            <a:r>
              <a:rPr lang="en-US" sz="1400" b="1" dirty="0">
                <a:solidFill>
                  <a:schemeClr val="accent3"/>
                </a:solidFill>
              </a:rPr>
              <a:t>  → test</a:t>
            </a:r>
            <a:endParaRPr lang="en-US" sz="1400" dirty="0"/>
          </a:p>
        </p:txBody>
      </p:sp>
      <p:sp>
        <p:nvSpPr>
          <p:cNvPr id="31" name="hex 9"/>
          <p:cNvSpPr/>
          <p:nvPr/>
        </p:nvSpPr>
        <p:spPr>
          <a:xfrm>
            <a:off x="6217920" y="5001768"/>
            <a:ext cx="640080" cy="640080"/>
          </a:xfrm>
          <a:prstGeom prst="hexagon">
            <a:avLst/>
          </a:prstGeom>
          <a:solidFill>
            <a:schemeClr val="bg1"/>
          </a:solidFill>
          <a:ln w="25400">
            <a:solidFill>
              <a:schemeClr val="accent1"/>
            </a:solidFill>
            <a:prstDash val="solid"/>
          </a:ln>
        </p:spPr>
      </p:sp>
      <p:sp>
        <p:nvSpPr>
          <p:cNvPr id="32" name="hex label 9"/>
          <p:cNvSpPr txBox="1"/>
          <p:nvPr/>
        </p:nvSpPr>
        <p:spPr>
          <a:xfrm>
            <a:off x="6217920" y="5001768"/>
            <a:ext cx="640080" cy="640080"/>
          </a:xfrm>
          <a:prstGeom prst="rect">
            <a:avLst/>
          </a:prstGeom>
          <a:noFill/>
          <a:ln/>
        </p:spPr>
        <p:txBody>
          <a:bodyPr wrap="square" lIns="0" tIns="0" rIns="0" bIns="0" rtlCol="0" anchor="ctr"/>
          <a:lstStyle/>
          <a:p>
            <a:pPr algn="ctr" indent="0" marL="0">
              <a:buNone/>
            </a:pPr>
            <a:r>
              <a:rPr lang="en-US" sz="1800" b="1" dirty="0">
                <a:solidFill>
                  <a:schemeClr val="accent1"/>
                </a:solidFill>
              </a:rPr>
              <a:t>9</a:t>
            </a:r>
            <a:endParaRPr lang="en-US" sz="1800" dirty="0"/>
          </a:p>
        </p:txBody>
      </p:sp>
      <p:sp>
        <p:nvSpPr>
          <p:cNvPr id="33" name="cp 9"/>
          <p:cNvSpPr txBox="1"/>
          <p:nvPr/>
        </p:nvSpPr>
        <p:spPr>
          <a:xfrm>
            <a:off x="7040880" y="5001768"/>
            <a:ext cx="4663440" cy="640080"/>
          </a:xfrm>
          <a:prstGeom prst="rect">
            <a:avLst/>
          </a:prstGeom>
          <a:noFill/>
          <a:ln/>
        </p:spPr>
        <p:txBody>
          <a:bodyPr wrap="square" lIns="0" tIns="0" rIns="0" bIns="0" rtlCol="0" anchor="ctr"/>
          <a:lstStyle/>
          <a:p>
            <a:pPr indent="0" marL="0">
              <a:buNone/>
            </a:pPr>
            <a:r>
              <a:rPr lang="en-US" sz="1400" dirty="0">
                <a:solidFill>
                  <a:schemeClr val="tx1"/>
                </a:solidFill>
              </a:rPr>
              <a:t>Extras: LEDs, endgame rumble, the 4-ball experiment</a:t>
            </a:r>
            <a:endParaRPr lang="en-US" sz="1400" dirty="0"/>
          </a:p>
        </p:txBody>
      </p:sp>
      <p:sp>
        <p:nvSpPr>
          <p:cNvPr id="34" name="repo"/>
          <p:cNvSpPr txBox="1"/>
          <p:nvPr/>
        </p:nvSpPr>
        <p:spPr>
          <a:xfrm>
            <a:off x="457200" y="5806440"/>
            <a:ext cx="11247120" cy="365760"/>
          </a:xfrm>
          <a:prstGeom prst="rect">
            <a:avLst/>
          </a:prstGeom>
          <a:noFill/>
          <a:ln/>
        </p:spPr>
        <p:txBody>
          <a:bodyPr wrap="square" lIns="0" tIns="0" rIns="0" bIns="0" rtlCol="0" anchor="t"/>
          <a:lstStyle/>
          <a:p>
            <a:pPr indent="0" marL="0">
              <a:buNone/>
            </a:pPr>
            <a:r>
              <a:rPr lang="en-US" sz="1300" dirty="0">
                <a:solidFill>
                  <a:schemeClr val="accent1"/>
                </a:solidFill>
              </a:rPr>
              <a:t>github.com/The-Hive-3747/Teaching-AI-Coding: a guide page and a video per checkpoint</a:t>
            </a:r>
            <a:endParaRPr lang="en-US" sz="1300" dirty="0"/>
          </a:p>
        </p:txBody>
      </p:sp>
      <p:sp>
        <p:nvSpPr>
          <p:cNvPr id="25" name="Slide Number Placeholder 0"/>
          <p:cNvSpPr>
            <a:spLocks noGrp="1"/>
          </p:cNvSpPr>
          <p:nvPr>
            <p:ph type="sldNum" sz="quarter" idx="4294967295"/>
          </p:nvPr>
        </p:nvSpPr>
        <p:spPr>
          <a:xfrm>
            <a:off x="11247120" y="6263640"/>
            <a:ext cx="548640" cy="39319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2" type="title" hasCustomPrompt="1"/>
          </p:nvPr>
        </p:nvSpPr>
        <p:spPr>
          <a:xfrm>
            <a:off x="457200" y="365760"/>
            <a:ext cx="11274552" cy="822960"/>
          </a:xfrm>
          <a:prstGeom prst="rect">
            <a:avLst/>
          </a:prstGeom>
          <a:noFill/>
          <a:ln/>
        </p:spPr>
        <p:txBody>
          <a:bodyPr wrap="square" lIns="0" tIns="0" rIns="0" bIns="0" rtlCol="0" anchor="ctr"/>
          <a:lstStyle/>
          <a:p>
            <a:pPr algn="l" indent="0" marL="0">
              <a:buNone/>
            </a:pPr>
            <a:r>
              <a:rPr lang="en-US" sz="3200" b="1" dirty="0">
                <a:solidFill>
                  <a:schemeClr val="accent1"/>
                </a:solidFill>
              </a:rPr>
              <a:t>What a good description has</a:t>
            </a:r>
            <a:endParaRPr lang="en-US" sz="3200" dirty="0"/>
          </a:p>
        </p:txBody>
      </p:sp>
      <p:sp>
        <p:nvSpPr>
          <p:cNvPr id="4" name="hex 1"/>
          <p:cNvSpPr/>
          <p:nvPr/>
        </p:nvSpPr>
        <p:spPr>
          <a:xfrm>
            <a:off x="457200" y="1371600"/>
            <a:ext cx="685800" cy="685800"/>
          </a:xfrm>
          <a:prstGeom prst="hexagon">
            <a:avLst/>
          </a:prstGeom>
          <a:solidFill>
            <a:schemeClr val="bg1"/>
          </a:solidFill>
          <a:ln w="25400">
            <a:solidFill>
              <a:schemeClr val="accent1"/>
            </a:solidFill>
            <a:prstDash val="solid"/>
          </a:ln>
        </p:spPr>
      </p:sp>
      <p:sp>
        <p:nvSpPr>
          <p:cNvPr id="5" name="hex label 1"/>
          <p:cNvSpPr txBox="1"/>
          <p:nvPr/>
        </p:nvSpPr>
        <p:spPr>
          <a:xfrm>
            <a:off x="457200" y="1371600"/>
            <a:ext cx="685800" cy="685800"/>
          </a:xfrm>
          <a:prstGeom prst="rect">
            <a:avLst/>
          </a:prstGeom>
          <a:noFill/>
          <a:ln/>
        </p:spPr>
        <p:txBody>
          <a:bodyPr wrap="square" lIns="0" tIns="0" rIns="0" bIns="0" rtlCol="0" anchor="ctr"/>
          <a:lstStyle/>
          <a:p>
            <a:pPr algn="ctr" indent="0" marL="0">
              <a:buNone/>
            </a:pPr>
            <a:r>
              <a:rPr lang="en-US" sz="1800" b="1" dirty="0">
                <a:solidFill>
                  <a:schemeClr val="accent1"/>
                </a:solidFill>
              </a:rPr>
              <a:t>1</a:t>
            </a:r>
            <a:endParaRPr lang="en-US" sz="1800" dirty="0"/>
          </a:p>
        </p:txBody>
      </p:sp>
      <p:sp>
        <p:nvSpPr>
          <p:cNvPr id="6" name="k0"/>
          <p:cNvSpPr txBox="1"/>
          <p:nvPr/>
        </p:nvSpPr>
        <p:spPr>
          <a:xfrm>
            <a:off x="1371600" y="1371600"/>
            <a:ext cx="2651760" cy="685800"/>
          </a:xfrm>
          <a:prstGeom prst="rect">
            <a:avLst/>
          </a:prstGeom>
          <a:noFill/>
          <a:ln/>
        </p:spPr>
        <p:txBody>
          <a:bodyPr wrap="square" lIns="0" tIns="0" rIns="0" bIns="0" rtlCol="0" anchor="ctr"/>
          <a:lstStyle/>
          <a:p>
            <a:pPr indent="0" marL="0">
              <a:buNone/>
            </a:pPr>
            <a:r>
              <a:rPr lang="en-US" sz="2000" b="1" dirty="0">
                <a:solidFill>
                  <a:schemeClr val="tx1"/>
                </a:solidFill>
              </a:rPr>
              <a:t>Names</a:t>
            </a:r>
            <a:endParaRPr lang="en-US" sz="2000" dirty="0"/>
          </a:p>
        </p:txBody>
      </p:sp>
      <p:sp>
        <p:nvSpPr>
          <p:cNvPr id="7" name="v0"/>
          <p:cNvSpPr txBox="1"/>
          <p:nvPr/>
        </p:nvSpPr>
        <p:spPr>
          <a:xfrm>
            <a:off x="4023360" y="1371600"/>
            <a:ext cx="7680960" cy="685800"/>
          </a:xfrm>
          <a:prstGeom prst="rect">
            <a:avLst/>
          </a:prstGeom>
          <a:noFill/>
          <a:ln/>
        </p:spPr>
        <p:txBody>
          <a:bodyPr wrap="square" lIns="0" tIns="0" rIns="0" bIns="0" rtlCol="0" anchor="ctr"/>
          <a:lstStyle/>
          <a:p>
            <a:pPr indent="0" marL="0">
              <a:buNone/>
            </a:pPr>
            <a:r>
              <a:rPr lang="en-US" sz="1500" dirty="0">
                <a:solidFill>
                  <a:schemeClr val="tx2"/>
                </a:solidFill>
              </a:rPr>
              <a:t>exactly as in the Robot Controller config: front_left_drive, not “the front left motor”</a:t>
            </a:r>
            <a:endParaRPr lang="en-US" sz="1500" dirty="0"/>
          </a:p>
        </p:txBody>
      </p:sp>
      <p:sp>
        <p:nvSpPr>
          <p:cNvPr id="8" name="hex 2"/>
          <p:cNvSpPr/>
          <p:nvPr/>
        </p:nvSpPr>
        <p:spPr>
          <a:xfrm>
            <a:off x="457200" y="2286000"/>
            <a:ext cx="685800" cy="685800"/>
          </a:xfrm>
          <a:prstGeom prst="hexagon">
            <a:avLst/>
          </a:prstGeom>
          <a:solidFill>
            <a:schemeClr val="bg1"/>
          </a:solidFill>
          <a:ln w="25400">
            <a:solidFill>
              <a:schemeClr val="accent1"/>
            </a:solidFill>
            <a:prstDash val="solid"/>
          </a:ln>
        </p:spPr>
      </p:sp>
      <p:sp>
        <p:nvSpPr>
          <p:cNvPr id="9" name="hex label 2"/>
          <p:cNvSpPr txBox="1"/>
          <p:nvPr/>
        </p:nvSpPr>
        <p:spPr>
          <a:xfrm>
            <a:off x="457200" y="2286000"/>
            <a:ext cx="685800" cy="685800"/>
          </a:xfrm>
          <a:prstGeom prst="rect">
            <a:avLst/>
          </a:prstGeom>
          <a:noFill/>
          <a:ln/>
        </p:spPr>
        <p:txBody>
          <a:bodyPr wrap="square" lIns="0" tIns="0" rIns="0" bIns="0" rtlCol="0" anchor="ctr"/>
          <a:lstStyle/>
          <a:p>
            <a:pPr algn="ctr" indent="0" marL="0">
              <a:buNone/>
            </a:pPr>
            <a:r>
              <a:rPr lang="en-US" sz="1800" b="1" dirty="0">
                <a:solidFill>
                  <a:schemeClr val="accent1"/>
                </a:solidFill>
              </a:rPr>
              <a:t>2</a:t>
            </a:r>
            <a:endParaRPr lang="en-US" sz="1800" dirty="0"/>
          </a:p>
        </p:txBody>
      </p:sp>
      <p:sp>
        <p:nvSpPr>
          <p:cNvPr id="10" name="k1"/>
          <p:cNvSpPr txBox="1"/>
          <p:nvPr/>
        </p:nvSpPr>
        <p:spPr>
          <a:xfrm>
            <a:off x="1371600" y="2286000"/>
            <a:ext cx="2651760" cy="685800"/>
          </a:xfrm>
          <a:prstGeom prst="rect">
            <a:avLst/>
          </a:prstGeom>
          <a:noFill/>
          <a:ln/>
        </p:spPr>
        <p:txBody>
          <a:bodyPr wrap="square" lIns="0" tIns="0" rIns="0" bIns="0" rtlCol="0" anchor="ctr"/>
          <a:lstStyle/>
          <a:p>
            <a:pPr indent="0" marL="0">
              <a:buNone/>
            </a:pPr>
            <a:r>
              <a:rPr lang="en-US" sz="2000" b="1" dirty="0">
                <a:solidFill>
                  <a:schemeClr val="tx1"/>
                </a:solidFill>
              </a:rPr>
              <a:t>Purpose</a:t>
            </a:r>
            <a:endParaRPr lang="en-US" sz="2000" dirty="0"/>
          </a:p>
        </p:txBody>
      </p:sp>
      <p:sp>
        <p:nvSpPr>
          <p:cNvPr id="11" name="v1"/>
          <p:cNvSpPr txBox="1"/>
          <p:nvPr/>
        </p:nvSpPr>
        <p:spPr>
          <a:xfrm>
            <a:off x="4023360" y="2286000"/>
            <a:ext cx="7680960" cy="685800"/>
          </a:xfrm>
          <a:prstGeom prst="rect">
            <a:avLst/>
          </a:prstGeom>
          <a:noFill/>
          <a:ln/>
        </p:spPr>
        <p:txBody>
          <a:bodyPr wrap="square" lIns="0" tIns="0" rIns="0" bIns="0" rtlCol="0" anchor="ctr"/>
          <a:lstStyle/>
          <a:p>
            <a:pPr indent="0" marL="0">
              <a:buNone/>
            </a:pPr>
            <a:r>
              <a:rPr lang="en-US" sz="1500" dirty="0">
                <a:solidFill>
                  <a:schemeClr val="tx2"/>
                </a:solidFill>
              </a:rPr>
              <a:t>what the part does for the robot</a:t>
            </a:r>
            <a:endParaRPr lang="en-US" sz="1500" dirty="0"/>
          </a:p>
        </p:txBody>
      </p:sp>
      <p:sp>
        <p:nvSpPr>
          <p:cNvPr id="12" name="hex 3"/>
          <p:cNvSpPr/>
          <p:nvPr/>
        </p:nvSpPr>
        <p:spPr>
          <a:xfrm>
            <a:off x="457200" y="3200400"/>
            <a:ext cx="685800" cy="685800"/>
          </a:xfrm>
          <a:prstGeom prst="hexagon">
            <a:avLst/>
          </a:prstGeom>
          <a:solidFill>
            <a:schemeClr val="bg1"/>
          </a:solidFill>
          <a:ln w="25400">
            <a:solidFill>
              <a:schemeClr val="accent1"/>
            </a:solidFill>
            <a:prstDash val="solid"/>
          </a:ln>
        </p:spPr>
      </p:sp>
      <p:sp>
        <p:nvSpPr>
          <p:cNvPr id="13" name="hex label 3"/>
          <p:cNvSpPr txBox="1"/>
          <p:nvPr/>
        </p:nvSpPr>
        <p:spPr>
          <a:xfrm>
            <a:off x="457200" y="3200400"/>
            <a:ext cx="685800" cy="685800"/>
          </a:xfrm>
          <a:prstGeom prst="rect">
            <a:avLst/>
          </a:prstGeom>
          <a:noFill/>
          <a:ln/>
        </p:spPr>
        <p:txBody>
          <a:bodyPr wrap="square" lIns="0" tIns="0" rIns="0" bIns="0" rtlCol="0" anchor="ctr"/>
          <a:lstStyle/>
          <a:p>
            <a:pPr algn="ctr" indent="0" marL="0">
              <a:buNone/>
            </a:pPr>
            <a:r>
              <a:rPr lang="en-US" sz="1800" b="1" dirty="0">
                <a:solidFill>
                  <a:schemeClr val="accent1"/>
                </a:solidFill>
              </a:rPr>
              <a:t>3</a:t>
            </a:r>
            <a:endParaRPr lang="en-US" sz="1800" dirty="0"/>
          </a:p>
        </p:txBody>
      </p:sp>
      <p:sp>
        <p:nvSpPr>
          <p:cNvPr id="14" name="k2"/>
          <p:cNvSpPr txBox="1"/>
          <p:nvPr/>
        </p:nvSpPr>
        <p:spPr>
          <a:xfrm>
            <a:off x="1371600" y="3200400"/>
            <a:ext cx="2651760" cy="685800"/>
          </a:xfrm>
          <a:prstGeom prst="rect">
            <a:avLst/>
          </a:prstGeom>
          <a:noFill/>
          <a:ln/>
        </p:spPr>
        <p:txBody>
          <a:bodyPr wrap="square" lIns="0" tIns="0" rIns="0" bIns="0" rtlCol="0" anchor="ctr"/>
          <a:lstStyle/>
          <a:p>
            <a:pPr indent="0" marL="0">
              <a:buNone/>
            </a:pPr>
            <a:r>
              <a:rPr lang="en-US" sz="2000" b="1" dirty="0">
                <a:solidFill>
                  <a:schemeClr val="tx1"/>
                </a:solidFill>
              </a:rPr>
              <a:t>Direction</a:t>
            </a:r>
            <a:endParaRPr lang="en-US" sz="2000" dirty="0"/>
          </a:p>
        </p:txBody>
      </p:sp>
      <p:sp>
        <p:nvSpPr>
          <p:cNvPr id="15" name="v2"/>
          <p:cNvSpPr txBox="1"/>
          <p:nvPr/>
        </p:nvSpPr>
        <p:spPr>
          <a:xfrm>
            <a:off x="4023360" y="3200400"/>
            <a:ext cx="7680960" cy="685800"/>
          </a:xfrm>
          <a:prstGeom prst="rect">
            <a:avLst/>
          </a:prstGeom>
          <a:noFill/>
          <a:ln/>
        </p:spPr>
        <p:txBody>
          <a:bodyPr wrap="square" lIns="0" tIns="0" rIns="0" bIns="0" rtlCol="0" anchor="ctr"/>
          <a:lstStyle/>
          <a:p>
            <a:pPr indent="0" marL="0">
              <a:buNone/>
            </a:pPr>
            <a:r>
              <a:rPr lang="en-US" sz="1500" dirty="0">
                <a:solidFill>
                  <a:schemeClr val="tx2"/>
                </a:solidFill>
              </a:rPr>
              <a:t>which way is “forward”; which motors are mounted mirrored</a:t>
            </a:r>
            <a:endParaRPr lang="en-US" sz="1500" dirty="0"/>
          </a:p>
        </p:txBody>
      </p:sp>
      <p:sp>
        <p:nvSpPr>
          <p:cNvPr id="16" name="hex 4"/>
          <p:cNvSpPr/>
          <p:nvPr/>
        </p:nvSpPr>
        <p:spPr>
          <a:xfrm>
            <a:off x="457200" y="4114800"/>
            <a:ext cx="685800" cy="685800"/>
          </a:xfrm>
          <a:prstGeom prst="hexagon">
            <a:avLst/>
          </a:prstGeom>
          <a:solidFill>
            <a:schemeClr val="bg1"/>
          </a:solidFill>
          <a:ln w="25400">
            <a:solidFill>
              <a:schemeClr val="accent1"/>
            </a:solidFill>
            <a:prstDash val="solid"/>
          </a:ln>
        </p:spPr>
      </p:sp>
      <p:sp>
        <p:nvSpPr>
          <p:cNvPr id="17" name="hex label 4"/>
          <p:cNvSpPr txBox="1"/>
          <p:nvPr/>
        </p:nvSpPr>
        <p:spPr>
          <a:xfrm>
            <a:off x="457200" y="4114800"/>
            <a:ext cx="685800" cy="685800"/>
          </a:xfrm>
          <a:prstGeom prst="rect">
            <a:avLst/>
          </a:prstGeom>
          <a:noFill/>
          <a:ln/>
        </p:spPr>
        <p:txBody>
          <a:bodyPr wrap="square" lIns="0" tIns="0" rIns="0" bIns="0" rtlCol="0" anchor="ctr"/>
          <a:lstStyle/>
          <a:p>
            <a:pPr algn="ctr" indent="0" marL="0">
              <a:buNone/>
            </a:pPr>
            <a:r>
              <a:rPr lang="en-US" sz="1800" b="1" dirty="0">
                <a:solidFill>
                  <a:schemeClr val="accent1"/>
                </a:solidFill>
              </a:rPr>
              <a:t>4</a:t>
            </a:r>
            <a:endParaRPr lang="en-US" sz="1800" dirty="0"/>
          </a:p>
        </p:txBody>
      </p:sp>
      <p:sp>
        <p:nvSpPr>
          <p:cNvPr id="18" name="k3"/>
          <p:cNvSpPr txBox="1"/>
          <p:nvPr/>
        </p:nvSpPr>
        <p:spPr>
          <a:xfrm>
            <a:off x="1371600" y="4114800"/>
            <a:ext cx="2651760" cy="685800"/>
          </a:xfrm>
          <a:prstGeom prst="rect">
            <a:avLst/>
          </a:prstGeom>
          <a:noFill/>
          <a:ln/>
        </p:spPr>
        <p:txBody>
          <a:bodyPr wrap="square" lIns="0" tIns="0" rIns="0" bIns="0" rtlCol="0" anchor="ctr"/>
          <a:lstStyle/>
          <a:p>
            <a:pPr indent="0" marL="0">
              <a:buNone/>
            </a:pPr>
            <a:r>
              <a:rPr lang="en-US" sz="2000" b="1" dirty="0">
                <a:solidFill>
                  <a:schemeClr val="tx1"/>
                </a:solidFill>
              </a:rPr>
              <a:t>Control</a:t>
            </a:r>
            <a:endParaRPr lang="en-US" sz="2000" dirty="0"/>
          </a:p>
        </p:txBody>
      </p:sp>
      <p:sp>
        <p:nvSpPr>
          <p:cNvPr id="19" name="v3"/>
          <p:cNvSpPr txBox="1"/>
          <p:nvPr/>
        </p:nvSpPr>
        <p:spPr>
          <a:xfrm>
            <a:off x="4023360" y="4114800"/>
            <a:ext cx="7680960" cy="685800"/>
          </a:xfrm>
          <a:prstGeom prst="rect">
            <a:avLst/>
          </a:prstGeom>
          <a:noFill/>
          <a:ln/>
        </p:spPr>
        <p:txBody>
          <a:bodyPr wrap="square" lIns="0" tIns="0" rIns="0" bIns="0" rtlCol="0" anchor="ctr"/>
          <a:lstStyle/>
          <a:p>
            <a:pPr indent="0" marL="0">
              <a:buNone/>
            </a:pPr>
            <a:r>
              <a:rPr lang="en-US" sz="1500" dirty="0">
                <a:solidFill>
                  <a:schemeClr val="tx2"/>
                </a:solidFill>
              </a:rPr>
              <a:t>which button or stick; toggle or hold; what happens on release</a:t>
            </a:r>
            <a:endParaRPr lang="en-US" sz="1500" dirty="0"/>
          </a:p>
        </p:txBody>
      </p:sp>
      <p:sp>
        <p:nvSpPr>
          <p:cNvPr id="20" name="hex 5"/>
          <p:cNvSpPr/>
          <p:nvPr/>
        </p:nvSpPr>
        <p:spPr>
          <a:xfrm>
            <a:off x="457200" y="5029200"/>
            <a:ext cx="685800" cy="685800"/>
          </a:xfrm>
          <a:prstGeom prst="hexagon">
            <a:avLst/>
          </a:prstGeom>
          <a:solidFill>
            <a:schemeClr val="bg1"/>
          </a:solidFill>
          <a:ln w="25400">
            <a:solidFill>
              <a:schemeClr val="accent1"/>
            </a:solidFill>
            <a:prstDash val="solid"/>
          </a:ln>
        </p:spPr>
      </p:sp>
      <p:sp>
        <p:nvSpPr>
          <p:cNvPr id="21" name="hex label 5"/>
          <p:cNvSpPr txBox="1"/>
          <p:nvPr/>
        </p:nvSpPr>
        <p:spPr>
          <a:xfrm>
            <a:off x="457200" y="5029200"/>
            <a:ext cx="685800" cy="685800"/>
          </a:xfrm>
          <a:prstGeom prst="rect">
            <a:avLst/>
          </a:prstGeom>
          <a:noFill/>
          <a:ln/>
        </p:spPr>
        <p:txBody>
          <a:bodyPr wrap="square" lIns="0" tIns="0" rIns="0" bIns="0" rtlCol="0" anchor="ctr"/>
          <a:lstStyle/>
          <a:p>
            <a:pPr algn="ctr" indent="0" marL="0">
              <a:buNone/>
            </a:pPr>
            <a:r>
              <a:rPr lang="en-US" sz="1800" b="1" dirty="0">
                <a:solidFill>
                  <a:schemeClr val="accent1"/>
                </a:solidFill>
              </a:rPr>
              <a:t>5</a:t>
            </a:r>
            <a:endParaRPr lang="en-US" sz="1800" dirty="0"/>
          </a:p>
        </p:txBody>
      </p:sp>
      <p:sp>
        <p:nvSpPr>
          <p:cNvPr id="22" name="k4"/>
          <p:cNvSpPr txBox="1"/>
          <p:nvPr/>
        </p:nvSpPr>
        <p:spPr>
          <a:xfrm>
            <a:off x="1371600" y="5029200"/>
            <a:ext cx="2651760" cy="685800"/>
          </a:xfrm>
          <a:prstGeom prst="rect">
            <a:avLst/>
          </a:prstGeom>
          <a:noFill/>
          <a:ln/>
        </p:spPr>
        <p:txBody>
          <a:bodyPr wrap="square" lIns="0" tIns="0" rIns="0" bIns="0" rtlCol="0" anchor="ctr"/>
          <a:lstStyle/>
          <a:p>
            <a:pPr indent="0" marL="0">
              <a:buNone/>
            </a:pPr>
            <a:r>
              <a:rPr lang="en-US" sz="2000" b="1" dirty="0">
                <a:solidFill>
                  <a:schemeClr val="tx1"/>
                </a:solidFill>
              </a:rPr>
              <a:t>Timing and order</a:t>
            </a:r>
            <a:endParaRPr lang="en-US" sz="2000" dirty="0"/>
          </a:p>
        </p:txBody>
      </p:sp>
      <p:sp>
        <p:nvSpPr>
          <p:cNvPr id="23" name="v4"/>
          <p:cNvSpPr txBox="1"/>
          <p:nvPr/>
        </p:nvSpPr>
        <p:spPr>
          <a:xfrm>
            <a:off x="4023360" y="5029200"/>
            <a:ext cx="7680960" cy="685800"/>
          </a:xfrm>
          <a:prstGeom prst="rect">
            <a:avLst/>
          </a:prstGeom>
          <a:noFill/>
          <a:ln/>
        </p:spPr>
        <p:txBody>
          <a:bodyPr wrap="square" lIns="0" tIns="0" rIns="0" bIns="0" rtlCol="0" anchor="ctr"/>
          <a:lstStyle/>
          <a:p>
            <a:pPr indent="0" marL="0">
              <a:buNone/>
            </a:pPr>
            <a:r>
              <a:rPr lang="en-US" sz="1500" dirty="0">
                <a:solidFill>
                  <a:schemeClr val="tx2"/>
                </a:solidFill>
              </a:rPr>
              <a:t>what has to happen before what, and for how long</a:t>
            </a:r>
            <a:endParaRPr lang="en-US" sz="1500" dirty="0"/>
          </a:p>
        </p:txBody>
      </p:sp>
      <p:sp>
        <p:nvSpPr>
          <p:cNvPr id="24" name="takeaway"/>
          <p:cNvSpPr txBox="1"/>
          <p:nvPr/>
        </p:nvSpPr>
        <p:spPr>
          <a:xfrm>
            <a:off x="457200" y="5806440"/>
            <a:ext cx="11247120" cy="365760"/>
          </a:xfrm>
          <a:prstGeom prst="rect">
            <a:avLst/>
          </a:prstGeom>
          <a:noFill/>
          <a:ln/>
        </p:spPr>
        <p:txBody>
          <a:bodyPr wrap="square" lIns="0" tIns="0" rIns="0" bIns="0" rtlCol="0" anchor="t"/>
          <a:lstStyle/>
          <a:p>
            <a:pPr indent="0" marL="0">
              <a:buNone/>
            </a:pPr>
            <a:r>
              <a:rPr lang="en-US" sz="1500" b="1" dirty="0">
                <a:solidFill>
                  <a:schemeClr val="accent1"/>
                </a:solidFill>
              </a:rPr>
              <a:t>Anything you leave out, Gemini guesses.</a:t>
            </a:r>
            <a:endParaRPr lang="en-US" sz="1500" dirty="0"/>
          </a:p>
        </p:txBody>
      </p:sp>
      <p:sp>
        <p:nvSpPr>
          <p:cNvPr id="25" name="Slide Number Placeholder 0"/>
          <p:cNvSpPr>
            <a:spLocks noGrp="1"/>
          </p:cNvSpPr>
          <p:nvPr>
            <p:ph type="sldNum" sz="quarter" idx="4294967295"/>
          </p:nvPr>
        </p:nvSpPr>
        <p:spPr>
          <a:xfrm>
            <a:off x="11247120" y="6263640"/>
            <a:ext cx="548640" cy="39319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2" type="title" hasCustomPrompt="1"/>
          </p:nvPr>
        </p:nvSpPr>
        <p:spPr>
          <a:xfrm>
            <a:off x="457200" y="365760"/>
            <a:ext cx="11274552" cy="822960"/>
          </a:xfrm>
          <a:prstGeom prst="rect">
            <a:avLst/>
          </a:prstGeom>
          <a:noFill/>
          <a:ln/>
        </p:spPr>
        <p:txBody>
          <a:bodyPr wrap="square" lIns="0" tIns="0" rIns="0" bIns="0" rtlCol="0" anchor="ctr"/>
          <a:lstStyle/>
          <a:p>
            <a:pPr algn="l" indent="0" marL="0">
              <a:buNone/>
            </a:pPr>
            <a:r>
              <a:rPr lang="en-US" sz="3200" b="1" dirty="0">
                <a:solidFill>
                  <a:schemeClr val="accent1"/>
                </a:solidFill>
              </a:rPr>
              <a:t>Vague vs. specific</a:t>
            </a:r>
            <a:endParaRPr lang="en-US" sz="3200" dirty="0"/>
          </a:p>
        </p:txBody>
      </p:sp>
      <p:sp>
        <p:nvSpPr>
          <p:cNvPr id="4" name="vague card"/>
          <p:cNvSpPr/>
          <p:nvPr/>
        </p:nvSpPr>
        <p:spPr>
          <a:xfrm>
            <a:off x="457200" y="1325880"/>
            <a:ext cx="3108960" cy="4480560"/>
          </a:xfrm>
          <a:prstGeom prst="roundRect">
            <a:avLst>
              <a:gd name="adj" fmla="val 3529"/>
            </a:avLst>
          </a:prstGeom>
          <a:solidFill>
            <a:schemeClr val="bg2"/>
          </a:solidFill>
          <a:ln w="12700">
            <a:solidFill>
              <a:schemeClr val="bg2"/>
            </a:solidFill>
            <a:prstDash val="solid"/>
          </a:ln>
        </p:spPr>
      </p:sp>
      <p:sp>
        <p:nvSpPr>
          <p:cNvPr id="5" name="vague head"/>
          <p:cNvSpPr txBox="1"/>
          <p:nvPr/>
        </p:nvSpPr>
        <p:spPr>
          <a:xfrm>
            <a:off x="685800" y="1508760"/>
            <a:ext cx="2743200" cy="411480"/>
          </a:xfrm>
          <a:prstGeom prst="rect">
            <a:avLst/>
          </a:prstGeom>
          <a:noFill/>
          <a:ln/>
        </p:spPr>
        <p:txBody>
          <a:bodyPr wrap="square" lIns="0" tIns="0" rIns="0" bIns="0" rtlCol="0" anchor="t"/>
          <a:lstStyle/>
          <a:p>
            <a:pPr indent="0" marL="0">
              <a:buNone/>
            </a:pPr>
            <a:r>
              <a:rPr lang="en-US" sz="1800" b="1" dirty="0">
                <a:solidFill>
                  <a:schemeClr val="accent4"/>
                </a:solidFill>
              </a:rPr>
              <a:t>Vague</a:t>
            </a:r>
            <a:endParaRPr lang="en-US" sz="1800" dirty="0"/>
          </a:p>
        </p:txBody>
      </p:sp>
      <p:sp>
        <p:nvSpPr>
          <p:cNvPr id="6" name="vague text"/>
          <p:cNvSpPr txBox="1"/>
          <p:nvPr/>
        </p:nvSpPr>
        <p:spPr>
          <a:xfrm>
            <a:off x="685800" y="2103120"/>
            <a:ext cx="2651760" cy="914400"/>
          </a:xfrm>
          <a:prstGeom prst="rect">
            <a:avLst/>
          </a:prstGeom>
          <a:noFill/>
          <a:ln/>
        </p:spPr>
        <p:txBody>
          <a:bodyPr wrap="square" lIns="0" tIns="0" rIns="0" bIns="0" rtlCol="0" anchor="t"/>
          <a:lstStyle/>
          <a:p>
            <a:pPr indent="0" marL="0">
              <a:buNone/>
            </a:pPr>
            <a:r>
              <a:rPr lang="en-US" sz="2200" i="1" dirty="0">
                <a:solidFill>
                  <a:schemeClr val="tx1"/>
                </a:solidFill>
              </a:rPr>
              <a:t>“Add a shooter.”</a:t>
            </a:r>
            <a:endParaRPr lang="en-US" sz="2200" dirty="0"/>
          </a:p>
        </p:txBody>
      </p:sp>
      <p:sp>
        <p:nvSpPr>
          <p:cNvPr id="7" name="vague guesses"/>
          <p:cNvSpPr txBox="1"/>
          <p:nvPr/>
        </p:nvSpPr>
        <p:spPr>
          <a:xfrm>
            <a:off x="685800" y="3291840"/>
            <a:ext cx="2651760" cy="2194560"/>
          </a:xfrm>
          <a:prstGeom prst="rect">
            <a:avLst/>
          </a:prstGeom>
          <a:noFill/>
          <a:ln/>
        </p:spPr>
        <p:txBody>
          <a:bodyPr wrap="square" lIns="0" tIns="0" rIns="0" bIns="0" rtlCol="0" anchor="t"/>
          <a:lstStyle/>
          <a:p>
            <a:pPr indent="0" marL="0">
              <a:buNone/>
            </a:pPr>
            <a:r>
              <a:rPr lang="en-US" sz="1300" dirty="0">
                <a:solidFill>
                  <a:schemeClr val="tx2"/>
                </a:solidFill>
              </a:rPr>
              <a:t>Which motor? Which way? Which button? Toggle or hold? What happens first?</a:t>
            </a:r>
            <a:endParaRPr lang="en-US" sz="1300" dirty="0"/>
          </a:p>
        </p:txBody>
      </p:sp>
      <p:sp>
        <p:nvSpPr>
          <p:cNvPr id="8" name="specific card"/>
          <p:cNvSpPr/>
          <p:nvPr/>
        </p:nvSpPr>
        <p:spPr>
          <a:xfrm>
            <a:off x="3840480" y="1325880"/>
            <a:ext cx="7891272" cy="2331720"/>
          </a:xfrm>
          <a:prstGeom prst="roundRect">
            <a:avLst>
              <a:gd name="adj" fmla="val 4706"/>
            </a:avLst>
          </a:prstGeom>
          <a:solidFill>
            <a:schemeClr val="bg2"/>
          </a:solidFill>
          <a:ln w="12700">
            <a:solidFill>
              <a:schemeClr val="bg2"/>
            </a:solidFill>
            <a:prstDash val="solid"/>
          </a:ln>
        </p:spPr>
      </p:sp>
      <p:sp>
        <p:nvSpPr>
          <p:cNvPr id="9" name="spec head"/>
          <p:cNvSpPr txBox="1"/>
          <p:nvPr/>
        </p:nvSpPr>
        <p:spPr>
          <a:xfrm>
            <a:off x="4069080" y="1463040"/>
            <a:ext cx="2743200" cy="365760"/>
          </a:xfrm>
          <a:prstGeom prst="rect">
            <a:avLst/>
          </a:prstGeom>
          <a:noFill/>
          <a:ln/>
        </p:spPr>
        <p:txBody>
          <a:bodyPr wrap="square" lIns="0" tIns="0" rIns="0" bIns="0" rtlCol="0" anchor="t"/>
          <a:lstStyle/>
          <a:p>
            <a:pPr indent="0" marL="0">
              <a:buNone/>
            </a:pPr>
            <a:r>
              <a:rPr lang="en-US" sz="1800" b="1" dirty="0">
                <a:solidFill>
                  <a:schemeClr val="accent3"/>
                </a:solidFill>
              </a:rPr>
              <a:t>Specific</a:t>
            </a:r>
            <a:endParaRPr lang="en-US" sz="1800" dirty="0"/>
          </a:p>
        </p:txBody>
      </p:sp>
      <p:sp>
        <p:nvSpPr>
          <p:cNvPr id="10" name="spec text"/>
          <p:cNvSpPr txBox="1"/>
          <p:nvPr/>
        </p:nvSpPr>
        <p:spPr>
          <a:xfrm>
            <a:off x="4069080" y="1874520"/>
            <a:ext cx="7452360" cy="1737360"/>
          </a:xfrm>
          <a:prstGeom prst="rect">
            <a:avLst/>
          </a:prstGeom>
          <a:noFill/>
          <a:ln/>
        </p:spPr>
        <p:txBody>
          <a:bodyPr wrap="square" lIns="0" tIns="0" rIns="0" bIns="0" rtlCol="0" anchor="t"/>
          <a:lstStyle/>
          <a:p>
            <a:pPr indent="0" marL="0">
              <a:buNone/>
            </a:pPr>
            <a:r>
              <a:rPr lang="en-US" sz="1250" i="1" dirty="0">
                <a:solidFill>
                  <a:schemeClr val="tx1"/>
                </a:solidFill>
              </a:rPr>
              <a:t>“One motor named flywheel, reversed. Pressing B runs the flywheel and intake backward at −0.5 for 200 ms to clear a jammed ball, stops everything for 300 ms, then runs the flywheel forward at full power and keeps it there. Pressing B again stops it. While it's running and right bumper is held, pulse the intake 100 ms on at 0.5, 200 ms off, so balls feed one at a time.”</a:t>
            </a:r>
            <a:endParaRPr lang="en-US" sz="1250" dirty="0"/>
          </a:p>
        </p:txBody>
      </p:sp>
      <p:sp>
        <p:nvSpPr>
          <p:cNvPr id="11" name="real card"/>
          <p:cNvSpPr/>
          <p:nvPr/>
        </p:nvSpPr>
        <p:spPr>
          <a:xfrm>
            <a:off x="3840480" y="3840480"/>
            <a:ext cx="7891272" cy="1965960"/>
          </a:xfrm>
          <a:prstGeom prst="roundRect">
            <a:avLst>
              <a:gd name="adj" fmla="val 5581"/>
            </a:avLst>
          </a:prstGeom>
          <a:solidFill>
            <a:schemeClr val="bg2"/>
          </a:solidFill>
          <a:ln w="12700">
            <a:solidFill>
              <a:schemeClr val="bg2"/>
            </a:solidFill>
            <a:prstDash val="solid"/>
          </a:ln>
        </p:spPr>
      </p:sp>
      <p:sp>
        <p:nvSpPr>
          <p:cNvPr id="12" name="real head"/>
          <p:cNvSpPr txBox="1"/>
          <p:nvPr/>
        </p:nvSpPr>
        <p:spPr>
          <a:xfrm>
            <a:off x="4069080" y="3959352"/>
            <a:ext cx="7315200" cy="365760"/>
          </a:xfrm>
          <a:prstGeom prst="rect">
            <a:avLst/>
          </a:prstGeom>
          <a:noFill/>
          <a:ln/>
        </p:spPr>
        <p:txBody>
          <a:bodyPr wrap="square" lIns="0" tIns="0" rIns="0" bIns="0" rtlCol="0" anchor="t"/>
          <a:lstStyle/>
          <a:p>
            <a:pPr indent="0" marL="0">
              <a:buNone/>
            </a:pPr>
            <a:r>
              <a:rPr lang="en-US" sz="1800" b="1" dirty="0">
                <a:solidFill>
                  <a:schemeClr val="accent1"/>
                </a:solidFill>
              </a:rPr>
              <a:t>Real: Sep 19 session, verbatim</a:t>
            </a:r>
            <a:endParaRPr lang="en-US" sz="1800" dirty="0"/>
          </a:p>
        </p:txBody>
      </p:sp>
      <p:sp>
        <p:nvSpPr>
          <p:cNvPr id="13" name="real text"/>
          <p:cNvSpPr txBox="1"/>
          <p:nvPr/>
        </p:nvSpPr>
        <p:spPr>
          <a:xfrm>
            <a:off x="4069080" y="4370832"/>
            <a:ext cx="7452360" cy="1005840"/>
          </a:xfrm>
          <a:prstGeom prst="rect">
            <a:avLst/>
          </a:prstGeom>
          <a:noFill/>
          <a:ln/>
        </p:spPr>
        <p:txBody>
          <a:bodyPr wrap="square" lIns="0" tIns="0" rIns="0" bIns="0" rtlCol="0" anchor="t"/>
          <a:lstStyle/>
          <a:p>
            <a:pPr indent="0" marL="0">
              <a:buNone/>
            </a:pPr>
            <a:r>
              <a:rPr lang="en-US" sz="1350" i="1" dirty="0">
                <a:solidFill>
                  <a:schemeClr val="tx1"/>
                </a:solidFill>
              </a:rPr>
              <a:t>“When I start up the flywheel, I want the process to continue to do the reverse function. But then I don't want the intake to resume. I want the intake to stop (whether it was stopped or running). Does that make sense?”</a:t>
            </a:r>
            <a:endParaRPr lang="en-US" sz="1350" dirty="0"/>
          </a:p>
        </p:txBody>
      </p:sp>
      <p:sp>
        <p:nvSpPr>
          <p:cNvPr id="14" name="real note"/>
          <p:cNvSpPr txBox="1"/>
          <p:nvPr/>
        </p:nvSpPr>
        <p:spPr>
          <a:xfrm>
            <a:off x="4069080" y="5394960"/>
            <a:ext cx="7315200" cy="320040"/>
          </a:xfrm>
          <a:prstGeom prst="rect">
            <a:avLst/>
          </a:prstGeom>
          <a:noFill/>
          <a:ln/>
        </p:spPr>
        <p:txBody>
          <a:bodyPr wrap="square" lIns="0" tIns="0" rIns="0" bIns="0" rtlCol="0" anchor="t"/>
          <a:lstStyle/>
          <a:p>
            <a:pPr indent="0" marL="0">
              <a:buNone/>
            </a:pPr>
            <a:r>
              <a:rPr lang="en-US" sz="1200" dirty="0">
                <a:solidFill>
                  <a:schemeClr val="tx2"/>
                </a:solidFill>
              </a:rPr>
              <a:t>No code words, just a sequence, and a few lines changed in Intake.java.</a:t>
            </a:r>
            <a:endParaRPr lang="en-US" sz="1200" dirty="0"/>
          </a:p>
        </p:txBody>
      </p:sp>
      <p:sp>
        <p:nvSpPr>
          <p:cNvPr id="25" name="Slide Number Placeholder 0"/>
          <p:cNvSpPr>
            <a:spLocks noGrp="1"/>
          </p:cNvSpPr>
          <p:nvPr>
            <p:ph type="sldNum" sz="quarter" idx="4294967295"/>
          </p:nvPr>
        </p:nvSpPr>
        <p:spPr>
          <a:xfrm>
            <a:off x="11247120" y="6263640"/>
            <a:ext cx="548640" cy="39319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2" type="title" hasCustomPrompt="1"/>
          </p:nvPr>
        </p:nvSpPr>
        <p:spPr>
          <a:xfrm>
            <a:off x="457200" y="365760"/>
            <a:ext cx="11274552" cy="822960"/>
          </a:xfrm>
          <a:prstGeom prst="rect">
            <a:avLst/>
          </a:prstGeom>
          <a:noFill/>
          <a:ln/>
        </p:spPr>
        <p:txBody>
          <a:bodyPr wrap="square" lIns="0" tIns="0" rIns="0" bIns="0" rtlCol="0" anchor="ctr"/>
          <a:lstStyle/>
          <a:p>
            <a:pPr algn="l" indent="0" marL="0">
              <a:buNone/>
            </a:pPr>
            <a:r>
              <a:rPr lang="en-US" sz="3200" b="1" dirty="0">
                <a:solidFill>
                  <a:schemeClr val="accent1"/>
                </a:solidFill>
              </a:rPr>
              <a:t>Now watch it happen</a:t>
            </a:r>
            <a:endParaRPr lang="en-US" sz="3200" dirty="0"/>
          </a:p>
        </p:txBody>
      </p:sp>
      <p:pic>
        <p:nvPicPr>
          <p:cNvPr id="4" name="tank drive screenshot" descr="/home/claude/teaching-ai-coding/docs/images/android-studio-tank-drive-prompt.png">    </p:cNvPr>
          <p:cNvPicPr>
            <a:picLocks noChangeAspect="1"/>
          </p:cNvPicPr>
          <p:nvPr/>
        </p:nvPicPr>
        <p:blipFill>
          <a:blip r:embed="rId1"/>
          <a:stretch>
            <a:fillRect/>
          </a:stretch>
        </p:blipFill>
        <p:spPr>
          <a:xfrm>
            <a:off x="457200" y="1325880"/>
            <a:ext cx="7680960" cy="4562856"/>
          </a:xfrm>
          <a:prstGeom prst="rect">
            <a:avLst/>
          </a:prstGeom>
        </p:spPr>
      </p:pic>
      <p:sp>
        <p:nvSpPr>
          <p:cNvPr id="5" name="demo caption"/>
          <p:cNvSpPr txBox="1"/>
          <p:nvPr/>
        </p:nvSpPr>
        <p:spPr>
          <a:xfrm>
            <a:off x="8412480" y="1325880"/>
            <a:ext cx="3319272" cy="1463040"/>
          </a:xfrm>
          <a:prstGeom prst="rect">
            <a:avLst/>
          </a:prstGeom>
          <a:noFill/>
          <a:ln/>
        </p:spPr>
        <p:txBody>
          <a:bodyPr wrap="square" lIns="0" tIns="0" rIns="0" bIns="0" rtlCol="0" anchor="t"/>
          <a:lstStyle/>
          <a:p>
            <a:pPr indent="0" marL="0">
              <a:buNone/>
            </a:pPr>
            <a:r>
              <a:rPr lang="en-US" sz="1500" dirty="0">
                <a:solidFill>
                  <a:schemeClr val="tx1"/>
                </a:solidFill>
              </a:rPr>
              <a:t>The mentors' tank-drive prompt, as typed, and the code it produced. You're about to see the same thing live.</a:t>
            </a:r>
            <a:endParaRPr lang="en-US" sz="1500" dirty="0"/>
          </a:p>
        </p:txBody>
      </p:sp>
      <p:sp>
        <p:nvSpPr>
          <p:cNvPr id="6" name="demo steps"/>
          <p:cNvSpPr txBox="1"/>
          <p:nvPr/>
        </p:nvSpPr>
        <p:spPr>
          <a:xfrm>
            <a:off x="8412480" y="2926080"/>
            <a:ext cx="3319272" cy="27432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rPr>
              <a:t>Description already sent</a:t>
            </a:r>
            <a:endParaRPr lang="en-US" sz="1400" dirty="0"/>
          </a:p>
          <a:p>
            <a:pPr marL="342900" indent="-342900">
              <a:spcAft>
                <a:spcPts val="600"/>
              </a:spcAft>
              <a:buSzPct val="100000"/>
              <a:buChar char="•"/>
            </a:pPr>
            <a:r>
              <a:rPr lang="en-US" sz="1400" dirty="0">
                <a:solidFill>
                  <a:schemeClr val="tx2"/>
                </a:solidFill>
              </a:rPr>
              <a:t>Drive prompt, live</a:t>
            </a:r>
            <a:endParaRPr lang="en-US" sz="1400" dirty="0"/>
          </a:p>
          <a:p>
            <a:pPr marL="342900" indent="-342900">
              <a:spcAft>
                <a:spcPts val="600"/>
              </a:spcAft>
              <a:buSzPct val="100000"/>
              <a:buChar char="•"/>
            </a:pPr>
            <a:r>
              <a:rPr lang="en-US" sz="1400" dirty="0">
                <a:solidFill>
                  <a:schemeClr val="tx2"/>
                </a:solidFill>
              </a:rPr>
              <a:t>Read the code: names match</a:t>
            </a:r>
            <a:endParaRPr lang="en-US" sz="1400" dirty="0"/>
          </a:p>
          <a:p>
            <a:pPr marL="342900" indent="-342900">
              <a:spcAft>
                <a:spcPts val="600"/>
              </a:spcAft>
              <a:buSzPct val="100000"/>
              <a:buChar char="•"/>
            </a:pPr>
            <a:r>
              <a:rPr lang="en-US" sz="1400" dirty="0">
                <a:solidFill>
                  <a:schemeClr val="tx2"/>
                </a:solidFill>
              </a:rPr>
              <a:t>Build, deploy, drive</a:t>
            </a:r>
            <a:endParaRPr lang="en-US" sz="1400" dirty="0"/>
          </a:p>
          <a:p>
            <a:pPr marL="342900" indent="-342900">
              <a:spcAft>
                <a:spcPts val="600"/>
              </a:spcAft>
              <a:buSzPct val="100000"/>
              <a:buChar char="•"/>
            </a:pPr>
            <a:r>
              <a:rPr lang="en-US" sz="1400" dirty="0">
                <a:solidFill>
                  <a:schemeClr val="tx2"/>
                </a:solidFill>
              </a:rPr>
              <a:t>Refine: the real strafe fix</a:t>
            </a:r>
            <a:endParaRPr lang="en-US" sz="1400" dirty="0"/>
          </a:p>
          <a:p>
            <a:pPr marL="342900" indent="-342900">
              <a:spcAft>
                <a:spcPts val="600"/>
              </a:spcAft>
              <a:buSzPct val="100000"/>
              <a:buChar char="•"/>
            </a:pPr>
            <a:r>
              <a:rPr lang="en-US" sz="1400" dirty="0">
                <a:solidFill>
                  <a:schemeClr val="tx2"/>
                </a:solidFill>
              </a:rPr>
              <a:t>Deploy, drive again</a:t>
            </a:r>
            <a:endParaRPr lang="en-US" sz="1400" dirty="0"/>
          </a:p>
        </p:txBody>
      </p:sp>
      <p:sp>
        <p:nvSpPr>
          <p:cNvPr id="25" name="Slide Number Placeholder 0"/>
          <p:cNvSpPr>
            <a:spLocks noGrp="1"/>
          </p:cNvSpPr>
          <p:nvPr>
            <p:ph type="sldNum" sz="quarter" idx="4294967295"/>
          </p:nvPr>
        </p:nvSpPr>
        <p:spPr>
          <a:xfrm>
            <a:off x="11247120" y="6263640"/>
            <a:ext cx="548640" cy="39319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2" type="title" hasCustomPrompt="1"/>
          </p:nvPr>
        </p:nvSpPr>
        <p:spPr>
          <a:xfrm>
            <a:off x="457200" y="365760"/>
            <a:ext cx="11274552" cy="822960"/>
          </a:xfrm>
          <a:prstGeom prst="rect">
            <a:avLst/>
          </a:prstGeom>
          <a:noFill/>
          <a:ln/>
        </p:spPr>
        <p:txBody>
          <a:bodyPr wrap="square" lIns="0" tIns="0" rIns="0" bIns="0" rtlCol="0" anchor="ctr"/>
          <a:lstStyle/>
          <a:p>
            <a:pPr algn="l" indent="0" marL="0">
              <a:buNone/>
            </a:pPr>
            <a:r>
              <a:rPr lang="en-US" sz="3200" b="1" dirty="0">
                <a:solidFill>
                  <a:schemeClr val="accent1"/>
                </a:solidFill>
              </a:rPr>
              <a:t>Where it goes wrong, and the fix</a:t>
            </a:r>
            <a:endParaRPr lang="en-US" sz="3200" dirty="0"/>
          </a:p>
        </p:txBody>
      </p:sp>
      <p:graphicFrame>
        <p:nvGraphicFramePr>
          <p:cNvPr id="17" name="fix table"/>
          <p:cNvGraphicFramePr>
            <a:graphicFrameLocks noGrp="1"/>
          </p:cNvGraphicFramePr>
          <p:nvPr>
            <p:extLst>
              <p:ext uri="{D42A27DB-BD31-4B8C-83A1-F6EECF244321}">
                <p14:modId xmlns:p14="http://schemas.microsoft.com/office/powerpoint/2010/main" val="1579011935"/>
              </p:ext>
            </p:extLst>
          </p:nvPr>
        </p:nvGraphicFramePr>
        <p:xfrm>
          <a:off x="457200" y="1325880"/>
          <a:ext cx="11274552" cy="914400"/>
        </p:xfrm>
        <a:graphic>
          <a:graphicData uri="http://schemas.openxmlformats.org/drawingml/2006/table">
            <a:tbl>
              <a:tblPr/>
              <a:tblGrid>
                <a:gridCol w="2834640"/>
                <a:gridCol w="2743200"/>
                <a:gridCol w="5696712"/>
              </a:tblGrid>
              <a:tr h="502920">
                <a:tc>
                  <a:txBody>
                    <a:bodyPr/>
                    <a:lstStyle/>
                    <a:p>
                      <a:pPr indent="0" marL="0">
                        <a:buNone/>
                      </a:pPr>
                      <a:r>
                        <a:rPr lang="en-US" sz="1500" b="1" dirty="0">
                          <a:solidFill>
                            <a:srgbClr val="F9BE14"/>
                          </a:solidFill>
                        </a:rPr>
                        <a:t>Symptom</a:t>
                      </a:r>
                      <a:endParaRPr lang="en-US" sz="1500" dirty="0"/>
                    </a:p>
                  </a:txBody>
                  <a:tcPr marL="73152" marR="73152" marT="73152" marB="73152" anchor="ctr">
                    <a:lnL w="9525" cap="flat" cmpd="sng" algn="ctr">
                      <a:solidFill>
                        <a:srgbClr val="333333"/>
                      </a:solidFill>
                      <a:prstDash val="solid"/>
                      <a:round/>
                      <a:headEnd type="none" w="med" len="med"/>
                      <a:tailEnd type="none" w="med" len="med"/>
                    </a:lnL>
                    <a:lnR w="9525" cap="flat" cmpd="sng" algn="ctr">
                      <a:solidFill>
                        <a:srgbClr val="333333"/>
                      </a:solidFill>
                      <a:prstDash val="solid"/>
                      <a:round/>
                      <a:headEnd type="none" w="med" len="med"/>
                      <a:tailEnd type="none" w="med" len="med"/>
                    </a:lnR>
                    <a:lnT w="9525" cap="flat" cmpd="sng" algn="ctr">
                      <a:solidFill>
                        <a:srgbClr val="333333"/>
                      </a:solidFill>
                      <a:prstDash val="solid"/>
                      <a:round/>
                      <a:headEnd type="none" w="med" len="med"/>
                      <a:tailEnd type="none" w="med" len="med"/>
                    </a:lnT>
                    <a:lnB w="9525" cap="flat" cmpd="sng" algn="ctr">
                      <a:solidFill>
                        <a:srgbClr val="333333"/>
                      </a:solidFill>
                      <a:prstDash val="solid"/>
                      <a:round/>
                      <a:headEnd type="none" w="med" len="med"/>
                      <a:tailEnd type="none" w="med" len="med"/>
                    </a:lnB>
                    <a:solidFill>
                      <a:srgbClr val="161616"/>
                    </a:solidFill>
                  </a:tcPr>
                </a:tc>
                <a:tc>
                  <a:txBody>
                    <a:bodyPr/>
                    <a:lstStyle/>
                    <a:p>
                      <a:pPr indent="0" marL="0">
                        <a:buNone/>
                      </a:pPr>
                      <a:r>
                        <a:rPr lang="en-US" sz="1500" b="1" dirty="0">
                          <a:solidFill>
                            <a:srgbClr val="F9BE14"/>
                          </a:solidFill>
                        </a:rPr>
                        <a:t>Cause</a:t>
                      </a:r>
                      <a:endParaRPr lang="en-US" sz="1500" dirty="0"/>
                    </a:p>
                  </a:txBody>
                  <a:tcPr marL="73152" marR="73152" marT="73152" marB="73152" anchor="ctr">
                    <a:lnL w="9525" cap="flat" cmpd="sng" algn="ctr">
                      <a:solidFill>
                        <a:srgbClr val="333333"/>
                      </a:solidFill>
                      <a:prstDash val="solid"/>
                      <a:round/>
                      <a:headEnd type="none" w="med" len="med"/>
                      <a:tailEnd type="none" w="med" len="med"/>
                    </a:lnL>
                    <a:lnR w="9525" cap="flat" cmpd="sng" algn="ctr">
                      <a:solidFill>
                        <a:srgbClr val="333333"/>
                      </a:solidFill>
                      <a:prstDash val="solid"/>
                      <a:round/>
                      <a:headEnd type="none" w="med" len="med"/>
                      <a:tailEnd type="none" w="med" len="med"/>
                    </a:lnR>
                    <a:lnT w="9525" cap="flat" cmpd="sng" algn="ctr">
                      <a:solidFill>
                        <a:srgbClr val="333333"/>
                      </a:solidFill>
                      <a:prstDash val="solid"/>
                      <a:round/>
                      <a:headEnd type="none" w="med" len="med"/>
                      <a:tailEnd type="none" w="med" len="med"/>
                    </a:lnT>
                    <a:lnB w="9525" cap="flat" cmpd="sng" algn="ctr">
                      <a:solidFill>
                        <a:srgbClr val="333333"/>
                      </a:solidFill>
                      <a:prstDash val="solid"/>
                      <a:round/>
                      <a:headEnd type="none" w="med" len="med"/>
                      <a:tailEnd type="none" w="med" len="med"/>
                    </a:lnB>
                    <a:solidFill>
                      <a:srgbClr val="161616"/>
                    </a:solidFill>
                  </a:tcPr>
                </a:tc>
                <a:tc>
                  <a:txBody>
                    <a:bodyPr/>
                    <a:lstStyle/>
                    <a:p>
                      <a:pPr indent="0" marL="0">
                        <a:buNone/>
                      </a:pPr>
                      <a:r>
                        <a:rPr lang="en-US" sz="1500" b="1" dirty="0">
                          <a:solidFill>
                            <a:srgbClr val="F9BE14"/>
                          </a:solidFill>
                        </a:rPr>
                        <a:t>Fix</a:t>
                      </a:r>
                      <a:endParaRPr lang="en-US" sz="1500" dirty="0"/>
                    </a:p>
                  </a:txBody>
                  <a:tcPr marL="73152" marR="73152" marT="73152" marB="73152" anchor="ctr">
                    <a:lnL w="9525" cap="flat" cmpd="sng" algn="ctr">
                      <a:solidFill>
                        <a:srgbClr val="333333"/>
                      </a:solidFill>
                      <a:prstDash val="solid"/>
                      <a:round/>
                      <a:headEnd type="none" w="med" len="med"/>
                      <a:tailEnd type="none" w="med" len="med"/>
                    </a:lnL>
                    <a:lnR w="9525" cap="flat" cmpd="sng" algn="ctr">
                      <a:solidFill>
                        <a:srgbClr val="333333"/>
                      </a:solidFill>
                      <a:prstDash val="solid"/>
                      <a:round/>
                      <a:headEnd type="none" w="med" len="med"/>
                      <a:tailEnd type="none" w="med" len="med"/>
                    </a:lnR>
                    <a:lnT w="9525" cap="flat" cmpd="sng" algn="ctr">
                      <a:solidFill>
                        <a:srgbClr val="333333"/>
                      </a:solidFill>
                      <a:prstDash val="solid"/>
                      <a:round/>
                      <a:headEnd type="none" w="med" len="med"/>
                      <a:tailEnd type="none" w="med" len="med"/>
                    </a:lnT>
                    <a:lnB w="9525" cap="flat" cmpd="sng" algn="ctr">
                      <a:solidFill>
                        <a:srgbClr val="333333"/>
                      </a:solidFill>
                      <a:prstDash val="solid"/>
                      <a:round/>
                      <a:headEnd type="none" w="med" len="med"/>
                      <a:tailEnd type="none" w="med" len="med"/>
                    </a:lnB>
                    <a:solidFill>
                      <a:srgbClr val="161616"/>
                    </a:solidFill>
                  </a:tcPr>
                </a:tc>
              </a:tr>
              <a:tr h="502920">
                <a:tc>
                  <a:txBody>
                    <a:bodyPr/>
                    <a:lstStyle/>
                    <a:p>
                      <a:pPr indent="0" marL="0">
                        <a:buNone/>
                      </a:pPr>
                      <a:r>
                        <a:rPr lang="en-US" sz="1300" dirty="0">
                          <a:solidFill>
                            <a:srgbClr val="FFFFFF"/>
                          </a:solidFill>
                        </a:rPr>
                        <a:t>Won't compile: “cannot find symbol”</a:t>
                      </a:r>
                      <a:endParaRPr lang="en-US" sz="1300" dirty="0"/>
                    </a:p>
                  </a:txBody>
                  <a:tcPr marL="73152" marR="73152" marT="73152" marB="73152" anchor="ctr">
                    <a:lnL w="9525" cap="flat" cmpd="sng" algn="ctr">
                      <a:solidFill>
                        <a:srgbClr val="333333"/>
                      </a:solidFill>
                      <a:prstDash val="solid"/>
                      <a:round/>
                      <a:headEnd type="none" w="med" len="med"/>
                      <a:tailEnd type="none" w="med" len="med"/>
                    </a:lnL>
                    <a:lnR w="9525" cap="flat" cmpd="sng" algn="ctr">
                      <a:solidFill>
                        <a:srgbClr val="333333"/>
                      </a:solidFill>
                      <a:prstDash val="solid"/>
                      <a:round/>
                      <a:headEnd type="none" w="med" len="med"/>
                      <a:tailEnd type="none" w="med" len="med"/>
                    </a:lnR>
                    <a:lnT w="9525" cap="flat" cmpd="sng" algn="ctr">
                      <a:solidFill>
                        <a:srgbClr val="333333"/>
                      </a:solidFill>
                      <a:prstDash val="solid"/>
                      <a:round/>
                      <a:headEnd type="none" w="med" len="med"/>
                      <a:tailEnd type="none" w="med" len="med"/>
                    </a:lnT>
                    <a:lnB w="9525" cap="flat" cmpd="sng" algn="ctr">
                      <a:solidFill>
                        <a:srgbClr val="333333"/>
                      </a:solidFill>
                      <a:prstDash val="solid"/>
                      <a:round/>
                      <a:headEnd type="none" w="med" len="med"/>
                      <a:tailEnd type="none" w="med" len="med"/>
                    </a:lnB>
                    <a:solidFill>
                      <a:srgbClr val="000000"/>
                    </a:solidFill>
                  </a:tcPr>
                </a:tc>
                <a:tc>
                  <a:txBody>
                    <a:bodyPr/>
                    <a:lstStyle/>
                    <a:p>
                      <a:pPr indent="0" marL="0">
                        <a:buNone/>
                      </a:pPr>
                      <a:r>
                        <a:rPr lang="en-US" sz="1300" dirty="0">
                          <a:solidFill>
                            <a:srgbClr val="FFFFFF"/>
                          </a:solidFill>
                        </a:rPr>
                        <a:t>Gemini invented a name</a:t>
                      </a:r>
                      <a:endParaRPr lang="en-US" sz="1300" dirty="0"/>
                    </a:p>
                  </a:txBody>
                  <a:tcPr marL="73152" marR="73152" marT="73152" marB="73152" anchor="ctr">
                    <a:lnL w="9525" cap="flat" cmpd="sng" algn="ctr">
                      <a:solidFill>
                        <a:srgbClr val="333333"/>
                      </a:solidFill>
                      <a:prstDash val="solid"/>
                      <a:round/>
                      <a:headEnd type="none" w="med" len="med"/>
                      <a:tailEnd type="none" w="med" len="med"/>
                    </a:lnL>
                    <a:lnR w="9525" cap="flat" cmpd="sng" algn="ctr">
                      <a:solidFill>
                        <a:srgbClr val="333333"/>
                      </a:solidFill>
                      <a:prstDash val="solid"/>
                      <a:round/>
                      <a:headEnd type="none" w="med" len="med"/>
                      <a:tailEnd type="none" w="med" len="med"/>
                    </a:lnR>
                    <a:lnT w="9525" cap="flat" cmpd="sng" algn="ctr">
                      <a:solidFill>
                        <a:srgbClr val="333333"/>
                      </a:solidFill>
                      <a:prstDash val="solid"/>
                      <a:round/>
                      <a:headEnd type="none" w="med" len="med"/>
                      <a:tailEnd type="none" w="med" len="med"/>
                    </a:lnT>
                    <a:lnB w="9525" cap="flat" cmpd="sng" algn="ctr">
                      <a:solidFill>
                        <a:srgbClr val="333333"/>
                      </a:solidFill>
                      <a:prstDash val="solid"/>
                      <a:round/>
                      <a:headEnd type="none" w="med" len="med"/>
                      <a:tailEnd type="none" w="med" len="med"/>
                    </a:lnB>
                    <a:solidFill>
                      <a:srgbClr val="000000"/>
                    </a:solidFill>
                  </a:tcPr>
                </a:tc>
                <a:tc>
                  <a:txBody>
                    <a:bodyPr/>
                    <a:lstStyle/>
                    <a:p>
                      <a:pPr indent="0" marL="0">
                        <a:buNone/>
                      </a:pPr>
                      <a:r>
                        <a:rPr lang="en-US" sz="1300" dirty="0">
                          <a:solidFill>
                            <a:srgbClr val="FFFFFF"/>
                          </a:solidFill>
                        </a:rPr>
                        <a:t>Paste the error back: “Fix this compile error”</a:t>
                      </a:r>
                      <a:endParaRPr lang="en-US" sz="1300" dirty="0"/>
                    </a:p>
                  </a:txBody>
                  <a:tcPr marL="73152" marR="73152" marT="73152" marB="73152" anchor="ctr">
                    <a:lnL w="9525" cap="flat" cmpd="sng" algn="ctr">
                      <a:solidFill>
                        <a:srgbClr val="333333"/>
                      </a:solidFill>
                      <a:prstDash val="solid"/>
                      <a:round/>
                      <a:headEnd type="none" w="med" len="med"/>
                      <a:tailEnd type="none" w="med" len="med"/>
                    </a:lnL>
                    <a:lnR w="9525" cap="flat" cmpd="sng" algn="ctr">
                      <a:solidFill>
                        <a:srgbClr val="333333"/>
                      </a:solidFill>
                      <a:prstDash val="solid"/>
                      <a:round/>
                      <a:headEnd type="none" w="med" len="med"/>
                      <a:tailEnd type="none" w="med" len="med"/>
                    </a:lnR>
                    <a:lnT w="9525" cap="flat" cmpd="sng" algn="ctr">
                      <a:solidFill>
                        <a:srgbClr val="333333"/>
                      </a:solidFill>
                      <a:prstDash val="solid"/>
                      <a:round/>
                      <a:headEnd type="none" w="med" len="med"/>
                      <a:tailEnd type="none" w="med" len="med"/>
                    </a:lnT>
                    <a:lnB w="9525" cap="flat" cmpd="sng" algn="ctr">
                      <a:solidFill>
                        <a:srgbClr val="333333"/>
                      </a:solidFill>
                      <a:prstDash val="solid"/>
                      <a:round/>
                      <a:headEnd type="none" w="med" len="med"/>
                      <a:tailEnd type="none" w="med" len="med"/>
                    </a:lnB>
                    <a:solidFill>
                      <a:srgbClr val="000000"/>
                    </a:solidFill>
                  </a:tcPr>
                </a:tc>
              </a:tr>
              <a:tr h="502920">
                <a:tc>
                  <a:txBody>
                    <a:bodyPr/>
                    <a:lstStyle/>
                    <a:p>
                      <a:pPr indent="0" marL="0">
                        <a:buNone/>
                      </a:pPr>
                      <a:r>
                        <a:rPr lang="en-US" sz="1300" dirty="0">
                          <a:solidFill>
                            <a:srgbClr val="FFFFFF"/>
                          </a:solidFill>
                        </a:rPr>
                        <a:t>Strafe is mirrored</a:t>
                      </a:r>
                      <a:endParaRPr lang="en-US" sz="1300" dirty="0"/>
                    </a:p>
                  </a:txBody>
                  <a:tcPr marL="73152" marR="73152" marT="73152" marB="73152" anchor="ctr">
                    <a:lnL w="9525" cap="flat" cmpd="sng" algn="ctr">
                      <a:solidFill>
                        <a:srgbClr val="333333"/>
                      </a:solidFill>
                      <a:prstDash val="solid"/>
                      <a:round/>
                      <a:headEnd type="none" w="med" len="med"/>
                      <a:tailEnd type="none" w="med" len="med"/>
                    </a:lnL>
                    <a:lnR w="9525" cap="flat" cmpd="sng" algn="ctr">
                      <a:solidFill>
                        <a:srgbClr val="333333"/>
                      </a:solidFill>
                      <a:prstDash val="solid"/>
                      <a:round/>
                      <a:headEnd type="none" w="med" len="med"/>
                      <a:tailEnd type="none" w="med" len="med"/>
                    </a:lnR>
                    <a:lnT w="9525" cap="flat" cmpd="sng" algn="ctr">
                      <a:solidFill>
                        <a:srgbClr val="333333"/>
                      </a:solidFill>
                      <a:prstDash val="solid"/>
                      <a:round/>
                      <a:headEnd type="none" w="med" len="med"/>
                      <a:tailEnd type="none" w="med" len="med"/>
                    </a:lnT>
                    <a:lnB w="9525" cap="flat" cmpd="sng" algn="ctr">
                      <a:solidFill>
                        <a:srgbClr val="333333"/>
                      </a:solidFill>
                      <a:prstDash val="solid"/>
                      <a:round/>
                      <a:headEnd type="none" w="med" len="med"/>
                      <a:tailEnd type="none" w="med" len="med"/>
                    </a:lnB>
                    <a:solidFill>
                      <a:srgbClr val="000000"/>
                    </a:solidFill>
                  </a:tcPr>
                </a:tc>
                <a:tc>
                  <a:txBody>
                    <a:bodyPr/>
                    <a:lstStyle/>
                    <a:p>
                      <a:pPr indent="0" marL="0">
                        <a:buNone/>
                      </a:pPr>
                      <a:r>
                        <a:rPr lang="en-US" sz="1300" dirty="0">
                          <a:solidFill>
                            <a:srgbClr val="FFFFFF"/>
                          </a:solidFill>
                        </a:rPr>
                        <a:t>Mecanum mixing signs</a:t>
                      </a:r>
                      <a:endParaRPr lang="en-US" sz="1300" dirty="0"/>
                    </a:p>
                  </a:txBody>
                  <a:tcPr marL="73152" marR="73152" marT="73152" marB="73152" anchor="ctr">
                    <a:lnL w="9525" cap="flat" cmpd="sng" algn="ctr">
                      <a:solidFill>
                        <a:srgbClr val="333333"/>
                      </a:solidFill>
                      <a:prstDash val="solid"/>
                      <a:round/>
                      <a:headEnd type="none" w="med" len="med"/>
                      <a:tailEnd type="none" w="med" len="med"/>
                    </a:lnL>
                    <a:lnR w="9525" cap="flat" cmpd="sng" algn="ctr">
                      <a:solidFill>
                        <a:srgbClr val="333333"/>
                      </a:solidFill>
                      <a:prstDash val="solid"/>
                      <a:round/>
                      <a:headEnd type="none" w="med" len="med"/>
                      <a:tailEnd type="none" w="med" len="med"/>
                    </a:lnR>
                    <a:lnT w="9525" cap="flat" cmpd="sng" algn="ctr">
                      <a:solidFill>
                        <a:srgbClr val="333333"/>
                      </a:solidFill>
                      <a:prstDash val="solid"/>
                      <a:round/>
                      <a:headEnd type="none" w="med" len="med"/>
                      <a:tailEnd type="none" w="med" len="med"/>
                    </a:lnT>
                    <a:lnB w="9525" cap="flat" cmpd="sng" algn="ctr">
                      <a:solidFill>
                        <a:srgbClr val="333333"/>
                      </a:solidFill>
                      <a:prstDash val="solid"/>
                      <a:round/>
                      <a:headEnd type="none" w="med" len="med"/>
                      <a:tailEnd type="none" w="med" len="med"/>
                    </a:lnB>
                    <a:solidFill>
                      <a:srgbClr val="000000"/>
                    </a:solidFill>
                  </a:tcPr>
                </a:tc>
                <a:tc>
                  <a:txBody>
                    <a:bodyPr/>
                    <a:lstStyle/>
                    <a:p>
                      <a:pPr indent="0" marL="0">
                        <a:buNone/>
                      </a:pPr>
                      <a:r>
                        <a:rPr lang="en-US" sz="1300" i="1" dirty="0">
                          <a:solidFill>
                            <a:srgbClr val="FFFFFF"/>
                          </a:solidFill>
                        </a:rPr>
                        <a:t>“holding both joysticks left made the robot strafe right, and vice versa. please fix”</a:t>
                      </a:r>
                      <a:endParaRPr lang="en-US" sz="1300" dirty="0"/>
                    </a:p>
                  </a:txBody>
                  <a:tcPr marL="73152" marR="73152" marT="73152" marB="73152" anchor="ctr">
                    <a:lnL w="9525" cap="flat" cmpd="sng" algn="ctr">
                      <a:solidFill>
                        <a:srgbClr val="333333"/>
                      </a:solidFill>
                      <a:prstDash val="solid"/>
                      <a:round/>
                      <a:headEnd type="none" w="med" len="med"/>
                      <a:tailEnd type="none" w="med" len="med"/>
                    </a:lnL>
                    <a:lnR w="9525" cap="flat" cmpd="sng" algn="ctr">
                      <a:solidFill>
                        <a:srgbClr val="333333"/>
                      </a:solidFill>
                      <a:prstDash val="solid"/>
                      <a:round/>
                      <a:headEnd type="none" w="med" len="med"/>
                      <a:tailEnd type="none" w="med" len="med"/>
                    </a:lnR>
                    <a:lnT w="9525" cap="flat" cmpd="sng" algn="ctr">
                      <a:solidFill>
                        <a:srgbClr val="333333"/>
                      </a:solidFill>
                      <a:prstDash val="solid"/>
                      <a:round/>
                      <a:headEnd type="none" w="med" len="med"/>
                      <a:tailEnd type="none" w="med" len="med"/>
                    </a:lnT>
                    <a:lnB w="9525" cap="flat" cmpd="sng" algn="ctr">
                      <a:solidFill>
                        <a:srgbClr val="333333"/>
                      </a:solidFill>
                      <a:prstDash val="solid"/>
                      <a:round/>
                      <a:headEnd type="none" w="med" len="med"/>
                      <a:tailEnd type="none" w="med" len="med"/>
                    </a:lnB>
                    <a:solidFill>
                      <a:srgbClr val="000000"/>
                    </a:solidFill>
                  </a:tcPr>
                </a:tc>
              </a:tr>
              <a:tr h="502920">
                <a:tc>
                  <a:txBody>
                    <a:bodyPr/>
                    <a:lstStyle/>
                    <a:p>
                      <a:pPr indent="0" marL="0">
                        <a:buNone/>
                      </a:pPr>
                      <a:r>
                        <a:rPr lang="en-US" sz="1300" dirty="0">
                          <a:solidFill>
                            <a:srgbClr val="FFFFFF"/>
                          </a:solidFill>
                        </a:rPr>
                        <a:t>Flywheel startup spits balls out</a:t>
                      </a:r>
                      <a:endParaRPr lang="en-US" sz="1300" dirty="0"/>
                    </a:p>
                  </a:txBody>
                  <a:tcPr marL="73152" marR="73152" marT="73152" marB="73152" anchor="ctr">
                    <a:lnL w="9525" cap="flat" cmpd="sng" algn="ctr">
                      <a:solidFill>
                        <a:srgbClr val="333333"/>
                      </a:solidFill>
                      <a:prstDash val="solid"/>
                      <a:round/>
                      <a:headEnd type="none" w="med" len="med"/>
                      <a:tailEnd type="none" w="med" len="med"/>
                    </a:lnL>
                    <a:lnR w="9525" cap="flat" cmpd="sng" algn="ctr">
                      <a:solidFill>
                        <a:srgbClr val="333333"/>
                      </a:solidFill>
                      <a:prstDash val="solid"/>
                      <a:round/>
                      <a:headEnd type="none" w="med" len="med"/>
                      <a:tailEnd type="none" w="med" len="med"/>
                    </a:lnR>
                    <a:lnT w="9525" cap="flat" cmpd="sng" algn="ctr">
                      <a:solidFill>
                        <a:srgbClr val="333333"/>
                      </a:solidFill>
                      <a:prstDash val="solid"/>
                      <a:round/>
                      <a:headEnd type="none" w="med" len="med"/>
                      <a:tailEnd type="none" w="med" len="med"/>
                    </a:lnT>
                    <a:lnB w="9525" cap="flat" cmpd="sng" algn="ctr">
                      <a:solidFill>
                        <a:srgbClr val="333333"/>
                      </a:solidFill>
                      <a:prstDash val="solid"/>
                      <a:round/>
                      <a:headEnd type="none" w="med" len="med"/>
                      <a:tailEnd type="none" w="med" len="med"/>
                    </a:lnB>
                    <a:solidFill>
                      <a:srgbClr val="000000"/>
                    </a:solidFill>
                  </a:tcPr>
                </a:tc>
                <a:tc>
                  <a:txBody>
                    <a:bodyPr/>
                    <a:lstStyle/>
                    <a:p>
                      <a:pPr indent="0" marL="0">
                        <a:buNone/>
                      </a:pPr>
                      <a:r>
                        <a:rPr lang="en-US" sz="1300" dirty="0">
                          <a:solidFill>
                            <a:srgbClr val="FFFFFF"/>
                          </a:solidFill>
                        </a:rPr>
                        <a:t>Reverse bump too long</a:t>
                      </a:r>
                      <a:endParaRPr lang="en-US" sz="1300" dirty="0"/>
                    </a:p>
                  </a:txBody>
                  <a:tcPr marL="73152" marR="73152" marT="73152" marB="73152" anchor="ctr">
                    <a:lnL w="9525" cap="flat" cmpd="sng" algn="ctr">
                      <a:solidFill>
                        <a:srgbClr val="333333"/>
                      </a:solidFill>
                      <a:prstDash val="solid"/>
                      <a:round/>
                      <a:headEnd type="none" w="med" len="med"/>
                      <a:tailEnd type="none" w="med" len="med"/>
                    </a:lnL>
                    <a:lnR w="9525" cap="flat" cmpd="sng" algn="ctr">
                      <a:solidFill>
                        <a:srgbClr val="333333"/>
                      </a:solidFill>
                      <a:prstDash val="solid"/>
                      <a:round/>
                      <a:headEnd type="none" w="med" len="med"/>
                      <a:tailEnd type="none" w="med" len="med"/>
                    </a:lnR>
                    <a:lnT w="9525" cap="flat" cmpd="sng" algn="ctr">
                      <a:solidFill>
                        <a:srgbClr val="333333"/>
                      </a:solidFill>
                      <a:prstDash val="solid"/>
                      <a:round/>
                      <a:headEnd type="none" w="med" len="med"/>
                      <a:tailEnd type="none" w="med" len="med"/>
                    </a:lnT>
                    <a:lnB w="9525" cap="flat" cmpd="sng" algn="ctr">
                      <a:solidFill>
                        <a:srgbClr val="333333"/>
                      </a:solidFill>
                      <a:prstDash val="solid"/>
                      <a:round/>
                      <a:headEnd type="none" w="med" len="med"/>
                      <a:tailEnd type="none" w="med" len="med"/>
                    </a:lnB>
                    <a:solidFill>
                      <a:srgbClr val="000000"/>
                    </a:solidFill>
                  </a:tcPr>
                </a:tc>
                <a:tc>
                  <a:txBody>
                    <a:bodyPr/>
                    <a:lstStyle/>
                    <a:p>
                      <a:pPr indent="0" marL="0">
                        <a:buNone/>
                      </a:pPr>
                      <a:r>
                        <a:rPr lang="en-US" sz="1300" i="1" dirty="0">
                          <a:solidFill>
                            <a:srgbClr val="FFFFFF"/>
                          </a:solidFill>
                        </a:rPr>
                        <a:t>“what is the current time of spinning the motors back…? it is spitting balls out, so i would like to shorten it”</a:t>
                      </a:r>
                      <a:endParaRPr lang="en-US" sz="1300" dirty="0"/>
                    </a:p>
                  </a:txBody>
                  <a:tcPr marL="73152" marR="73152" marT="73152" marB="73152" anchor="ctr">
                    <a:lnL w="9525" cap="flat" cmpd="sng" algn="ctr">
                      <a:solidFill>
                        <a:srgbClr val="333333"/>
                      </a:solidFill>
                      <a:prstDash val="solid"/>
                      <a:round/>
                      <a:headEnd type="none" w="med" len="med"/>
                      <a:tailEnd type="none" w="med" len="med"/>
                    </a:lnL>
                    <a:lnR w="9525" cap="flat" cmpd="sng" algn="ctr">
                      <a:solidFill>
                        <a:srgbClr val="333333"/>
                      </a:solidFill>
                      <a:prstDash val="solid"/>
                      <a:round/>
                      <a:headEnd type="none" w="med" len="med"/>
                      <a:tailEnd type="none" w="med" len="med"/>
                    </a:lnR>
                    <a:lnT w="9525" cap="flat" cmpd="sng" algn="ctr">
                      <a:solidFill>
                        <a:srgbClr val="333333"/>
                      </a:solidFill>
                      <a:prstDash val="solid"/>
                      <a:round/>
                      <a:headEnd type="none" w="med" len="med"/>
                      <a:tailEnd type="none" w="med" len="med"/>
                    </a:lnT>
                    <a:lnB w="9525" cap="flat" cmpd="sng" algn="ctr">
                      <a:solidFill>
                        <a:srgbClr val="333333"/>
                      </a:solidFill>
                      <a:prstDash val="solid"/>
                      <a:round/>
                      <a:headEnd type="none" w="med" len="med"/>
                      <a:tailEnd type="none" w="med" len="med"/>
                    </a:lnB>
                    <a:solidFill>
                      <a:srgbClr val="000000"/>
                    </a:solidFill>
                  </a:tcPr>
                </a:tc>
              </a:tr>
              <a:tr h="502920">
                <a:tc>
                  <a:txBody>
                    <a:bodyPr/>
                    <a:lstStyle/>
                    <a:p>
                      <a:pPr indent="0" marL="0">
                        <a:buNone/>
                      </a:pPr>
                      <a:r>
                        <a:rPr lang="en-US" sz="1300" dirty="0">
                          <a:solidFill>
                            <a:srgbClr val="FFFFFF"/>
                          </a:solidFill>
                        </a:rPr>
                        <a:t>Two controls on one button</a:t>
                      </a:r>
                      <a:endParaRPr lang="en-US" sz="1300" dirty="0"/>
                    </a:p>
                  </a:txBody>
                  <a:tcPr marL="73152" marR="73152" marT="73152" marB="73152" anchor="ctr">
                    <a:lnL w="9525" cap="flat" cmpd="sng" algn="ctr">
                      <a:solidFill>
                        <a:srgbClr val="333333"/>
                      </a:solidFill>
                      <a:prstDash val="solid"/>
                      <a:round/>
                      <a:headEnd type="none" w="med" len="med"/>
                      <a:tailEnd type="none" w="med" len="med"/>
                    </a:lnL>
                    <a:lnR w="9525" cap="flat" cmpd="sng" algn="ctr">
                      <a:solidFill>
                        <a:srgbClr val="333333"/>
                      </a:solidFill>
                      <a:prstDash val="solid"/>
                      <a:round/>
                      <a:headEnd type="none" w="med" len="med"/>
                      <a:tailEnd type="none" w="med" len="med"/>
                    </a:lnR>
                    <a:lnT w="9525" cap="flat" cmpd="sng" algn="ctr">
                      <a:solidFill>
                        <a:srgbClr val="333333"/>
                      </a:solidFill>
                      <a:prstDash val="solid"/>
                      <a:round/>
                      <a:headEnd type="none" w="med" len="med"/>
                      <a:tailEnd type="none" w="med" len="med"/>
                    </a:lnT>
                    <a:lnB w="9525" cap="flat" cmpd="sng" algn="ctr">
                      <a:solidFill>
                        <a:srgbClr val="333333"/>
                      </a:solidFill>
                      <a:prstDash val="solid"/>
                      <a:round/>
                      <a:headEnd type="none" w="med" len="med"/>
                      <a:tailEnd type="none" w="med" len="med"/>
                    </a:lnB>
                    <a:solidFill>
                      <a:srgbClr val="000000"/>
                    </a:solidFill>
                  </a:tcPr>
                </a:tc>
                <a:tc>
                  <a:txBody>
                    <a:bodyPr/>
                    <a:lstStyle/>
                    <a:p>
                      <a:pPr indent="0" marL="0">
                        <a:buNone/>
                      </a:pPr>
                      <a:r>
                        <a:rPr lang="en-US" sz="1300" dirty="0">
                          <a:solidFill>
                            <a:srgbClr val="FFFFFF"/>
                          </a:solidFill>
                        </a:rPr>
                        <a:t>Control scheme drifted</a:t>
                      </a:r>
                      <a:endParaRPr lang="en-US" sz="1300" dirty="0"/>
                    </a:p>
                  </a:txBody>
                  <a:tcPr marL="73152" marR="73152" marT="73152" marB="73152" anchor="ctr">
                    <a:lnL w="9525" cap="flat" cmpd="sng" algn="ctr">
                      <a:solidFill>
                        <a:srgbClr val="333333"/>
                      </a:solidFill>
                      <a:prstDash val="solid"/>
                      <a:round/>
                      <a:headEnd type="none" w="med" len="med"/>
                      <a:tailEnd type="none" w="med" len="med"/>
                    </a:lnL>
                    <a:lnR w="9525" cap="flat" cmpd="sng" algn="ctr">
                      <a:solidFill>
                        <a:srgbClr val="333333"/>
                      </a:solidFill>
                      <a:prstDash val="solid"/>
                      <a:round/>
                      <a:headEnd type="none" w="med" len="med"/>
                      <a:tailEnd type="none" w="med" len="med"/>
                    </a:lnR>
                    <a:lnT w="9525" cap="flat" cmpd="sng" algn="ctr">
                      <a:solidFill>
                        <a:srgbClr val="333333"/>
                      </a:solidFill>
                      <a:prstDash val="solid"/>
                      <a:round/>
                      <a:headEnd type="none" w="med" len="med"/>
                      <a:tailEnd type="none" w="med" len="med"/>
                    </a:lnT>
                    <a:lnB w="9525" cap="flat" cmpd="sng" algn="ctr">
                      <a:solidFill>
                        <a:srgbClr val="333333"/>
                      </a:solidFill>
                      <a:prstDash val="solid"/>
                      <a:round/>
                      <a:headEnd type="none" w="med" len="med"/>
                      <a:tailEnd type="none" w="med" len="med"/>
                    </a:lnB>
                    <a:solidFill>
                      <a:srgbClr val="000000"/>
                    </a:solidFill>
                  </a:tcPr>
                </a:tc>
                <a:tc>
                  <a:txBody>
                    <a:bodyPr/>
                    <a:lstStyle/>
                    <a:p>
                      <a:pPr indent="0" marL="0">
                        <a:buNone/>
                      </a:pPr>
                      <a:r>
                        <a:rPr lang="en-US" sz="1300" i="1" dirty="0">
                          <a:solidFill>
                            <a:srgbClr val="FFFFFF"/>
                          </a:solidFill>
                        </a:rPr>
                        <a:t>“I thought gamepad 1 dpad was slow mode, not tuning the flywheel.”</a:t>
                      </a:r>
                      <a:endParaRPr lang="en-US" sz="1300" dirty="0"/>
                    </a:p>
                  </a:txBody>
                  <a:tcPr marL="73152" marR="73152" marT="73152" marB="73152" anchor="ctr">
                    <a:lnL w="9525" cap="flat" cmpd="sng" algn="ctr">
                      <a:solidFill>
                        <a:srgbClr val="333333"/>
                      </a:solidFill>
                      <a:prstDash val="solid"/>
                      <a:round/>
                      <a:headEnd type="none" w="med" len="med"/>
                      <a:tailEnd type="none" w="med" len="med"/>
                    </a:lnL>
                    <a:lnR w="9525" cap="flat" cmpd="sng" algn="ctr">
                      <a:solidFill>
                        <a:srgbClr val="333333"/>
                      </a:solidFill>
                      <a:prstDash val="solid"/>
                      <a:round/>
                      <a:headEnd type="none" w="med" len="med"/>
                      <a:tailEnd type="none" w="med" len="med"/>
                    </a:lnR>
                    <a:lnT w="9525" cap="flat" cmpd="sng" algn="ctr">
                      <a:solidFill>
                        <a:srgbClr val="333333"/>
                      </a:solidFill>
                      <a:prstDash val="solid"/>
                      <a:round/>
                      <a:headEnd type="none" w="med" len="med"/>
                      <a:tailEnd type="none" w="med" len="med"/>
                    </a:lnT>
                    <a:lnB w="9525" cap="flat" cmpd="sng" algn="ctr">
                      <a:solidFill>
                        <a:srgbClr val="333333"/>
                      </a:solidFill>
                      <a:prstDash val="solid"/>
                      <a:round/>
                      <a:headEnd type="none" w="med" len="med"/>
                      <a:tailEnd type="none" w="med" len="med"/>
                    </a:lnB>
                    <a:solidFill>
                      <a:srgbClr val="000000"/>
                    </a:solidFill>
                  </a:tcPr>
                </a:tc>
              </a:tr>
              <a:tr h="502920">
                <a:tc>
                  <a:txBody>
                    <a:bodyPr/>
                    <a:lstStyle/>
                    <a:p>
                      <a:pPr indent="0" marL="0">
                        <a:buNone/>
                      </a:pPr>
                      <a:r>
                        <a:rPr lang="en-US" sz="1300" dirty="0">
                          <a:solidFill>
                            <a:srgbClr val="FFFFFF"/>
                          </a:solidFill>
                        </a:rPr>
                        <a:t>Auto drives the intake through a fake gamepad</a:t>
                      </a:r>
                      <a:endParaRPr lang="en-US" sz="1300" dirty="0"/>
                    </a:p>
                  </a:txBody>
                  <a:tcPr marL="73152" marR="73152" marT="73152" marB="73152" anchor="ctr">
                    <a:lnL w="9525" cap="flat" cmpd="sng" algn="ctr">
                      <a:solidFill>
                        <a:srgbClr val="333333"/>
                      </a:solidFill>
                      <a:prstDash val="solid"/>
                      <a:round/>
                      <a:headEnd type="none" w="med" len="med"/>
                      <a:tailEnd type="none" w="med" len="med"/>
                    </a:lnL>
                    <a:lnR w="9525" cap="flat" cmpd="sng" algn="ctr">
                      <a:solidFill>
                        <a:srgbClr val="333333"/>
                      </a:solidFill>
                      <a:prstDash val="solid"/>
                      <a:round/>
                      <a:headEnd type="none" w="med" len="med"/>
                      <a:tailEnd type="none" w="med" len="med"/>
                    </a:lnR>
                    <a:lnT w="9525" cap="flat" cmpd="sng" algn="ctr">
                      <a:solidFill>
                        <a:srgbClr val="333333"/>
                      </a:solidFill>
                      <a:prstDash val="solid"/>
                      <a:round/>
                      <a:headEnd type="none" w="med" len="med"/>
                      <a:tailEnd type="none" w="med" len="med"/>
                    </a:lnT>
                    <a:lnB w="9525" cap="flat" cmpd="sng" algn="ctr">
                      <a:solidFill>
                        <a:srgbClr val="333333"/>
                      </a:solidFill>
                      <a:prstDash val="solid"/>
                      <a:round/>
                      <a:headEnd type="none" w="med" len="med"/>
                      <a:tailEnd type="none" w="med" len="med"/>
                    </a:lnB>
                    <a:solidFill>
                      <a:srgbClr val="000000"/>
                    </a:solidFill>
                  </a:tcPr>
                </a:tc>
                <a:tc>
                  <a:txBody>
                    <a:bodyPr/>
                    <a:lstStyle/>
                    <a:p>
                      <a:pPr indent="0" marL="0">
                        <a:buNone/>
                      </a:pPr>
                      <a:r>
                        <a:rPr lang="en-US" sz="1300" dirty="0">
                          <a:solidFill>
                            <a:srgbClr val="FFFFFF"/>
                          </a:solidFill>
                        </a:rPr>
                        <a:t>Nobody told Gemini an autonomous was coming</a:t>
                      </a:r>
                      <a:endParaRPr lang="en-US" sz="1300" dirty="0"/>
                    </a:p>
                  </a:txBody>
                  <a:tcPr marL="73152" marR="73152" marT="73152" marB="73152" anchor="ctr">
                    <a:lnL w="9525" cap="flat" cmpd="sng" algn="ctr">
                      <a:solidFill>
                        <a:srgbClr val="333333"/>
                      </a:solidFill>
                      <a:prstDash val="solid"/>
                      <a:round/>
                      <a:headEnd type="none" w="med" len="med"/>
                      <a:tailEnd type="none" w="med" len="med"/>
                    </a:lnL>
                    <a:lnR w="9525" cap="flat" cmpd="sng" algn="ctr">
                      <a:solidFill>
                        <a:srgbClr val="333333"/>
                      </a:solidFill>
                      <a:prstDash val="solid"/>
                      <a:round/>
                      <a:headEnd type="none" w="med" len="med"/>
                      <a:tailEnd type="none" w="med" len="med"/>
                    </a:lnR>
                    <a:lnT w="9525" cap="flat" cmpd="sng" algn="ctr">
                      <a:solidFill>
                        <a:srgbClr val="333333"/>
                      </a:solidFill>
                      <a:prstDash val="solid"/>
                      <a:round/>
                      <a:headEnd type="none" w="med" len="med"/>
                      <a:tailEnd type="none" w="med" len="med"/>
                    </a:lnT>
                    <a:lnB w="9525" cap="flat" cmpd="sng" algn="ctr">
                      <a:solidFill>
                        <a:srgbClr val="333333"/>
                      </a:solidFill>
                      <a:prstDash val="solid"/>
                      <a:round/>
                      <a:headEnd type="none" w="med" len="med"/>
                      <a:tailEnd type="none" w="med" len="med"/>
                    </a:lnB>
                    <a:solidFill>
                      <a:srgbClr val="000000"/>
                    </a:solidFill>
                  </a:tcPr>
                </a:tc>
                <a:tc>
                  <a:txBody>
                    <a:bodyPr/>
                    <a:lstStyle/>
                    <a:p>
                      <a:pPr indent="0" marL="0">
                        <a:buNone/>
                      </a:pPr>
                      <a:r>
                        <a:rPr lang="en-US" sz="1300" dirty="0">
                          <a:solidFill>
                            <a:srgbClr val="FFFFFF"/>
                          </a:solidFill>
                        </a:rPr>
                        <a:t>Say it up front: “An autonomous will use this class later, so put the behavior in plain methods.” Gemini takes the expedient route unless you say what's coming.</a:t>
                      </a:r>
                      <a:endParaRPr lang="en-US" sz="1300" dirty="0"/>
                    </a:p>
                  </a:txBody>
                  <a:tcPr marL="73152" marR="73152" marT="73152" marB="73152" anchor="ctr">
                    <a:lnL w="9525" cap="flat" cmpd="sng" algn="ctr">
                      <a:solidFill>
                        <a:srgbClr val="333333"/>
                      </a:solidFill>
                      <a:prstDash val="solid"/>
                      <a:round/>
                      <a:headEnd type="none" w="med" len="med"/>
                      <a:tailEnd type="none" w="med" len="med"/>
                    </a:lnL>
                    <a:lnR w="9525" cap="flat" cmpd="sng" algn="ctr">
                      <a:solidFill>
                        <a:srgbClr val="333333"/>
                      </a:solidFill>
                      <a:prstDash val="solid"/>
                      <a:round/>
                      <a:headEnd type="none" w="med" len="med"/>
                      <a:tailEnd type="none" w="med" len="med"/>
                    </a:lnR>
                    <a:lnT w="9525" cap="flat" cmpd="sng" algn="ctr">
                      <a:solidFill>
                        <a:srgbClr val="333333"/>
                      </a:solidFill>
                      <a:prstDash val="solid"/>
                      <a:round/>
                      <a:headEnd type="none" w="med" len="med"/>
                      <a:tailEnd type="none" w="med" len="med"/>
                    </a:lnT>
                    <a:lnB w="9525" cap="flat" cmpd="sng" algn="ctr">
                      <a:solidFill>
                        <a:srgbClr val="333333"/>
                      </a:solidFill>
                      <a:prstDash val="solid"/>
                      <a:round/>
                      <a:headEnd type="none" w="med" len="med"/>
                      <a:tailEnd type="none" w="med" len="med"/>
                    </a:lnB>
                    <a:solidFill>
                      <a:srgbClr val="000000"/>
                    </a:solidFill>
                  </a:tcPr>
                </a:tc>
              </a:tr>
              <a:tr h="502920">
                <a:tc>
                  <a:txBody>
                    <a:bodyPr/>
                    <a:lstStyle/>
                    <a:p>
                      <a:pPr indent="0" marL="0">
                        <a:buNone/>
                      </a:pPr>
                      <a:r>
                        <a:rPr lang="en-US" sz="1300" dirty="0">
                          <a:solidFill>
                            <a:srgbClr val="FFFFFF"/>
                          </a:solidFill>
                        </a:rPr>
                        <a:t>Auto runs over 30 s</a:t>
                      </a:r>
                      <a:endParaRPr lang="en-US" sz="1300" dirty="0"/>
                    </a:p>
                  </a:txBody>
                  <a:tcPr marL="73152" marR="73152" marT="73152" marB="73152" anchor="ctr">
                    <a:lnL w="9525" cap="flat" cmpd="sng" algn="ctr">
                      <a:solidFill>
                        <a:srgbClr val="333333"/>
                      </a:solidFill>
                      <a:prstDash val="solid"/>
                      <a:round/>
                      <a:headEnd type="none" w="med" len="med"/>
                      <a:tailEnd type="none" w="med" len="med"/>
                    </a:lnL>
                    <a:lnR w="9525" cap="flat" cmpd="sng" algn="ctr">
                      <a:solidFill>
                        <a:srgbClr val="333333"/>
                      </a:solidFill>
                      <a:prstDash val="solid"/>
                      <a:round/>
                      <a:headEnd type="none" w="med" len="med"/>
                      <a:tailEnd type="none" w="med" len="med"/>
                    </a:lnR>
                    <a:lnT w="9525" cap="flat" cmpd="sng" algn="ctr">
                      <a:solidFill>
                        <a:srgbClr val="333333"/>
                      </a:solidFill>
                      <a:prstDash val="solid"/>
                      <a:round/>
                      <a:headEnd type="none" w="med" len="med"/>
                      <a:tailEnd type="none" w="med" len="med"/>
                    </a:lnT>
                    <a:lnB w="9525" cap="flat" cmpd="sng" algn="ctr">
                      <a:solidFill>
                        <a:srgbClr val="333333"/>
                      </a:solidFill>
                      <a:prstDash val="solid"/>
                      <a:round/>
                      <a:headEnd type="none" w="med" len="med"/>
                      <a:tailEnd type="none" w="med" len="med"/>
                    </a:lnB>
                    <a:solidFill>
                      <a:srgbClr val="000000"/>
                    </a:solidFill>
                  </a:tcPr>
                </a:tc>
                <a:tc>
                  <a:txBody>
                    <a:bodyPr/>
                    <a:lstStyle/>
                    <a:p>
                      <a:pPr indent="0" marL="0">
                        <a:buNone/>
                      </a:pPr>
                      <a:r>
                        <a:rPr lang="en-US" sz="1300" dirty="0">
                          <a:solidFill>
                            <a:srgbClr val="FFFFFF"/>
                          </a:solidFill>
                        </a:rPr>
                        <a:t>Gemini was told the limit; nobody saw the sum</a:t>
                      </a:r>
                      <a:endParaRPr lang="en-US" sz="1300" dirty="0"/>
                    </a:p>
                  </a:txBody>
                  <a:tcPr marL="73152" marR="73152" marT="73152" marB="73152" anchor="ctr">
                    <a:lnL w="9525" cap="flat" cmpd="sng" algn="ctr">
                      <a:solidFill>
                        <a:srgbClr val="333333"/>
                      </a:solidFill>
                      <a:prstDash val="solid"/>
                      <a:round/>
                      <a:headEnd type="none" w="med" len="med"/>
                      <a:tailEnd type="none" w="med" len="med"/>
                    </a:lnL>
                    <a:lnR w="9525" cap="flat" cmpd="sng" algn="ctr">
                      <a:solidFill>
                        <a:srgbClr val="333333"/>
                      </a:solidFill>
                      <a:prstDash val="solid"/>
                      <a:round/>
                      <a:headEnd type="none" w="med" len="med"/>
                      <a:tailEnd type="none" w="med" len="med"/>
                    </a:lnR>
                    <a:lnT w="9525" cap="flat" cmpd="sng" algn="ctr">
                      <a:solidFill>
                        <a:srgbClr val="333333"/>
                      </a:solidFill>
                      <a:prstDash val="solid"/>
                      <a:round/>
                      <a:headEnd type="none" w="med" len="med"/>
                      <a:tailEnd type="none" w="med" len="med"/>
                    </a:lnT>
                    <a:lnB w="9525" cap="flat" cmpd="sng" algn="ctr">
                      <a:solidFill>
                        <a:srgbClr val="333333"/>
                      </a:solidFill>
                      <a:prstDash val="solid"/>
                      <a:round/>
                      <a:headEnd type="none" w="med" len="med"/>
                      <a:tailEnd type="none" w="med" len="med"/>
                    </a:lnB>
                    <a:solidFill>
                      <a:srgbClr val="000000"/>
                    </a:solidFill>
                  </a:tcPr>
                </a:tc>
                <a:tc>
                  <a:txBody>
                    <a:bodyPr/>
                    <a:lstStyle/>
                    <a:p>
                      <a:pPr indent="0" marL="0">
                        <a:buNone/>
                      </a:pPr>
                      <a:r>
                        <a:rPr lang="en-US" sz="1300" dirty="0">
                          <a:solidFill>
                            <a:srgbClr val="FFFFFF"/>
                          </a:solidFill>
                        </a:rPr>
                        <a:t>“Add up every state's duration and tell me the worst-case run time.” Then cut one number.</a:t>
                      </a:r>
                      <a:endParaRPr lang="en-US" sz="1300" dirty="0"/>
                    </a:p>
                  </a:txBody>
                  <a:tcPr marL="73152" marR="73152" marT="73152" marB="73152" anchor="ctr">
                    <a:lnL w="9525" cap="flat" cmpd="sng" algn="ctr">
                      <a:solidFill>
                        <a:srgbClr val="333333"/>
                      </a:solidFill>
                      <a:prstDash val="solid"/>
                      <a:round/>
                      <a:headEnd type="none" w="med" len="med"/>
                      <a:tailEnd type="none" w="med" len="med"/>
                    </a:lnL>
                    <a:lnR w="9525" cap="flat" cmpd="sng" algn="ctr">
                      <a:solidFill>
                        <a:srgbClr val="333333"/>
                      </a:solidFill>
                      <a:prstDash val="solid"/>
                      <a:round/>
                      <a:headEnd type="none" w="med" len="med"/>
                      <a:tailEnd type="none" w="med" len="med"/>
                    </a:lnR>
                    <a:lnT w="9525" cap="flat" cmpd="sng" algn="ctr">
                      <a:solidFill>
                        <a:srgbClr val="333333"/>
                      </a:solidFill>
                      <a:prstDash val="solid"/>
                      <a:round/>
                      <a:headEnd type="none" w="med" len="med"/>
                      <a:tailEnd type="none" w="med" len="med"/>
                    </a:lnT>
                    <a:lnB w="9525" cap="flat" cmpd="sng" algn="ctr">
                      <a:solidFill>
                        <a:srgbClr val="333333"/>
                      </a:solidFill>
                      <a:prstDash val="solid"/>
                      <a:round/>
                      <a:headEnd type="none" w="med" len="med"/>
                      <a:tailEnd type="none" w="med" len="med"/>
                    </a:lnB>
                    <a:solidFill>
                      <a:srgbClr val="000000"/>
                    </a:solidFill>
                  </a:tcPr>
                </a:tc>
              </a:tr>
              <a:tr h="502920">
                <a:tc>
                  <a:txBody>
                    <a:bodyPr/>
                    <a:lstStyle/>
                    <a:p>
                      <a:pPr indent="0" marL="0">
                        <a:buNone/>
                      </a:pPr>
                      <a:r>
                        <a:rPr lang="en-US" sz="1300" dirty="0">
                          <a:solidFill>
                            <a:srgbClr val="FFFFFF"/>
                          </a:solidFill>
                        </a:rPr>
                        <a:t>Gemini rewrote everything, broke what worked</a:t>
                      </a:r>
                      <a:endParaRPr lang="en-US" sz="1300" dirty="0"/>
                    </a:p>
                  </a:txBody>
                  <a:tcPr marL="73152" marR="73152" marT="73152" marB="73152" anchor="ctr">
                    <a:lnL w="9525" cap="flat" cmpd="sng" algn="ctr">
                      <a:solidFill>
                        <a:srgbClr val="333333"/>
                      </a:solidFill>
                      <a:prstDash val="solid"/>
                      <a:round/>
                      <a:headEnd type="none" w="med" len="med"/>
                      <a:tailEnd type="none" w="med" len="med"/>
                    </a:lnL>
                    <a:lnR w="9525" cap="flat" cmpd="sng" algn="ctr">
                      <a:solidFill>
                        <a:srgbClr val="333333"/>
                      </a:solidFill>
                      <a:prstDash val="solid"/>
                      <a:round/>
                      <a:headEnd type="none" w="med" len="med"/>
                      <a:tailEnd type="none" w="med" len="med"/>
                    </a:lnR>
                    <a:lnT w="9525" cap="flat" cmpd="sng" algn="ctr">
                      <a:solidFill>
                        <a:srgbClr val="333333"/>
                      </a:solidFill>
                      <a:prstDash val="solid"/>
                      <a:round/>
                      <a:headEnd type="none" w="med" len="med"/>
                      <a:tailEnd type="none" w="med" len="med"/>
                    </a:lnT>
                    <a:lnB w="9525" cap="flat" cmpd="sng" algn="ctr">
                      <a:solidFill>
                        <a:srgbClr val="333333"/>
                      </a:solidFill>
                      <a:prstDash val="solid"/>
                      <a:round/>
                      <a:headEnd type="none" w="med" len="med"/>
                      <a:tailEnd type="none" w="med" len="med"/>
                    </a:lnB>
                    <a:solidFill>
                      <a:srgbClr val="000000"/>
                    </a:solidFill>
                  </a:tcPr>
                </a:tc>
                <a:tc>
                  <a:txBody>
                    <a:bodyPr/>
                    <a:lstStyle/>
                    <a:p>
                      <a:pPr indent="0" marL="0">
                        <a:buNone/>
                      </a:pPr>
                      <a:r>
                        <a:rPr lang="en-US" sz="1300" dirty="0">
                          <a:solidFill>
                            <a:srgbClr val="FFFFFF"/>
                          </a:solidFill>
                        </a:rPr>
                        <a:t>Didn't say “only change X”</a:t>
                      </a:r>
                      <a:endParaRPr lang="en-US" sz="1300" dirty="0"/>
                    </a:p>
                  </a:txBody>
                  <a:tcPr marL="73152" marR="73152" marT="73152" marB="73152" anchor="ctr">
                    <a:lnL w="9525" cap="flat" cmpd="sng" algn="ctr">
                      <a:solidFill>
                        <a:srgbClr val="333333"/>
                      </a:solidFill>
                      <a:prstDash val="solid"/>
                      <a:round/>
                      <a:headEnd type="none" w="med" len="med"/>
                      <a:tailEnd type="none" w="med" len="med"/>
                    </a:lnL>
                    <a:lnR w="9525" cap="flat" cmpd="sng" algn="ctr">
                      <a:solidFill>
                        <a:srgbClr val="333333"/>
                      </a:solidFill>
                      <a:prstDash val="solid"/>
                      <a:round/>
                      <a:headEnd type="none" w="med" len="med"/>
                      <a:tailEnd type="none" w="med" len="med"/>
                    </a:lnR>
                    <a:lnT w="9525" cap="flat" cmpd="sng" algn="ctr">
                      <a:solidFill>
                        <a:srgbClr val="333333"/>
                      </a:solidFill>
                      <a:prstDash val="solid"/>
                      <a:round/>
                      <a:headEnd type="none" w="med" len="med"/>
                      <a:tailEnd type="none" w="med" len="med"/>
                    </a:lnT>
                    <a:lnB w="9525" cap="flat" cmpd="sng" algn="ctr">
                      <a:solidFill>
                        <a:srgbClr val="333333"/>
                      </a:solidFill>
                      <a:prstDash val="solid"/>
                      <a:round/>
                      <a:headEnd type="none" w="med" len="med"/>
                      <a:tailEnd type="none" w="med" len="med"/>
                    </a:lnB>
                    <a:solidFill>
                      <a:srgbClr val="000000"/>
                    </a:solidFill>
                  </a:tcPr>
                </a:tc>
                <a:tc>
                  <a:txBody>
                    <a:bodyPr/>
                    <a:lstStyle/>
                    <a:p>
                      <a:pPr indent="0" marL="0">
                        <a:buNone/>
                      </a:pPr>
                      <a:r>
                        <a:rPr lang="en-US" sz="1300" dirty="0">
                          <a:solidFill>
                            <a:srgbClr val="FFFFFF"/>
                          </a:solidFill>
                        </a:rPr>
                        <a:t>“Only change the intake section. Leave the drive code as is.”</a:t>
                      </a:r>
                      <a:endParaRPr lang="en-US" sz="1300" dirty="0"/>
                    </a:p>
                  </a:txBody>
                  <a:tcPr marL="73152" marR="73152" marT="73152" marB="73152" anchor="ctr">
                    <a:lnL w="9525" cap="flat" cmpd="sng" algn="ctr">
                      <a:solidFill>
                        <a:srgbClr val="333333"/>
                      </a:solidFill>
                      <a:prstDash val="solid"/>
                      <a:round/>
                      <a:headEnd type="none" w="med" len="med"/>
                      <a:tailEnd type="none" w="med" len="med"/>
                    </a:lnL>
                    <a:lnR w="9525" cap="flat" cmpd="sng" algn="ctr">
                      <a:solidFill>
                        <a:srgbClr val="333333"/>
                      </a:solidFill>
                      <a:prstDash val="solid"/>
                      <a:round/>
                      <a:headEnd type="none" w="med" len="med"/>
                      <a:tailEnd type="none" w="med" len="med"/>
                    </a:lnR>
                    <a:lnT w="9525" cap="flat" cmpd="sng" algn="ctr">
                      <a:solidFill>
                        <a:srgbClr val="333333"/>
                      </a:solidFill>
                      <a:prstDash val="solid"/>
                      <a:round/>
                      <a:headEnd type="none" w="med" len="med"/>
                      <a:tailEnd type="none" w="med" len="med"/>
                    </a:lnT>
                    <a:lnB w="9525" cap="flat" cmpd="sng" algn="ctr">
                      <a:solidFill>
                        <a:srgbClr val="333333"/>
                      </a:solidFill>
                      <a:prstDash val="solid"/>
                      <a:round/>
                      <a:headEnd type="none" w="med" len="med"/>
                      <a:tailEnd type="none" w="med" len="med"/>
                    </a:lnB>
                    <a:solidFill>
                      <a:srgbClr val="000000"/>
                    </a:solidFill>
                  </a:tcPr>
                </a:tc>
              </a:tr>
            </a:tbl>
          </a:graphicData>
        </a:graphic>
      </p:graphicFrame>
      <p:sp>
        <p:nvSpPr>
          <p:cNvPr id="5" name="takeaway"/>
          <p:cNvSpPr txBox="1"/>
          <p:nvPr/>
        </p:nvSpPr>
        <p:spPr>
          <a:xfrm>
            <a:off x="457200" y="5806440"/>
            <a:ext cx="11247120" cy="365760"/>
          </a:xfrm>
          <a:prstGeom prst="rect">
            <a:avLst/>
          </a:prstGeom>
          <a:noFill/>
          <a:ln/>
        </p:spPr>
        <p:txBody>
          <a:bodyPr wrap="square" lIns="0" tIns="0" rIns="0" bIns="0" rtlCol="0" anchor="t"/>
          <a:lstStyle/>
          <a:p>
            <a:pPr indent="0" marL="0">
              <a:buNone/>
            </a:pPr>
            <a:r>
              <a:rPr lang="en-US" sz="1400" b="1" dirty="0">
                <a:solidFill>
                  <a:schemeClr val="accent1"/>
                </a:solidFill>
              </a:rPr>
              <a:t>When it's wrong, the description was missing something. Say the missing thing.</a:t>
            </a:r>
            <a:endParaRPr lang="en-US" sz="1400" dirty="0"/>
          </a:p>
        </p:txBody>
      </p:sp>
      <p:sp>
        <p:nvSpPr>
          <p:cNvPr id="25" name="Slide Number Placeholder 0"/>
          <p:cNvSpPr>
            <a:spLocks noGrp="1"/>
          </p:cNvSpPr>
          <p:nvPr>
            <p:ph type="sldNum" sz="quarter" idx="4294967295"/>
          </p:nvPr>
        </p:nvSpPr>
        <p:spPr>
          <a:xfrm>
            <a:off x="11247120" y="6263640"/>
            <a:ext cx="548640" cy="39319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2" type="title" hasCustomPrompt="1"/>
          </p:nvPr>
        </p:nvSpPr>
        <p:spPr>
          <a:xfrm>
            <a:off x="457200" y="365760"/>
            <a:ext cx="11274552" cy="822960"/>
          </a:xfrm>
          <a:prstGeom prst="rect">
            <a:avLst/>
          </a:prstGeom>
          <a:noFill/>
          <a:ln/>
        </p:spPr>
        <p:txBody>
          <a:bodyPr wrap="square" lIns="0" tIns="0" rIns="0" bIns="0" rtlCol="0" anchor="ctr"/>
          <a:lstStyle/>
          <a:p>
            <a:pPr algn="l" indent="0" marL="0">
              <a:buNone/>
            </a:pPr>
            <a:r>
              <a:rPr lang="en-US" sz="3200" b="1" dirty="0">
                <a:solidFill>
                  <a:schemeClr val="accent1"/>
                </a:solidFill>
              </a:rPr>
              <a:t>Lehi, 2026: it's in the job posting</a:t>
            </a:r>
            <a:endParaRPr lang="en-US" sz="3200" dirty="0"/>
          </a:p>
        </p:txBody>
      </p:sp>
      <p:sp>
        <p:nvSpPr>
          <p:cNvPr id="4" name="post 0"/>
          <p:cNvSpPr/>
          <p:nvPr/>
        </p:nvSpPr>
        <p:spPr>
          <a:xfrm>
            <a:off x="457200" y="1325880"/>
            <a:ext cx="7223760" cy="822960"/>
          </a:xfrm>
          <a:prstGeom prst="roundRect">
            <a:avLst>
              <a:gd name="adj" fmla="val 13333"/>
            </a:avLst>
          </a:prstGeom>
          <a:solidFill>
            <a:schemeClr val="bg2"/>
          </a:solidFill>
          <a:ln w="12700">
            <a:solidFill>
              <a:schemeClr val="bg2"/>
            </a:solidFill>
            <a:prstDash val="solid"/>
          </a:ln>
        </p:spPr>
      </p:sp>
      <p:sp>
        <p:nvSpPr>
          <p:cNvPr id="5" name="post head 0"/>
          <p:cNvSpPr txBox="1"/>
          <p:nvPr/>
        </p:nvSpPr>
        <p:spPr>
          <a:xfrm>
            <a:off x="640080" y="1371600"/>
            <a:ext cx="6858000" cy="274320"/>
          </a:xfrm>
          <a:prstGeom prst="rect">
            <a:avLst/>
          </a:prstGeom>
          <a:noFill/>
          <a:ln/>
        </p:spPr>
        <p:txBody>
          <a:bodyPr wrap="square" lIns="0" tIns="0" rIns="0" bIns="0" rtlCol="0" anchor="t"/>
          <a:lstStyle/>
          <a:p>
            <a:pPr indent="0" marL="0">
              <a:buNone/>
            </a:pPr>
            <a:r>
              <a:rPr lang="en-US" sz="1200" b="1" dirty="0">
                <a:solidFill>
                  <a:schemeClr val="accent1"/>
                </a:solidFill>
              </a:rPr>
              <a:t>Podium · Lehi, Utah · Software Engineering Intern</a:t>
            </a:r>
            <a:endParaRPr lang="en-US" sz="1200" dirty="0"/>
          </a:p>
        </p:txBody>
      </p:sp>
      <p:sp>
        <p:nvSpPr>
          <p:cNvPr id="6" name="post text 0"/>
          <p:cNvSpPr txBox="1"/>
          <p:nvPr/>
        </p:nvSpPr>
        <p:spPr>
          <a:xfrm>
            <a:off x="640080" y="1627632"/>
            <a:ext cx="6858000" cy="502920"/>
          </a:xfrm>
          <a:prstGeom prst="rect">
            <a:avLst/>
          </a:prstGeom>
          <a:noFill/>
          <a:ln/>
        </p:spPr>
        <p:txBody>
          <a:bodyPr wrap="square" lIns="0" tIns="0" rIns="0" bIns="0" rtlCol="0" anchor="t"/>
          <a:lstStyle/>
          <a:p>
            <a:pPr indent="0" marL="0">
              <a:buNone/>
            </a:pPr>
            <a:r>
              <a:rPr lang="en-US" sz="1150" i="1" dirty="0">
                <a:solidFill>
                  <a:schemeClr val="tx1"/>
                </a:solidFill>
              </a:rPr>
              <a:t>“Familiarity with AI-assisted development tools such as Cursor, Claude Code, Codex, GitHub Copilot, or similar.” Listed alongside “Strong programming fundamentals…”</a:t>
            </a:r>
            <a:endParaRPr lang="en-US" sz="1150" dirty="0"/>
          </a:p>
        </p:txBody>
      </p:sp>
      <p:sp>
        <p:nvSpPr>
          <p:cNvPr id="7" name="post 1"/>
          <p:cNvSpPr/>
          <p:nvPr/>
        </p:nvSpPr>
        <p:spPr>
          <a:xfrm>
            <a:off x="457200" y="2240280"/>
            <a:ext cx="7223760" cy="822960"/>
          </a:xfrm>
          <a:prstGeom prst="roundRect">
            <a:avLst>
              <a:gd name="adj" fmla="val 13333"/>
            </a:avLst>
          </a:prstGeom>
          <a:solidFill>
            <a:schemeClr val="bg2"/>
          </a:solidFill>
          <a:ln w="12700">
            <a:solidFill>
              <a:schemeClr val="bg2"/>
            </a:solidFill>
            <a:prstDash val="solid"/>
          </a:ln>
        </p:spPr>
      </p:sp>
      <p:sp>
        <p:nvSpPr>
          <p:cNvPr id="8" name="post head 1"/>
          <p:cNvSpPr txBox="1"/>
          <p:nvPr/>
        </p:nvSpPr>
        <p:spPr>
          <a:xfrm>
            <a:off x="640080" y="2286000"/>
            <a:ext cx="6858000" cy="274320"/>
          </a:xfrm>
          <a:prstGeom prst="rect">
            <a:avLst/>
          </a:prstGeom>
          <a:noFill/>
          <a:ln/>
        </p:spPr>
        <p:txBody>
          <a:bodyPr wrap="square" lIns="0" tIns="0" rIns="0" bIns="0" rtlCol="0" anchor="t"/>
          <a:lstStyle/>
          <a:p>
            <a:pPr indent="0" marL="0">
              <a:buNone/>
            </a:pPr>
            <a:r>
              <a:rPr lang="en-US" sz="1200" b="1" dirty="0">
                <a:solidFill>
                  <a:schemeClr val="accent1"/>
                </a:solidFill>
              </a:rPr>
              <a:t>Podium · Lehi, Utah · Senior Software Engineer</a:t>
            </a:r>
            <a:endParaRPr lang="en-US" sz="1200" dirty="0"/>
          </a:p>
        </p:txBody>
      </p:sp>
      <p:sp>
        <p:nvSpPr>
          <p:cNvPr id="9" name="post text 1"/>
          <p:cNvSpPr txBox="1"/>
          <p:nvPr/>
        </p:nvSpPr>
        <p:spPr>
          <a:xfrm>
            <a:off x="640080" y="2542032"/>
            <a:ext cx="6858000" cy="502920"/>
          </a:xfrm>
          <a:prstGeom prst="rect">
            <a:avLst/>
          </a:prstGeom>
          <a:noFill/>
          <a:ln/>
        </p:spPr>
        <p:txBody>
          <a:bodyPr wrap="square" lIns="0" tIns="0" rIns="0" bIns="0" rtlCol="0" anchor="t"/>
          <a:lstStyle/>
          <a:p>
            <a:pPr indent="0" marL="0">
              <a:buNone/>
            </a:pPr>
            <a:r>
              <a:rPr lang="en-US" sz="1150" i="1" dirty="0">
                <a:solidFill>
                  <a:schemeClr val="tx1"/>
                </a:solidFill>
              </a:rPr>
              <a:t>use AI tooling “as a genuine force multiplier, not a novelty” · “A hands-on, daily relationship with AI coding tools”</a:t>
            </a:r>
            <a:endParaRPr lang="en-US" sz="1150" dirty="0"/>
          </a:p>
        </p:txBody>
      </p:sp>
      <p:sp>
        <p:nvSpPr>
          <p:cNvPr id="10" name="post 2"/>
          <p:cNvSpPr/>
          <p:nvPr/>
        </p:nvSpPr>
        <p:spPr>
          <a:xfrm>
            <a:off x="457200" y="3154680"/>
            <a:ext cx="7223760" cy="822960"/>
          </a:xfrm>
          <a:prstGeom prst="roundRect">
            <a:avLst>
              <a:gd name="adj" fmla="val 13333"/>
            </a:avLst>
          </a:prstGeom>
          <a:solidFill>
            <a:schemeClr val="bg2"/>
          </a:solidFill>
          <a:ln w="12700">
            <a:solidFill>
              <a:schemeClr val="bg2"/>
            </a:solidFill>
            <a:prstDash val="solid"/>
          </a:ln>
        </p:spPr>
      </p:sp>
      <p:sp>
        <p:nvSpPr>
          <p:cNvPr id="11" name="post head 2"/>
          <p:cNvSpPr txBox="1"/>
          <p:nvPr/>
        </p:nvSpPr>
        <p:spPr>
          <a:xfrm>
            <a:off x="640080" y="3200400"/>
            <a:ext cx="6858000" cy="274320"/>
          </a:xfrm>
          <a:prstGeom prst="rect">
            <a:avLst/>
          </a:prstGeom>
          <a:noFill/>
          <a:ln/>
        </p:spPr>
        <p:txBody>
          <a:bodyPr wrap="square" lIns="0" tIns="0" rIns="0" bIns="0" rtlCol="0" anchor="t"/>
          <a:lstStyle/>
          <a:p>
            <a:pPr indent="0" marL="0">
              <a:buNone/>
            </a:pPr>
            <a:r>
              <a:rPr lang="en-US" sz="1200" b="1" dirty="0">
                <a:solidFill>
                  <a:schemeClr val="accent1"/>
                </a:solidFill>
              </a:rPr>
              <a:t>Affirm · US fintech (remote role, Poland)</a:t>
            </a:r>
            <a:endParaRPr lang="en-US" sz="1200" dirty="0"/>
          </a:p>
        </p:txBody>
      </p:sp>
      <p:sp>
        <p:nvSpPr>
          <p:cNvPr id="12" name="post text 2"/>
          <p:cNvSpPr txBox="1"/>
          <p:nvPr/>
        </p:nvSpPr>
        <p:spPr>
          <a:xfrm>
            <a:off x="640080" y="3456432"/>
            <a:ext cx="6858000" cy="502920"/>
          </a:xfrm>
          <a:prstGeom prst="rect">
            <a:avLst/>
          </a:prstGeom>
          <a:noFill/>
          <a:ln/>
        </p:spPr>
        <p:txBody>
          <a:bodyPr wrap="square" lIns="0" tIns="0" rIns="0" bIns="0" rtlCol="0" anchor="t"/>
          <a:lstStyle/>
          <a:p>
            <a:pPr indent="0" marL="0">
              <a:buNone/>
            </a:pPr>
            <a:r>
              <a:rPr lang="en-US" sz="1150" i="1" dirty="0">
                <a:solidFill>
                  <a:schemeClr val="tx1"/>
                </a:solidFill>
              </a:rPr>
              <a:t>“every Affirm engineer builds with tools like Claude Code and most PRs are co-authored with AI… excelling in the reviewer's seat… is a core expectation”</a:t>
            </a:r>
            <a:endParaRPr lang="en-US" sz="1150" dirty="0"/>
          </a:p>
        </p:txBody>
      </p:sp>
      <p:sp>
        <p:nvSpPr>
          <p:cNvPr id="13" name="post 3"/>
          <p:cNvSpPr/>
          <p:nvPr/>
        </p:nvSpPr>
        <p:spPr>
          <a:xfrm>
            <a:off x="457200" y="4069080"/>
            <a:ext cx="7223760" cy="822960"/>
          </a:xfrm>
          <a:prstGeom prst="roundRect">
            <a:avLst>
              <a:gd name="adj" fmla="val 13333"/>
            </a:avLst>
          </a:prstGeom>
          <a:solidFill>
            <a:schemeClr val="bg2"/>
          </a:solidFill>
          <a:ln w="12700">
            <a:solidFill>
              <a:schemeClr val="bg2"/>
            </a:solidFill>
            <a:prstDash val="solid"/>
          </a:ln>
        </p:spPr>
      </p:sp>
      <p:sp>
        <p:nvSpPr>
          <p:cNvPr id="14" name="post head 3"/>
          <p:cNvSpPr txBox="1"/>
          <p:nvPr/>
        </p:nvSpPr>
        <p:spPr>
          <a:xfrm>
            <a:off x="640080" y="4114800"/>
            <a:ext cx="6858000" cy="274320"/>
          </a:xfrm>
          <a:prstGeom prst="rect">
            <a:avLst/>
          </a:prstGeom>
          <a:noFill/>
          <a:ln/>
        </p:spPr>
        <p:txBody>
          <a:bodyPr wrap="square" lIns="0" tIns="0" rIns="0" bIns="0" rtlCol="0" anchor="t"/>
          <a:lstStyle/>
          <a:p>
            <a:pPr indent="0" marL="0">
              <a:buNone/>
            </a:pPr>
            <a:r>
              <a:rPr lang="en-US" sz="1200" b="1" dirty="0">
                <a:solidFill>
                  <a:schemeClr val="accent1"/>
                </a:solidFill>
              </a:rPr>
              <a:t>1Password · Rust Developer</a:t>
            </a:r>
            <a:endParaRPr lang="en-US" sz="1200" dirty="0"/>
          </a:p>
        </p:txBody>
      </p:sp>
      <p:sp>
        <p:nvSpPr>
          <p:cNvPr id="15" name="post text 3"/>
          <p:cNvSpPr txBox="1"/>
          <p:nvPr/>
        </p:nvSpPr>
        <p:spPr>
          <a:xfrm>
            <a:off x="640080" y="4370832"/>
            <a:ext cx="6858000" cy="502920"/>
          </a:xfrm>
          <a:prstGeom prst="rect">
            <a:avLst/>
          </a:prstGeom>
          <a:noFill/>
          <a:ln/>
        </p:spPr>
        <p:txBody>
          <a:bodyPr wrap="square" lIns="0" tIns="0" rIns="0" bIns="0" rtlCol="0" anchor="t"/>
          <a:lstStyle/>
          <a:p>
            <a:pPr indent="0" marL="0">
              <a:buNone/>
            </a:pPr>
            <a:r>
              <a:rPr lang="en-US" sz="1150" i="1" dirty="0">
                <a:solidFill>
                  <a:schemeClr val="tx1"/>
                </a:solidFill>
              </a:rPr>
              <a:t>“Effective at using AI tooling to accelerate development, testing, debugging…” and the interview is run without AI</a:t>
            </a:r>
            <a:endParaRPr lang="en-US" sz="1150" dirty="0"/>
          </a:p>
        </p:txBody>
      </p:sp>
      <p:sp>
        <p:nvSpPr>
          <p:cNvPr id="16" name="stat big 0"/>
          <p:cNvSpPr txBox="1"/>
          <p:nvPr/>
        </p:nvSpPr>
        <p:spPr>
          <a:xfrm>
            <a:off x="7955280" y="1325880"/>
            <a:ext cx="3749040" cy="502920"/>
          </a:xfrm>
          <a:prstGeom prst="rect">
            <a:avLst/>
          </a:prstGeom>
          <a:noFill/>
          <a:ln/>
        </p:spPr>
        <p:txBody>
          <a:bodyPr wrap="square" lIns="0" tIns="0" rIns="0" bIns="0" rtlCol="0" anchor="t"/>
          <a:lstStyle/>
          <a:p>
            <a:pPr indent="0" marL="0">
              <a:buNone/>
            </a:pPr>
            <a:r>
              <a:rPr lang="en-US" sz="2600" b="1" dirty="0">
                <a:solidFill>
                  <a:schemeClr val="accent1"/>
                </a:solidFill>
              </a:rPr>
              <a:t>2.5%</a:t>
            </a:r>
            <a:endParaRPr lang="en-US" sz="2600" dirty="0"/>
          </a:p>
        </p:txBody>
      </p:sp>
      <p:sp>
        <p:nvSpPr>
          <p:cNvPr id="17" name="stat text 0"/>
          <p:cNvSpPr txBox="1"/>
          <p:nvPr/>
        </p:nvSpPr>
        <p:spPr>
          <a:xfrm>
            <a:off x="7955280" y="1828800"/>
            <a:ext cx="3749040" cy="685800"/>
          </a:xfrm>
          <a:prstGeom prst="rect">
            <a:avLst/>
          </a:prstGeom>
          <a:noFill/>
          <a:ln/>
        </p:spPr>
        <p:txBody>
          <a:bodyPr wrap="square" lIns="0" tIns="0" rIns="0" bIns="0" rtlCol="0" anchor="t"/>
          <a:lstStyle/>
          <a:p>
            <a:pPr indent="0" marL="0">
              <a:buNone/>
            </a:pPr>
            <a:r>
              <a:rPr lang="en-US" sz="1150" dirty="0">
                <a:solidFill>
                  <a:schemeClr val="tx2"/>
                </a:solidFill>
              </a:rPr>
              <a:t>of all US job postings asked for AI skills in 2025, up 55% in one year (Stanford AI Index 2026 / Lightcast)</a:t>
            </a:r>
            <a:endParaRPr lang="en-US" sz="1150" dirty="0"/>
          </a:p>
        </p:txBody>
      </p:sp>
      <p:sp>
        <p:nvSpPr>
          <p:cNvPr id="18" name="stat big 1"/>
          <p:cNvSpPr txBox="1"/>
          <p:nvPr/>
        </p:nvSpPr>
        <p:spPr>
          <a:xfrm>
            <a:off x="7955280" y="2560320"/>
            <a:ext cx="3749040" cy="502920"/>
          </a:xfrm>
          <a:prstGeom prst="rect">
            <a:avLst/>
          </a:prstGeom>
          <a:noFill/>
          <a:ln/>
        </p:spPr>
        <p:txBody>
          <a:bodyPr wrap="square" lIns="0" tIns="0" rIns="0" bIns="0" rtlCol="0" anchor="t"/>
          <a:lstStyle/>
          <a:p>
            <a:pPr indent="0" marL="0">
              <a:buNone/>
            </a:pPr>
            <a:r>
              <a:rPr lang="en-US" sz="2600" b="1" dirty="0">
                <a:solidFill>
                  <a:schemeClr val="accent1"/>
                </a:solidFill>
              </a:rPr>
              <a:t>10%</a:t>
            </a:r>
            <a:endParaRPr lang="en-US" sz="2600" dirty="0"/>
          </a:p>
        </p:txBody>
      </p:sp>
      <p:sp>
        <p:nvSpPr>
          <p:cNvPr id="19" name="stat text 1"/>
          <p:cNvSpPr txBox="1"/>
          <p:nvPr/>
        </p:nvSpPr>
        <p:spPr>
          <a:xfrm>
            <a:off x="7955280" y="3063240"/>
            <a:ext cx="3749040" cy="685800"/>
          </a:xfrm>
          <a:prstGeom prst="rect">
            <a:avLst/>
          </a:prstGeom>
          <a:noFill/>
          <a:ln/>
        </p:spPr>
        <p:txBody>
          <a:bodyPr wrap="square" lIns="0" tIns="0" rIns="0" bIns="0" rtlCol="0" anchor="t"/>
          <a:lstStyle/>
          <a:p>
            <a:pPr indent="0" marL="0">
              <a:buNone/>
            </a:pPr>
            <a:r>
              <a:rPr lang="en-US" sz="1150" dirty="0">
                <a:solidFill>
                  <a:schemeClr val="tx2"/>
                </a:solidFill>
              </a:rPr>
              <a:t>of 4,820 software-engineering postings required AI coding tools in one Sep 2026 scan; 20% mentioned them; interns highest at 27% (match.dev)</a:t>
            </a:r>
            <a:endParaRPr lang="en-US" sz="1150" dirty="0"/>
          </a:p>
        </p:txBody>
      </p:sp>
      <p:sp>
        <p:nvSpPr>
          <p:cNvPr id="20" name="stat big 2"/>
          <p:cNvSpPr txBox="1"/>
          <p:nvPr/>
        </p:nvSpPr>
        <p:spPr>
          <a:xfrm>
            <a:off x="7955280" y="3794760"/>
            <a:ext cx="3749040" cy="502920"/>
          </a:xfrm>
          <a:prstGeom prst="rect">
            <a:avLst/>
          </a:prstGeom>
          <a:noFill/>
          <a:ln/>
        </p:spPr>
        <p:txBody>
          <a:bodyPr wrap="square" lIns="0" tIns="0" rIns="0" bIns="0" rtlCol="0" anchor="t"/>
          <a:lstStyle/>
          <a:p>
            <a:pPr indent="0" marL="0">
              <a:buNone/>
            </a:pPr>
            <a:r>
              <a:rPr lang="en-US" sz="2600" b="1" dirty="0">
                <a:solidFill>
                  <a:schemeClr val="accent1"/>
                </a:solidFill>
              </a:rPr>
              <a:t>“baseline”</a:t>
            </a:r>
            <a:endParaRPr lang="en-US" sz="2600" dirty="0"/>
          </a:p>
        </p:txBody>
      </p:sp>
      <p:sp>
        <p:nvSpPr>
          <p:cNvPr id="21" name="stat text 2"/>
          <p:cNvSpPr txBox="1"/>
          <p:nvPr/>
        </p:nvSpPr>
        <p:spPr>
          <a:xfrm>
            <a:off x="7955280" y="4297680"/>
            <a:ext cx="3749040" cy="685800"/>
          </a:xfrm>
          <a:prstGeom prst="rect">
            <a:avLst/>
          </a:prstGeom>
          <a:noFill/>
          <a:ln/>
        </p:spPr>
        <p:txBody>
          <a:bodyPr wrap="square" lIns="0" tIns="0" rIns="0" bIns="0" rtlCol="0" anchor="t"/>
          <a:lstStyle/>
          <a:p>
            <a:pPr indent="0" marL="0">
              <a:buNone/>
            </a:pPr>
            <a:r>
              <a:rPr lang="en-US" sz="1150" dirty="0">
                <a:solidFill>
                  <a:schemeClr val="tx2"/>
                </a:solidFill>
              </a:rPr>
              <a:t>Tobi Lütke, CEO, Apr 2025 (as quoted in press): “Reflexive AI usage is now a baseline expectation at Shopify.”</a:t>
            </a:r>
            <a:endParaRPr lang="en-US" sz="1150" dirty="0"/>
          </a:p>
        </p:txBody>
      </p:sp>
      <p:sp>
        <p:nvSpPr>
          <p:cNvPr id="22" name="pay note"/>
          <p:cNvSpPr txBox="1"/>
          <p:nvPr/>
        </p:nvSpPr>
        <p:spPr>
          <a:xfrm>
            <a:off x="457200" y="5120640"/>
            <a:ext cx="11247120" cy="640080"/>
          </a:xfrm>
          <a:prstGeom prst="rect">
            <a:avLst/>
          </a:prstGeom>
          <a:noFill/>
          <a:ln/>
        </p:spPr>
        <p:txBody>
          <a:bodyPr wrap="square" lIns="0" tIns="0" rIns="0" bIns="0" rtlCol="0" anchor="t"/>
          <a:lstStyle/>
          <a:p>
            <a:pPr indent="0" marL="0">
              <a:buNone/>
            </a:pPr>
            <a:r>
              <a:rPr lang="en-US" sz="1200" dirty="0">
                <a:solidFill>
                  <a:schemeClr val="tx2"/>
                </a:solidFill>
              </a:rPr>
              <a:t>Job ads that ask for AI skills advertise higher pay: PwC 62% within occupation (global, 2025), Lightcast 28% (US, 2024). This is vendor data and a correlation, not a promise.</a:t>
            </a:r>
            <a:endParaRPr lang="en-US" sz="1200" dirty="0"/>
          </a:p>
        </p:txBody>
      </p:sp>
      <p:sp>
        <p:nvSpPr>
          <p:cNvPr id="25" name="Slide Number Placeholder 0"/>
          <p:cNvSpPr>
            <a:spLocks noGrp="1"/>
          </p:cNvSpPr>
          <p:nvPr>
            <p:ph type="sldNum" sz="quarter" idx="4294967295"/>
          </p:nvPr>
        </p:nvSpPr>
        <p:spPr>
          <a:xfrm>
            <a:off x="11247120" y="6263640"/>
            <a:ext cx="548640" cy="39319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2" type="title" hasCustomPrompt="1"/>
          </p:nvPr>
        </p:nvSpPr>
        <p:spPr>
          <a:xfrm>
            <a:off x="457200" y="365760"/>
            <a:ext cx="11274552" cy="822960"/>
          </a:xfrm>
          <a:prstGeom prst="rect">
            <a:avLst/>
          </a:prstGeom>
          <a:noFill/>
          <a:ln/>
        </p:spPr>
        <p:txBody>
          <a:bodyPr wrap="square" lIns="0" tIns="0" rIns="0" bIns="0" rtlCol="0" anchor="ctr"/>
          <a:lstStyle/>
          <a:p>
            <a:pPr algn="l" indent="0" marL="0">
              <a:buNone/>
            </a:pPr>
            <a:r>
              <a:rPr lang="en-US" sz="3200" b="1" dirty="0">
                <a:solidFill>
                  <a:schemeClr val="accent1"/>
                </a:solidFill>
              </a:rPr>
              <a:t>The door is narrower. The tool is expected.</a:t>
            </a:r>
            <a:endParaRPr lang="en-US" sz="3200" dirty="0"/>
          </a:p>
        </p:txBody>
      </p:sp>
      <p:sp>
        <p:nvSpPr>
          <p:cNvPr id="4" name="fact 0"/>
          <p:cNvSpPr/>
          <p:nvPr/>
        </p:nvSpPr>
        <p:spPr>
          <a:xfrm>
            <a:off x="457200" y="1325880"/>
            <a:ext cx="3566160" cy="2377440"/>
          </a:xfrm>
          <a:prstGeom prst="roundRect">
            <a:avLst>
              <a:gd name="adj" fmla="val 4615"/>
            </a:avLst>
          </a:prstGeom>
          <a:solidFill>
            <a:schemeClr val="bg2"/>
          </a:solidFill>
          <a:ln w="12700">
            <a:solidFill>
              <a:schemeClr val="bg2"/>
            </a:solidFill>
            <a:prstDash val="solid"/>
          </a:ln>
        </p:spPr>
      </p:sp>
      <p:sp>
        <p:nvSpPr>
          <p:cNvPr id="5" name="fact big 0"/>
          <p:cNvSpPr txBox="1"/>
          <p:nvPr/>
        </p:nvSpPr>
        <p:spPr>
          <a:xfrm>
            <a:off x="731520" y="1463040"/>
            <a:ext cx="3017520" cy="822960"/>
          </a:xfrm>
          <a:prstGeom prst="rect">
            <a:avLst/>
          </a:prstGeom>
          <a:noFill/>
          <a:ln/>
        </p:spPr>
        <p:txBody>
          <a:bodyPr wrap="square" lIns="0" tIns="0" rIns="0" bIns="0" rtlCol="0" anchor="ctr"/>
          <a:lstStyle/>
          <a:p>
            <a:pPr indent="0" marL="0">
              <a:buNone/>
            </a:pPr>
            <a:r>
              <a:rPr lang="en-US" sz="4000" b="1" dirty="0">
                <a:solidFill>
                  <a:schemeClr val="accent1"/>
                </a:solidFill>
              </a:rPr>
              <a:t>−20%</a:t>
            </a:r>
            <a:endParaRPr lang="en-US" sz="4000" dirty="0"/>
          </a:p>
        </p:txBody>
      </p:sp>
      <p:sp>
        <p:nvSpPr>
          <p:cNvPr id="6" name="fact text 0"/>
          <p:cNvSpPr txBox="1"/>
          <p:nvPr/>
        </p:nvSpPr>
        <p:spPr>
          <a:xfrm>
            <a:off x="731520" y="2331720"/>
            <a:ext cx="3017520" cy="1280160"/>
          </a:xfrm>
          <a:prstGeom prst="rect">
            <a:avLst/>
          </a:prstGeom>
          <a:noFill/>
          <a:ln/>
        </p:spPr>
        <p:txBody>
          <a:bodyPr wrap="square" lIns="0" tIns="0" rIns="0" bIns="0" rtlCol="0" anchor="t"/>
          <a:lstStyle/>
          <a:p>
            <a:pPr indent="0" marL="0">
              <a:buNone/>
            </a:pPr>
            <a:r>
              <a:rPr lang="en-US" sz="1250" dirty="0">
                <a:solidFill>
                  <a:schemeClr val="tx1"/>
                </a:solidFill>
              </a:rPr>
              <a:t>Software developers aged 22 to 25: employment down nearly 20%, late 2022 → Sep 2025 (payroll data). For young workers in AI-exposed jobs the gap widened to 19% by Aug 2026. (Stanford “Canaries in the Coal Mine”)</a:t>
            </a:r>
            <a:endParaRPr lang="en-US" sz="1250" dirty="0"/>
          </a:p>
        </p:txBody>
      </p:sp>
      <p:sp>
        <p:nvSpPr>
          <p:cNvPr id="7" name="fact 1"/>
          <p:cNvSpPr/>
          <p:nvPr/>
        </p:nvSpPr>
        <p:spPr>
          <a:xfrm>
            <a:off x="4297680" y="1325880"/>
            <a:ext cx="3566160" cy="2377440"/>
          </a:xfrm>
          <a:prstGeom prst="roundRect">
            <a:avLst>
              <a:gd name="adj" fmla="val 4615"/>
            </a:avLst>
          </a:prstGeom>
          <a:solidFill>
            <a:schemeClr val="bg2"/>
          </a:solidFill>
          <a:ln w="12700">
            <a:solidFill>
              <a:schemeClr val="bg2"/>
            </a:solidFill>
            <a:prstDash val="solid"/>
          </a:ln>
        </p:spPr>
      </p:sp>
      <p:sp>
        <p:nvSpPr>
          <p:cNvPr id="8" name="fact big 1"/>
          <p:cNvSpPr txBox="1"/>
          <p:nvPr/>
        </p:nvSpPr>
        <p:spPr>
          <a:xfrm>
            <a:off x="4572000" y="1463040"/>
            <a:ext cx="3017520" cy="822960"/>
          </a:xfrm>
          <a:prstGeom prst="rect">
            <a:avLst/>
          </a:prstGeom>
          <a:noFill/>
          <a:ln/>
        </p:spPr>
        <p:txBody>
          <a:bodyPr wrap="square" lIns="0" tIns="0" rIns="0" bIns="0" rtlCol="0" anchor="ctr"/>
          <a:lstStyle/>
          <a:p>
            <a:pPr indent="0" marL="0">
              <a:buNone/>
            </a:pPr>
            <a:r>
              <a:rPr lang="en-US" sz="4000" b="1" dirty="0">
                <a:solidFill>
                  <a:schemeClr val="accent1"/>
                </a:solidFill>
              </a:rPr>
              <a:t>16.5%</a:t>
            </a:r>
            <a:endParaRPr lang="en-US" sz="4000" dirty="0"/>
          </a:p>
        </p:txBody>
      </p:sp>
      <p:sp>
        <p:nvSpPr>
          <p:cNvPr id="9" name="fact text 1"/>
          <p:cNvSpPr txBox="1"/>
          <p:nvPr/>
        </p:nvSpPr>
        <p:spPr>
          <a:xfrm>
            <a:off x="4572000" y="2331720"/>
            <a:ext cx="3017520" cy="1280160"/>
          </a:xfrm>
          <a:prstGeom prst="rect">
            <a:avLst/>
          </a:prstGeom>
          <a:noFill/>
          <a:ln/>
        </p:spPr>
        <p:txBody>
          <a:bodyPr wrap="square" lIns="0" tIns="0" rIns="0" bIns="0" rtlCol="0" anchor="t"/>
          <a:lstStyle/>
          <a:p>
            <a:pPr indent="0" marL="0">
              <a:buNone/>
            </a:pPr>
            <a:r>
              <a:rPr lang="en-US" sz="1250" dirty="0">
                <a:solidFill>
                  <a:schemeClr val="tx1"/>
                </a:solidFill>
              </a:rPr>
              <a:t>of entry-level job descriptions now emphasize AI skills, up from 10.5% in fall 2025; employers say over a third of entry-level jobs require them. (NACE, spring 2026, 185 employers)</a:t>
            </a:r>
            <a:endParaRPr lang="en-US" sz="1250" dirty="0"/>
          </a:p>
        </p:txBody>
      </p:sp>
      <p:sp>
        <p:nvSpPr>
          <p:cNvPr id="10" name="fact 2"/>
          <p:cNvSpPr/>
          <p:nvPr/>
        </p:nvSpPr>
        <p:spPr>
          <a:xfrm>
            <a:off x="8138160" y="1325880"/>
            <a:ext cx="3566160" cy="2377440"/>
          </a:xfrm>
          <a:prstGeom prst="roundRect">
            <a:avLst>
              <a:gd name="adj" fmla="val 4615"/>
            </a:avLst>
          </a:prstGeom>
          <a:solidFill>
            <a:schemeClr val="bg2"/>
          </a:solidFill>
          <a:ln w="12700">
            <a:solidFill>
              <a:schemeClr val="bg2"/>
            </a:solidFill>
            <a:prstDash val="solid"/>
          </a:ln>
        </p:spPr>
      </p:sp>
      <p:sp>
        <p:nvSpPr>
          <p:cNvPr id="11" name="fact big 2"/>
          <p:cNvSpPr txBox="1"/>
          <p:nvPr/>
        </p:nvSpPr>
        <p:spPr>
          <a:xfrm>
            <a:off x="8412480" y="1463040"/>
            <a:ext cx="3017520" cy="822960"/>
          </a:xfrm>
          <a:prstGeom prst="rect">
            <a:avLst/>
          </a:prstGeom>
          <a:noFill/>
          <a:ln/>
        </p:spPr>
        <p:txBody>
          <a:bodyPr wrap="square" lIns="0" tIns="0" rIns="0" bIns="0" rtlCol="0" anchor="ctr"/>
          <a:lstStyle/>
          <a:p>
            <a:pPr indent="0" marL="0">
              <a:buNone/>
            </a:pPr>
            <a:r>
              <a:rPr lang="en-US" sz="4000" b="1" dirty="0">
                <a:solidFill>
                  <a:schemeClr val="accent1"/>
                </a:solidFill>
              </a:rPr>
              <a:t>50.5%</a:t>
            </a:r>
            <a:endParaRPr lang="en-US" sz="4000" dirty="0"/>
          </a:p>
        </p:txBody>
      </p:sp>
      <p:sp>
        <p:nvSpPr>
          <p:cNvPr id="12" name="fact text 2"/>
          <p:cNvSpPr txBox="1"/>
          <p:nvPr/>
        </p:nvSpPr>
        <p:spPr>
          <a:xfrm>
            <a:off x="8412480" y="2331720"/>
            <a:ext cx="3017520" cy="1280160"/>
          </a:xfrm>
          <a:prstGeom prst="rect">
            <a:avLst/>
          </a:prstGeom>
          <a:noFill/>
          <a:ln/>
        </p:spPr>
        <p:txBody>
          <a:bodyPr wrap="square" lIns="0" tIns="0" rIns="0" bIns="0" rtlCol="0" anchor="t"/>
          <a:lstStyle/>
          <a:p>
            <a:pPr indent="0" marL="0">
              <a:buNone/>
            </a:pPr>
            <a:r>
              <a:rPr lang="en-US" sz="1250" dirty="0">
                <a:solidFill>
                  <a:schemeClr val="tx1"/>
                </a:solidFill>
              </a:rPr>
              <a:t>of graduating seniors aren't building AI skills at all. (NACE student survey, 2026)</a:t>
            </a:r>
            <a:endParaRPr lang="en-US" sz="1250" dirty="0"/>
          </a:p>
        </p:txBody>
      </p:sp>
      <p:sp>
        <p:nvSpPr>
          <p:cNvPr id="13" name="beck quote"/>
          <p:cNvSpPr txBox="1"/>
          <p:nvPr/>
        </p:nvSpPr>
        <p:spPr>
          <a:xfrm>
            <a:off x="457200" y="3931920"/>
            <a:ext cx="11247120" cy="731520"/>
          </a:xfrm>
          <a:prstGeom prst="rect">
            <a:avLst/>
          </a:prstGeom>
          <a:noFill/>
          <a:ln/>
        </p:spPr>
        <p:txBody>
          <a:bodyPr wrap="square" lIns="0" tIns="0" rIns="0" bIns="0" rtlCol="0" anchor="t"/>
          <a:lstStyle/>
          <a:p>
            <a:pPr indent="0" marL="0">
              <a:buNone/>
            </a:pPr>
            <a:r>
              <a:rPr lang="en-US" sz="2200" i="1" dirty="0">
                <a:solidFill>
                  <a:schemeClr val="tx1"/>
                </a:solidFill>
              </a:rPr>
              <a:t>“The value of 90% of my skills just dropped to $0. The leverage for the remaining 10% went up 1000x.”</a:t>
            </a:r>
            <a:endParaRPr lang="en-US" sz="2200" dirty="0"/>
          </a:p>
        </p:txBody>
      </p:sp>
      <p:sp>
        <p:nvSpPr>
          <p:cNvPr id="14" name="beck attribution"/>
          <p:cNvSpPr txBox="1"/>
          <p:nvPr/>
        </p:nvSpPr>
        <p:spPr>
          <a:xfrm>
            <a:off x="457200" y="4663440"/>
            <a:ext cx="11247120" cy="320040"/>
          </a:xfrm>
          <a:prstGeom prst="rect">
            <a:avLst/>
          </a:prstGeom>
          <a:noFill/>
          <a:ln/>
        </p:spPr>
        <p:txBody>
          <a:bodyPr wrap="square" lIns="0" tIns="0" rIns="0" bIns="0" rtlCol="0" anchor="t"/>
          <a:lstStyle/>
          <a:p>
            <a:pPr indent="0" marL="0">
              <a:buNone/>
            </a:pPr>
            <a:r>
              <a:rPr lang="en-US" sz="1200" dirty="0">
                <a:solidFill>
                  <a:schemeClr val="accent1"/>
                </a:solidFill>
              </a:rPr>
              <a:t>Kent Beck, creator of Extreme Programming, April 2023</a:t>
            </a:r>
            <a:endParaRPr lang="en-US" sz="1200" dirty="0"/>
          </a:p>
        </p:txBody>
      </p:sp>
      <p:sp>
        <p:nvSpPr>
          <p:cNvPr id="15" name="takeaway"/>
          <p:cNvSpPr txBox="1"/>
          <p:nvPr/>
        </p:nvSpPr>
        <p:spPr>
          <a:xfrm>
            <a:off x="457200" y="5212080"/>
            <a:ext cx="11247120" cy="777240"/>
          </a:xfrm>
          <a:prstGeom prst="rect">
            <a:avLst/>
          </a:prstGeom>
          <a:noFill/>
          <a:ln/>
        </p:spPr>
        <p:txBody>
          <a:bodyPr wrap="square" lIns="0" tIns="0" rIns="0" bIns="0" rtlCol="0" anchor="t"/>
          <a:lstStyle/>
          <a:p>
            <a:pPr indent="0" marL="0">
              <a:buNone/>
            </a:pPr>
            <a:r>
              <a:rPr lang="en-US" sz="1600" b="1" dirty="0">
                <a:solidFill>
                  <a:schemeClr val="accent1"/>
                </a:solidFill>
              </a:rPr>
              <a:t>We think: the jobs disappearing are the ones AI does instead of a person. The ones being posted are the reviewer's seat. The checklist teaches the 10%.</a:t>
            </a:r>
            <a:endParaRPr lang="en-US" sz="1600" dirty="0"/>
          </a:p>
        </p:txBody>
      </p:sp>
      <p:sp>
        <p:nvSpPr>
          <p:cNvPr id="25" name="Slide Number Placeholder 0"/>
          <p:cNvSpPr>
            <a:spLocks noGrp="1"/>
          </p:cNvSpPr>
          <p:nvPr>
            <p:ph type="sldNum" sz="quarter" idx="4294967295"/>
          </p:nvPr>
        </p:nvSpPr>
        <p:spPr>
          <a:xfrm>
            <a:off x="11247120" y="6263640"/>
            <a:ext cx="548640" cy="39319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2" type="title" hasCustomPrompt="1"/>
          </p:nvPr>
        </p:nvSpPr>
        <p:spPr>
          <a:xfrm>
            <a:off x="457200" y="365760"/>
            <a:ext cx="11274552" cy="822960"/>
          </a:xfrm>
          <a:prstGeom prst="rect">
            <a:avLst/>
          </a:prstGeom>
          <a:noFill/>
          <a:ln/>
        </p:spPr>
        <p:txBody>
          <a:bodyPr wrap="square" lIns="0" tIns="0" rIns="0" bIns="0" rtlCol="0" anchor="ctr"/>
          <a:lstStyle/>
          <a:p>
            <a:pPr algn="l" indent="0" marL="0">
              <a:buNone/>
            </a:pPr>
            <a:r>
              <a:rPr lang="en-US" sz="3200" b="1" dirty="0">
                <a:solidFill>
                  <a:schemeClr val="accent1"/>
                </a:solidFill>
              </a:rPr>
              <a:t>Running this with your team</a:t>
            </a:r>
            <a:endParaRPr lang="en-US" sz="3200" dirty="0"/>
          </a:p>
        </p:txBody>
      </p:sp>
      <p:sp>
        <p:nvSpPr>
          <p:cNvPr id="4" name="role Describer"/>
          <p:cNvSpPr/>
          <p:nvPr/>
        </p:nvSpPr>
        <p:spPr>
          <a:xfrm>
            <a:off x="457200" y="1325880"/>
            <a:ext cx="2651760" cy="2743200"/>
          </a:xfrm>
          <a:prstGeom prst="roundRect">
            <a:avLst>
              <a:gd name="adj" fmla="val 4138"/>
            </a:avLst>
          </a:prstGeom>
          <a:solidFill>
            <a:schemeClr val="bg2"/>
          </a:solidFill>
          <a:ln w="12700">
            <a:solidFill>
              <a:schemeClr val="bg2"/>
            </a:solidFill>
            <a:prstDash val="solid"/>
          </a:ln>
        </p:spPr>
      </p:sp>
      <p:sp>
        <p:nvSpPr>
          <p:cNvPr id="5" name="role head Describer"/>
          <p:cNvSpPr txBox="1"/>
          <p:nvPr/>
        </p:nvSpPr>
        <p:spPr>
          <a:xfrm>
            <a:off x="640080" y="1463040"/>
            <a:ext cx="2286000" cy="457200"/>
          </a:xfrm>
          <a:prstGeom prst="rect">
            <a:avLst/>
          </a:prstGeom>
          <a:noFill/>
          <a:ln/>
        </p:spPr>
        <p:txBody>
          <a:bodyPr wrap="square" lIns="0" tIns="0" rIns="0" bIns="0" rtlCol="0" anchor="t"/>
          <a:lstStyle/>
          <a:p>
            <a:pPr indent="0" marL="0">
              <a:buNone/>
            </a:pPr>
            <a:r>
              <a:rPr lang="en-US" sz="2000" b="1" dirty="0">
                <a:solidFill>
                  <a:schemeClr val="accent1"/>
                </a:solidFill>
              </a:rPr>
              <a:t>Describer</a:t>
            </a:r>
            <a:endParaRPr lang="en-US" sz="2000" dirty="0"/>
          </a:p>
        </p:txBody>
      </p:sp>
      <p:sp>
        <p:nvSpPr>
          <p:cNvPr id="6" name="role text Describer"/>
          <p:cNvSpPr txBox="1"/>
          <p:nvPr/>
        </p:nvSpPr>
        <p:spPr>
          <a:xfrm>
            <a:off x="640080" y="1965960"/>
            <a:ext cx="2286000" cy="2011680"/>
          </a:xfrm>
          <a:prstGeom prst="rect">
            <a:avLst/>
          </a:prstGeom>
          <a:noFill/>
          <a:ln/>
        </p:spPr>
        <p:txBody>
          <a:bodyPr wrap="square" lIns="0" tIns="0" rIns="0" bIns="0" rtlCol="0" anchor="t"/>
          <a:lstStyle/>
          <a:p>
            <a:pPr indent="0" marL="0">
              <a:buNone/>
            </a:pPr>
            <a:r>
              <a:rPr lang="en-US" sz="1300" dirty="0">
                <a:solidFill>
                  <a:schemeClr val="tx1"/>
                </a:solidFill>
              </a:rPr>
              <a:t>Whoever knows the robot best says what to change. They can type it or someone else can. What matters is whose words they are.</a:t>
            </a:r>
            <a:endParaRPr lang="en-US" sz="1300" dirty="0"/>
          </a:p>
        </p:txBody>
      </p:sp>
      <p:sp>
        <p:nvSpPr>
          <p:cNvPr id="7" name="role Tester"/>
          <p:cNvSpPr/>
          <p:nvPr/>
        </p:nvSpPr>
        <p:spPr>
          <a:xfrm>
            <a:off x="3291840" y="1325880"/>
            <a:ext cx="2651760" cy="2743200"/>
          </a:xfrm>
          <a:prstGeom prst="roundRect">
            <a:avLst>
              <a:gd name="adj" fmla="val 4138"/>
            </a:avLst>
          </a:prstGeom>
          <a:solidFill>
            <a:schemeClr val="bg2"/>
          </a:solidFill>
          <a:ln w="12700">
            <a:solidFill>
              <a:schemeClr val="bg2"/>
            </a:solidFill>
            <a:prstDash val="solid"/>
          </a:ln>
        </p:spPr>
      </p:sp>
      <p:sp>
        <p:nvSpPr>
          <p:cNvPr id="8" name="role head Tester"/>
          <p:cNvSpPr txBox="1"/>
          <p:nvPr/>
        </p:nvSpPr>
        <p:spPr>
          <a:xfrm>
            <a:off x="3474720" y="1463040"/>
            <a:ext cx="2286000" cy="457200"/>
          </a:xfrm>
          <a:prstGeom prst="rect">
            <a:avLst/>
          </a:prstGeom>
          <a:noFill/>
          <a:ln/>
        </p:spPr>
        <p:txBody>
          <a:bodyPr wrap="square" lIns="0" tIns="0" rIns="0" bIns="0" rtlCol="0" anchor="t"/>
          <a:lstStyle/>
          <a:p>
            <a:pPr indent="0" marL="0">
              <a:buNone/>
            </a:pPr>
            <a:r>
              <a:rPr lang="en-US" sz="2000" b="1" dirty="0">
                <a:solidFill>
                  <a:schemeClr val="accent1"/>
                </a:solidFill>
              </a:rPr>
              <a:t>Tester</a:t>
            </a:r>
            <a:endParaRPr lang="en-US" sz="2000" dirty="0"/>
          </a:p>
        </p:txBody>
      </p:sp>
      <p:sp>
        <p:nvSpPr>
          <p:cNvPr id="9" name="role text Tester"/>
          <p:cNvSpPr txBox="1"/>
          <p:nvPr/>
        </p:nvSpPr>
        <p:spPr>
          <a:xfrm>
            <a:off x="3474720" y="1965960"/>
            <a:ext cx="2286000" cy="2011680"/>
          </a:xfrm>
          <a:prstGeom prst="rect">
            <a:avLst/>
          </a:prstGeom>
          <a:noFill/>
          <a:ln/>
        </p:spPr>
        <p:txBody>
          <a:bodyPr wrap="square" lIns="0" tIns="0" rIns="0" bIns="0" rtlCol="0" anchor="t"/>
          <a:lstStyle/>
          <a:p>
            <a:pPr indent="0" marL="0">
              <a:buNone/>
            </a:pPr>
            <a:r>
              <a:rPr lang="en-US" sz="1300" dirty="0">
                <a:solidFill>
                  <a:schemeClr val="tx1"/>
                </a:solidFill>
              </a:rPr>
              <a:t>Deploys and drives. Says exactly what happened.</a:t>
            </a:r>
            <a:endParaRPr lang="en-US" sz="1300" dirty="0"/>
          </a:p>
        </p:txBody>
      </p:sp>
      <p:sp>
        <p:nvSpPr>
          <p:cNvPr id="10" name="role Reader"/>
          <p:cNvSpPr/>
          <p:nvPr/>
        </p:nvSpPr>
        <p:spPr>
          <a:xfrm>
            <a:off x="6126480" y="1325880"/>
            <a:ext cx="2651760" cy="2743200"/>
          </a:xfrm>
          <a:prstGeom prst="roundRect">
            <a:avLst>
              <a:gd name="adj" fmla="val 4138"/>
            </a:avLst>
          </a:prstGeom>
          <a:solidFill>
            <a:schemeClr val="bg2"/>
          </a:solidFill>
          <a:ln w="12700">
            <a:solidFill>
              <a:schemeClr val="bg2"/>
            </a:solidFill>
            <a:prstDash val="solid"/>
          </a:ln>
        </p:spPr>
      </p:sp>
      <p:sp>
        <p:nvSpPr>
          <p:cNvPr id="11" name="role head Reader"/>
          <p:cNvSpPr txBox="1"/>
          <p:nvPr/>
        </p:nvSpPr>
        <p:spPr>
          <a:xfrm>
            <a:off x="6309360" y="1463040"/>
            <a:ext cx="2286000" cy="457200"/>
          </a:xfrm>
          <a:prstGeom prst="rect">
            <a:avLst/>
          </a:prstGeom>
          <a:noFill/>
          <a:ln/>
        </p:spPr>
        <p:txBody>
          <a:bodyPr wrap="square" lIns="0" tIns="0" rIns="0" bIns="0" rtlCol="0" anchor="t"/>
          <a:lstStyle/>
          <a:p>
            <a:pPr indent="0" marL="0">
              <a:buNone/>
            </a:pPr>
            <a:r>
              <a:rPr lang="en-US" sz="2000" b="1" dirty="0">
                <a:solidFill>
                  <a:schemeClr val="accent1"/>
                </a:solidFill>
              </a:rPr>
              <a:t>Reader</a:t>
            </a:r>
            <a:endParaRPr lang="en-US" sz="2000" dirty="0"/>
          </a:p>
        </p:txBody>
      </p:sp>
      <p:sp>
        <p:nvSpPr>
          <p:cNvPr id="12" name="role text Reader"/>
          <p:cNvSpPr txBox="1"/>
          <p:nvPr/>
        </p:nvSpPr>
        <p:spPr>
          <a:xfrm>
            <a:off x="6309360" y="1965960"/>
            <a:ext cx="2286000" cy="2011680"/>
          </a:xfrm>
          <a:prstGeom prst="rect">
            <a:avLst/>
          </a:prstGeom>
          <a:noFill/>
          <a:ln/>
        </p:spPr>
        <p:txBody>
          <a:bodyPr wrap="square" lIns="0" tIns="0" rIns="0" bIns="0" rtlCol="0" anchor="t"/>
          <a:lstStyle/>
          <a:p>
            <a:pPr indent="0" marL="0">
              <a:buNone/>
            </a:pPr>
            <a:r>
              <a:rPr lang="en-US" sz="1300" dirty="0">
                <a:solidFill>
                  <a:schemeClr val="tx1"/>
                </a:solidFill>
              </a:rPr>
              <a:t>Reads the generated code aloud and explains it. This is where the learning happens.</a:t>
            </a:r>
            <a:endParaRPr lang="en-US" sz="1300" dirty="0"/>
          </a:p>
        </p:txBody>
      </p:sp>
      <p:sp>
        <p:nvSpPr>
          <p:cNvPr id="13" name="role Coach"/>
          <p:cNvSpPr/>
          <p:nvPr/>
        </p:nvSpPr>
        <p:spPr>
          <a:xfrm>
            <a:off x="8961120" y="1325880"/>
            <a:ext cx="2651760" cy="2743200"/>
          </a:xfrm>
          <a:prstGeom prst="roundRect">
            <a:avLst>
              <a:gd name="adj" fmla="val 4138"/>
            </a:avLst>
          </a:prstGeom>
          <a:solidFill>
            <a:schemeClr val="bg2"/>
          </a:solidFill>
          <a:ln w="12700">
            <a:solidFill>
              <a:schemeClr val="bg2"/>
            </a:solidFill>
            <a:prstDash val="solid"/>
          </a:ln>
        </p:spPr>
      </p:sp>
      <p:sp>
        <p:nvSpPr>
          <p:cNvPr id="14" name="role head Coach"/>
          <p:cNvSpPr txBox="1"/>
          <p:nvPr/>
        </p:nvSpPr>
        <p:spPr>
          <a:xfrm>
            <a:off x="9144000" y="1463040"/>
            <a:ext cx="2286000" cy="457200"/>
          </a:xfrm>
          <a:prstGeom prst="rect">
            <a:avLst/>
          </a:prstGeom>
          <a:noFill/>
          <a:ln/>
        </p:spPr>
        <p:txBody>
          <a:bodyPr wrap="square" lIns="0" tIns="0" rIns="0" bIns="0" rtlCol="0" anchor="t"/>
          <a:lstStyle/>
          <a:p>
            <a:pPr indent="0" marL="0">
              <a:buNone/>
            </a:pPr>
            <a:r>
              <a:rPr lang="en-US" sz="2000" b="1" dirty="0">
                <a:solidFill>
                  <a:schemeClr val="accent1"/>
                </a:solidFill>
              </a:rPr>
              <a:t>Coach</a:t>
            </a:r>
            <a:endParaRPr lang="en-US" sz="2000" dirty="0"/>
          </a:p>
        </p:txBody>
      </p:sp>
      <p:sp>
        <p:nvSpPr>
          <p:cNvPr id="15" name="role text Coach"/>
          <p:cNvSpPr txBox="1"/>
          <p:nvPr/>
        </p:nvSpPr>
        <p:spPr>
          <a:xfrm>
            <a:off x="9144000" y="1965960"/>
            <a:ext cx="2286000" cy="2011680"/>
          </a:xfrm>
          <a:prstGeom prst="rect">
            <a:avLst/>
          </a:prstGeom>
          <a:noFill/>
          <a:ln/>
        </p:spPr>
        <p:txBody>
          <a:bodyPr wrap="square" lIns="0" tIns="0" rIns="0" bIns="0" rtlCol="0" anchor="t"/>
          <a:lstStyle/>
          <a:p>
            <a:pPr indent="0" marL="0">
              <a:buNone/>
            </a:pPr>
            <a:r>
              <a:rPr lang="en-US" sz="1300" dirty="0">
                <a:solidFill>
                  <a:schemeClr val="tx1"/>
                </a:solidFill>
              </a:rPr>
              <a:t>Asks “what did you tell it?” when something breaks. Doesn't type.</a:t>
            </a:r>
            <a:endParaRPr lang="en-US" sz="1300" dirty="0"/>
          </a:p>
        </p:txBody>
      </p:sp>
      <p:sp>
        <p:nvSpPr>
          <p:cNvPr id="16" name="rules head"/>
          <p:cNvSpPr txBox="1"/>
          <p:nvPr/>
        </p:nvSpPr>
        <p:spPr>
          <a:xfrm>
            <a:off x="457200" y="4297680"/>
            <a:ext cx="3657600" cy="365760"/>
          </a:xfrm>
          <a:prstGeom prst="rect">
            <a:avLst/>
          </a:prstGeom>
          <a:noFill/>
          <a:ln/>
        </p:spPr>
        <p:txBody>
          <a:bodyPr wrap="square" lIns="0" tIns="0" rIns="0" bIns="0" rtlCol="0" anchor="t"/>
          <a:lstStyle/>
          <a:p>
            <a:pPr indent="0" marL="0">
              <a:buNone/>
            </a:pPr>
            <a:r>
              <a:rPr lang="en-US" sz="1800" b="1" dirty="0">
                <a:solidFill>
                  <a:schemeClr val="tx1"/>
                </a:solidFill>
              </a:rPr>
              <a:t>Ground rules</a:t>
            </a:r>
            <a:endParaRPr lang="en-US" sz="1800" dirty="0"/>
          </a:p>
        </p:txBody>
      </p:sp>
      <p:sp>
        <p:nvSpPr>
          <p:cNvPr id="17" name="rules"/>
          <p:cNvSpPr txBox="1"/>
          <p:nvPr/>
        </p:nvSpPr>
        <p:spPr>
          <a:xfrm>
            <a:off x="457200" y="4709160"/>
            <a:ext cx="11247120" cy="137160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One change per prompt. Test after every change.</a:t>
            </a:r>
            <a:endParaRPr lang="en-US" sz="1400" dirty="0"/>
          </a:p>
          <a:p>
            <a:pPr marL="342900" indent="-342900">
              <a:spcAft>
                <a:spcPts val="400"/>
              </a:spcAft>
              <a:buSzPct val="100000"/>
              <a:buChar char="•"/>
            </a:pPr>
            <a:r>
              <a:rPr lang="en-US" sz="1400" dirty="0">
                <a:solidFill>
                  <a:schemeClr val="tx1"/>
                </a:solidFill>
              </a:rPr>
              <a:t>Commit (or copy the file) after every working test.</a:t>
            </a:r>
            <a:endParaRPr lang="en-US" sz="1400" dirty="0"/>
          </a:p>
          <a:p>
            <a:pPr marL="342900" indent="-342900">
              <a:spcAft>
                <a:spcPts val="400"/>
              </a:spcAft>
              <a:buSzPct val="100000"/>
              <a:buChar char="•"/>
            </a:pPr>
            <a:r>
              <a:rPr lang="en-US" sz="1400" dirty="0">
                <a:solidFill>
                  <a:schemeClr val="tx1"/>
                </a:solidFill>
              </a:rPr>
              <a:t>If Gemini rewrites something that worked, say “only change X.”</a:t>
            </a:r>
            <a:endParaRPr lang="en-US" sz="1400" dirty="0"/>
          </a:p>
          <a:p>
            <a:pPr marL="342900" indent="-342900">
              <a:spcAft>
                <a:spcPts val="400"/>
              </a:spcAft>
              <a:buSzPct val="100000"/>
              <a:buChar char="•"/>
            </a:pPr>
            <a:r>
              <a:rPr lang="en-US" sz="1400" dirty="0">
                <a:solidFill>
                  <a:schemeClr val="tx1"/>
                </a:solidFill>
              </a:rPr>
              <a:t>The Reader has to be able to explain the code before the team moves on.</a:t>
            </a:r>
            <a:endParaRPr lang="en-US" sz="1400" dirty="0"/>
          </a:p>
        </p:txBody>
      </p:sp>
      <p:sp>
        <p:nvSpPr>
          <p:cNvPr id="25" name="Slide Number Placeholder 0"/>
          <p:cNvSpPr>
            <a:spLocks noGrp="1"/>
          </p:cNvSpPr>
          <p:nvPr>
            <p:ph type="sldNum" sz="quarter" idx="4294967295"/>
          </p:nvPr>
        </p:nvSpPr>
        <p:spPr>
          <a:xfrm>
            <a:off x="11247120" y="6263640"/>
            <a:ext cx="548640" cy="39319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2" type="title" hasCustomPrompt="1"/>
          </p:nvPr>
        </p:nvSpPr>
        <p:spPr>
          <a:xfrm>
            <a:off x="457200" y="365760"/>
            <a:ext cx="11274552" cy="822960"/>
          </a:xfrm>
          <a:prstGeom prst="rect">
            <a:avLst/>
          </a:prstGeom>
          <a:noFill/>
          <a:ln/>
        </p:spPr>
        <p:txBody>
          <a:bodyPr wrap="square" lIns="0" tIns="0" rIns="0" bIns="0" rtlCol="0" anchor="ctr"/>
          <a:lstStyle/>
          <a:p>
            <a:pPr algn="l" indent="0" marL="0">
              <a:buNone/>
            </a:pPr>
            <a:r>
              <a:rPr lang="en-US" sz="3200" b="1" dirty="0">
                <a:solidFill>
                  <a:schemeClr val="accent1"/>
                </a:solidFill>
              </a:rPr>
              <a:t>What you need to start</a:t>
            </a:r>
            <a:endParaRPr lang="en-US" sz="3200" dirty="0"/>
          </a:p>
        </p:txBody>
      </p:sp>
      <p:sp>
        <p:nvSpPr>
          <p:cNvPr id="4" name="check 0"/>
          <p:cNvSpPr/>
          <p:nvPr/>
        </p:nvSpPr>
        <p:spPr>
          <a:xfrm>
            <a:off x="457200" y="1481328"/>
            <a:ext cx="384048" cy="384048"/>
          </a:xfrm>
          <a:prstGeom prst="hexagon">
            <a:avLst/>
          </a:prstGeom>
          <a:solidFill>
            <a:schemeClr val="bg1"/>
          </a:solidFill>
          <a:ln w="19050">
            <a:solidFill>
              <a:schemeClr val="accent1"/>
            </a:solidFill>
            <a:prstDash val="solid"/>
          </a:ln>
        </p:spPr>
      </p:sp>
      <p:sp>
        <p:nvSpPr>
          <p:cNvPr id="5" name="need 0"/>
          <p:cNvSpPr txBox="1"/>
          <p:nvPr/>
        </p:nvSpPr>
        <p:spPr>
          <a:xfrm>
            <a:off x="1051560" y="1371600"/>
            <a:ext cx="6949440" cy="603504"/>
          </a:xfrm>
          <a:prstGeom prst="rect">
            <a:avLst/>
          </a:prstGeom>
          <a:noFill/>
          <a:ln/>
        </p:spPr>
        <p:txBody>
          <a:bodyPr wrap="square" lIns="0" tIns="0" rIns="0" bIns="0" rtlCol="0" anchor="ctr"/>
          <a:lstStyle/>
          <a:p>
            <a:pPr indent="0" marL="0">
              <a:buNone/>
            </a:pPr>
            <a:r>
              <a:rPr lang="en-US" sz="1600" dirty="0">
                <a:solidFill>
                  <a:schemeClr val="tx1"/>
                </a:solidFill>
              </a:rPr>
              <a:t>A laptop that runs Android Studio (Windows, Mac or Linux)</a:t>
            </a:r>
            <a:endParaRPr lang="en-US" sz="1600" dirty="0"/>
          </a:p>
        </p:txBody>
      </p:sp>
      <p:sp>
        <p:nvSpPr>
          <p:cNvPr id="6" name="check 1"/>
          <p:cNvSpPr/>
          <p:nvPr/>
        </p:nvSpPr>
        <p:spPr>
          <a:xfrm>
            <a:off x="457200" y="2194560"/>
            <a:ext cx="384048" cy="384048"/>
          </a:xfrm>
          <a:prstGeom prst="hexagon">
            <a:avLst/>
          </a:prstGeom>
          <a:solidFill>
            <a:schemeClr val="bg1"/>
          </a:solidFill>
          <a:ln w="19050">
            <a:solidFill>
              <a:schemeClr val="accent1"/>
            </a:solidFill>
            <a:prstDash val="solid"/>
          </a:ln>
        </p:spPr>
      </p:sp>
      <p:sp>
        <p:nvSpPr>
          <p:cNvPr id="7" name="need 1"/>
          <p:cNvSpPr txBox="1"/>
          <p:nvPr/>
        </p:nvSpPr>
        <p:spPr>
          <a:xfrm>
            <a:off x="1051560" y="2084832"/>
            <a:ext cx="6949440" cy="603504"/>
          </a:xfrm>
          <a:prstGeom prst="rect">
            <a:avLst/>
          </a:prstGeom>
          <a:noFill/>
          <a:ln/>
        </p:spPr>
        <p:txBody>
          <a:bodyPr wrap="square" lIns="0" tIns="0" rIns="0" bIns="0" rtlCol="0" anchor="ctr"/>
          <a:lstStyle/>
          <a:p>
            <a:pPr indent="0" marL="0">
              <a:buNone/>
            </a:pPr>
            <a:r>
              <a:rPr lang="en-US" sz="1600" dirty="0">
                <a:solidFill>
                  <a:schemeClr val="tx1"/>
                </a:solidFill>
              </a:rPr>
              <a:t>A Google account signed in to Gemini in Android Studio</a:t>
            </a:r>
            <a:endParaRPr lang="en-US" sz="1600" dirty="0"/>
          </a:p>
        </p:txBody>
      </p:sp>
      <p:sp>
        <p:nvSpPr>
          <p:cNvPr id="8" name="check 2"/>
          <p:cNvSpPr/>
          <p:nvPr/>
        </p:nvSpPr>
        <p:spPr>
          <a:xfrm>
            <a:off x="457200" y="2907792"/>
            <a:ext cx="384048" cy="384048"/>
          </a:xfrm>
          <a:prstGeom prst="hexagon">
            <a:avLst/>
          </a:prstGeom>
          <a:solidFill>
            <a:schemeClr val="bg1"/>
          </a:solidFill>
          <a:ln w="19050">
            <a:solidFill>
              <a:schemeClr val="accent1"/>
            </a:solidFill>
            <a:prstDash val="solid"/>
          </a:ln>
        </p:spPr>
      </p:sp>
      <p:sp>
        <p:nvSpPr>
          <p:cNvPr id="9" name="need 2"/>
          <p:cNvSpPr txBox="1"/>
          <p:nvPr/>
        </p:nvSpPr>
        <p:spPr>
          <a:xfrm>
            <a:off x="1051560" y="2798064"/>
            <a:ext cx="6949440" cy="603504"/>
          </a:xfrm>
          <a:prstGeom prst="rect">
            <a:avLst/>
          </a:prstGeom>
          <a:noFill/>
          <a:ln/>
        </p:spPr>
        <p:txBody>
          <a:bodyPr wrap="square" lIns="0" tIns="0" rIns="0" bIns="0" rtlCol="0" anchor="ctr"/>
          <a:lstStyle/>
          <a:p>
            <a:pPr indent="0" marL="0">
              <a:buNone/>
            </a:pPr>
            <a:r>
              <a:rPr lang="en-US" sz="1600" dirty="0">
                <a:solidFill>
                  <a:schemeClr val="tx1"/>
                </a:solidFill>
              </a:rPr>
              <a:t>The FtcRobotController project cloned</a:t>
            </a:r>
            <a:endParaRPr lang="en-US" sz="1600" dirty="0"/>
          </a:p>
        </p:txBody>
      </p:sp>
      <p:sp>
        <p:nvSpPr>
          <p:cNvPr id="10" name="check 3"/>
          <p:cNvSpPr/>
          <p:nvPr/>
        </p:nvSpPr>
        <p:spPr>
          <a:xfrm>
            <a:off x="457200" y="3621024"/>
            <a:ext cx="384048" cy="384048"/>
          </a:xfrm>
          <a:prstGeom prst="hexagon">
            <a:avLst/>
          </a:prstGeom>
          <a:solidFill>
            <a:schemeClr val="bg1"/>
          </a:solidFill>
          <a:ln w="19050">
            <a:solidFill>
              <a:schemeClr val="accent1"/>
            </a:solidFill>
            <a:prstDash val="solid"/>
          </a:ln>
        </p:spPr>
      </p:sp>
      <p:sp>
        <p:nvSpPr>
          <p:cNvPr id="11" name="need 3"/>
          <p:cNvSpPr txBox="1"/>
          <p:nvPr/>
        </p:nvSpPr>
        <p:spPr>
          <a:xfrm>
            <a:off x="1051560" y="3511296"/>
            <a:ext cx="6949440" cy="603504"/>
          </a:xfrm>
          <a:prstGeom prst="rect">
            <a:avLst/>
          </a:prstGeom>
          <a:noFill/>
          <a:ln/>
        </p:spPr>
        <p:txBody>
          <a:bodyPr wrap="square" lIns="0" tIns="0" rIns="0" bIns="0" rtlCol="0" anchor="ctr"/>
          <a:lstStyle/>
          <a:p>
            <a:pPr indent="0" marL="0">
              <a:buNone/>
            </a:pPr>
            <a:r>
              <a:rPr lang="en-US" sz="1600" dirty="0">
                <a:solidFill>
                  <a:schemeClr val="tx1"/>
                </a:solidFill>
              </a:rPr>
              <a:t>Your robot's hardware config done on the Driver Hub, with names and ports</a:t>
            </a:r>
            <a:endParaRPr lang="en-US" sz="1600" dirty="0"/>
          </a:p>
        </p:txBody>
      </p:sp>
      <p:sp>
        <p:nvSpPr>
          <p:cNvPr id="12" name="check 4"/>
          <p:cNvSpPr/>
          <p:nvPr/>
        </p:nvSpPr>
        <p:spPr>
          <a:xfrm>
            <a:off x="457200" y="4334256"/>
            <a:ext cx="384048" cy="384048"/>
          </a:xfrm>
          <a:prstGeom prst="hexagon">
            <a:avLst/>
          </a:prstGeom>
          <a:solidFill>
            <a:schemeClr val="bg1"/>
          </a:solidFill>
          <a:ln w="19050">
            <a:solidFill>
              <a:schemeClr val="accent1"/>
            </a:solidFill>
            <a:prstDash val="solid"/>
          </a:ln>
        </p:spPr>
      </p:sp>
      <p:sp>
        <p:nvSpPr>
          <p:cNvPr id="13" name="need 4"/>
          <p:cNvSpPr txBox="1"/>
          <p:nvPr/>
        </p:nvSpPr>
        <p:spPr>
          <a:xfrm>
            <a:off x="1051560" y="4224528"/>
            <a:ext cx="6949440" cy="603504"/>
          </a:xfrm>
          <a:prstGeom prst="rect">
            <a:avLst/>
          </a:prstGeom>
          <a:noFill/>
          <a:ln/>
        </p:spPr>
        <p:txBody>
          <a:bodyPr wrap="square" lIns="0" tIns="0" rIns="0" bIns="0" rtlCol="0" anchor="ctr"/>
          <a:lstStyle/>
          <a:p>
            <a:pPr indent="0" marL="0">
              <a:buNone/>
            </a:pPr>
            <a:r>
              <a:rPr lang="en-US" sz="1600" dirty="0">
                <a:solidFill>
                  <a:schemeClr val="tx1"/>
                </a:solidFill>
              </a:rPr>
              <a:t>A written list of every motor and servo: name, port, purpose, direction</a:t>
            </a:r>
            <a:endParaRPr lang="en-US" sz="1600" dirty="0"/>
          </a:p>
        </p:txBody>
      </p:sp>
      <p:sp>
        <p:nvSpPr>
          <p:cNvPr id="14" name="check 5"/>
          <p:cNvSpPr/>
          <p:nvPr/>
        </p:nvSpPr>
        <p:spPr>
          <a:xfrm>
            <a:off x="457200" y="5047488"/>
            <a:ext cx="384048" cy="384048"/>
          </a:xfrm>
          <a:prstGeom prst="hexagon">
            <a:avLst/>
          </a:prstGeom>
          <a:solidFill>
            <a:schemeClr val="bg1"/>
          </a:solidFill>
          <a:ln w="19050">
            <a:solidFill>
              <a:schemeClr val="accent1"/>
            </a:solidFill>
            <a:prstDash val="solid"/>
          </a:ln>
        </p:spPr>
      </p:sp>
      <p:sp>
        <p:nvSpPr>
          <p:cNvPr id="15" name="need 5"/>
          <p:cNvSpPr txBox="1"/>
          <p:nvPr/>
        </p:nvSpPr>
        <p:spPr>
          <a:xfrm>
            <a:off x="1051560" y="4937760"/>
            <a:ext cx="6949440" cy="603504"/>
          </a:xfrm>
          <a:prstGeom prst="rect">
            <a:avLst/>
          </a:prstGeom>
          <a:noFill/>
          <a:ln/>
        </p:spPr>
        <p:txBody>
          <a:bodyPr wrap="square" lIns="0" tIns="0" rIns="0" bIns="0" rtlCol="0" anchor="ctr"/>
          <a:lstStyle/>
          <a:p>
            <a:pPr indent="0" marL="0">
              <a:buNone/>
            </a:pPr>
            <a:r>
              <a:rPr lang="en-US" sz="1600" dirty="0">
                <a:solidFill>
                  <a:schemeClr val="tx1"/>
                </a:solidFill>
              </a:rPr>
              <a:t>The guide and videos: github.com/The-Hive-3747/Teaching-AI-Coding</a:t>
            </a:r>
            <a:endParaRPr lang="en-US" sz="1600" dirty="0"/>
          </a:p>
        </p:txBody>
      </p:sp>
      <p:sp>
        <p:nvSpPr>
          <p:cNvPr id="16" name="popups card"/>
          <p:cNvSpPr/>
          <p:nvPr/>
        </p:nvSpPr>
        <p:spPr>
          <a:xfrm>
            <a:off x="8412480" y="1371600"/>
            <a:ext cx="3319272" cy="4206240"/>
          </a:xfrm>
          <a:prstGeom prst="roundRect">
            <a:avLst>
              <a:gd name="adj" fmla="val 3306"/>
            </a:avLst>
          </a:prstGeom>
          <a:solidFill>
            <a:schemeClr val="bg2"/>
          </a:solidFill>
          <a:ln w="12700">
            <a:solidFill>
              <a:schemeClr val="bg2"/>
            </a:solidFill>
            <a:prstDash val="solid"/>
          </a:ln>
        </p:spPr>
      </p:sp>
      <p:sp>
        <p:nvSpPr>
          <p:cNvPr id="17" name="popups head"/>
          <p:cNvSpPr txBox="1"/>
          <p:nvPr/>
        </p:nvSpPr>
        <p:spPr>
          <a:xfrm>
            <a:off x="8595360" y="1508760"/>
            <a:ext cx="3017520" cy="640080"/>
          </a:xfrm>
          <a:prstGeom prst="rect">
            <a:avLst/>
          </a:prstGeom>
          <a:noFill/>
          <a:ln/>
        </p:spPr>
        <p:txBody>
          <a:bodyPr wrap="square" lIns="0" tIns="0" rIns="0" bIns="0" rtlCol="0" anchor="t"/>
          <a:lstStyle/>
          <a:p>
            <a:pPr indent="0" marL="0">
              <a:buNone/>
            </a:pPr>
            <a:r>
              <a:rPr lang="en-US" sz="1500" b="1" dirty="0">
                <a:solidFill>
                  <a:schemeClr val="accent1"/>
                </a:solidFill>
              </a:rPr>
              <a:t>First Gradle sync: three pop-ups</a:t>
            </a:r>
            <a:endParaRPr lang="en-US" sz="1500" dirty="0"/>
          </a:p>
        </p:txBody>
      </p:sp>
      <p:sp>
        <p:nvSpPr>
          <p:cNvPr id="18" name="popups"/>
          <p:cNvSpPr txBox="1"/>
          <p:nvPr/>
        </p:nvSpPr>
        <p:spPr>
          <a:xfrm>
            <a:off x="8595360" y="2194560"/>
            <a:ext cx="3017520" cy="3200400"/>
          </a:xfrm>
          <a:prstGeom prst="rect">
            <a:avLst/>
          </a:prstGeom>
          <a:noFill/>
          <a:ln/>
        </p:spPr>
        <p:txBody>
          <a:bodyPr wrap="square" lIns="0" tIns="0" rIns="0" bIns="0" rtlCol="0" anchor="t"/>
          <a:lstStyle/>
          <a:p>
            <a:pPr indent="0" marL="0">
              <a:buNone/>
            </a:pPr>
            <a:r>
              <a:rPr lang="en-US" sz="1400" b="1" dirty="0">
                <a:solidFill>
                  <a:schemeClr val="accent3"/>
                </a:solidFill>
              </a:rPr>
              <a:t>Accept</a:t>
            </a:r>
            <a:pPr indent="0" marL="0">
              <a:spcAft>
                <a:spcPts val="1000"/>
              </a:spcAft>
              <a:buNone/>
            </a:pPr>
            <a:r>
              <a:rPr lang="en-US" sz="1400" dirty="0">
                <a:solidFill>
                  <a:schemeClr val="tx1"/>
                </a:solidFill>
              </a:rPr>
              <a:t> the Daemon JVM toolchain migration</a:t>
            </a:r>
            <a:endParaRPr lang="en-US" sz="1400" dirty="0"/>
          </a:p>
          <a:p>
            <a:pPr indent="0" marL="0">
              <a:buNone/>
            </a:pPr>
            <a:r>
              <a:rPr lang="en-US" sz="1400" b="1" dirty="0">
                <a:solidFill>
                  <a:schemeClr val="accent4"/>
                </a:solidFill>
              </a:rPr>
              <a:t>Decline</a:t>
            </a:r>
            <a:pPr indent="0" marL="0">
              <a:spcAft>
                <a:spcPts val="1000"/>
              </a:spcAft>
              <a:buNone/>
            </a:pPr>
            <a:r>
              <a:rPr lang="en-US" sz="1400" dirty="0">
                <a:solidFill>
                  <a:schemeClr val="tx1"/>
                </a:solidFill>
              </a:rPr>
              <a:t> the Gradle / AGP upgrade, which breaks the FTC project</a:t>
            </a:r>
            <a:endParaRPr lang="en-US" sz="1400" dirty="0"/>
          </a:p>
          <a:p>
            <a:pPr indent="0" marL="0">
              <a:buNone/>
            </a:pPr>
            <a:r>
              <a:rPr lang="en-US" sz="1400" b="1" dirty="0">
                <a:solidFill>
                  <a:schemeClr val="accent3"/>
                </a:solidFill>
              </a:rPr>
              <a:t>Accept</a:t>
            </a:r>
            <a:pPr indent="0" marL="0">
              <a:buNone/>
            </a:pPr>
            <a:r>
              <a:rPr lang="en-US" sz="1400" dirty="0">
                <a:solidFill>
                  <a:schemeClr val="tx1"/>
                </a:solidFill>
              </a:rPr>
              <a:t> the Windows Defender exclusion, or builds crawl</a:t>
            </a:r>
            <a:endParaRPr lang="en-US" sz="1400" dirty="0"/>
          </a:p>
        </p:txBody>
      </p:sp>
      <p:sp>
        <p:nvSpPr>
          <p:cNvPr id="19" name="popups note"/>
          <p:cNvSpPr txBox="1"/>
          <p:nvPr/>
        </p:nvSpPr>
        <p:spPr>
          <a:xfrm>
            <a:off x="8595360" y="5120640"/>
            <a:ext cx="3017520" cy="365760"/>
          </a:xfrm>
          <a:prstGeom prst="rect">
            <a:avLst/>
          </a:prstGeom>
          <a:noFill/>
          <a:ln/>
        </p:spPr>
        <p:txBody>
          <a:bodyPr wrap="square" lIns="0" tIns="0" rIns="0" bIns="0" rtlCol="0" anchor="t"/>
          <a:lstStyle/>
          <a:p>
            <a:pPr indent="0" marL="0">
              <a:buNone/>
            </a:pPr>
            <a:r>
              <a:rPr lang="en-US" sz="1200" dirty="0">
                <a:solidFill>
                  <a:schemeClr val="tx2"/>
                </a:solidFill>
              </a:rPr>
              <a:t>Checkpoint 0 has all three.</a:t>
            </a:r>
            <a:endParaRPr lang="en-US" sz="1200" dirty="0"/>
          </a:p>
        </p:txBody>
      </p:sp>
      <p:sp>
        <p:nvSpPr>
          <p:cNvPr id="20" name="training offer"/>
          <p:cNvSpPr txBox="1"/>
          <p:nvPr/>
        </p:nvSpPr>
        <p:spPr>
          <a:xfrm>
            <a:off x="457200" y="5715000"/>
            <a:ext cx="7589520" cy="457200"/>
          </a:xfrm>
          <a:prstGeom prst="rect">
            <a:avLst/>
          </a:prstGeom>
          <a:noFill/>
          <a:ln/>
        </p:spPr>
        <p:txBody>
          <a:bodyPr wrap="square" lIns="0" tIns="0" rIns="0" bIns="0" rtlCol="0" anchor="t"/>
          <a:lstStyle/>
          <a:p>
            <a:pPr indent="0" marL="0">
              <a:buNone/>
            </a:pPr>
            <a:r>
              <a:rPr lang="en-US" sz="1400" b="1" dirty="0">
                <a:solidFill>
                  <a:schemeClr val="accent1"/>
                </a:solidFill>
              </a:rPr>
              <a:t>Or bring your robot to a Hive training session. We'll teach your students to prompt, and you leave with a driving robot, maybe more.</a:t>
            </a:r>
            <a:endParaRPr lang="en-US" sz="1400" dirty="0"/>
          </a:p>
        </p:txBody>
      </p:sp>
      <p:sp>
        <p:nvSpPr>
          <p:cNvPr id="25" name="Slide Number Placeholder 0"/>
          <p:cNvSpPr>
            <a:spLocks noGrp="1"/>
          </p:cNvSpPr>
          <p:nvPr>
            <p:ph type="sldNum" sz="quarter" idx="4294967295"/>
          </p:nvPr>
        </p:nvSpPr>
        <p:spPr>
          <a:xfrm>
            <a:off x="11247120" y="6263640"/>
            <a:ext cx="548640" cy="39319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2" type="title" hasCustomPrompt="1"/>
          </p:nvPr>
        </p:nvSpPr>
        <p:spPr>
          <a:xfrm>
            <a:off x="457200" y="365760"/>
            <a:ext cx="11274552" cy="822960"/>
          </a:xfrm>
          <a:prstGeom prst="rect">
            <a:avLst/>
          </a:prstGeom>
          <a:noFill/>
          <a:ln/>
        </p:spPr>
        <p:txBody>
          <a:bodyPr wrap="square" lIns="0" tIns="0" rIns="0" bIns="0" rtlCol="0" anchor="ctr"/>
          <a:lstStyle/>
          <a:p>
            <a:pPr algn="l" indent="0" marL="0">
              <a:buNone/>
            </a:pPr>
            <a:r>
              <a:rPr lang="en-US" sz="3200" b="1" dirty="0">
                <a:solidFill>
                  <a:schemeClr val="accent1"/>
                </a:solidFill>
              </a:rPr>
              <a:t>Who made this</a:t>
            </a:r>
            <a:endParaRPr lang="en-US" sz="3200" dirty="0"/>
          </a:p>
        </p:txBody>
      </p:sp>
      <p:sp>
        <p:nvSpPr>
          <p:cNvPr id="4" name="credit head 0"/>
          <p:cNvSpPr txBox="1"/>
          <p:nvPr/>
        </p:nvSpPr>
        <p:spPr>
          <a:xfrm>
            <a:off x="457200" y="1325880"/>
            <a:ext cx="5486400" cy="347472"/>
          </a:xfrm>
          <a:prstGeom prst="rect">
            <a:avLst/>
          </a:prstGeom>
          <a:noFill/>
          <a:ln/>
        </p:spPr>
        <p:txBody>
          <a:bodyPr wrap="square" lIns="0" tIns="0" rIns="0" bIns="0" rtlCol="0" anchor="t"/>
          <a:lstStyle/>
          <a:p>
            <a:pPr indent="0" marL="0">
              <a:buNone/>
            </a:pPr>
            <a:r>
              <a:rPr lang="en-US" sz="1700" b="1" dirty="0">
                <a:solidFill>
                  <a:schemeClr val="accent1"/>
                </a:solidFill>
              </a:rPr>
              <a:t>Tom, Sophi and Sadiqah, The Hive's programmers</a:t>
            </a:r>
            <a:endParaRPr lang="en-US" sz="1700" dirty="0"/>
          </a:p>
        </p:txBody>
      </p:sp>
      <p:sp>
        <p:nvSpPr>
          <p:cNvPr id="5" name="credit text 0"/>
          <p:cNvSpPr txBox="1"/>
          <p:nvPr/>
        </p:nvSpPr>
        <p:spPr>
          <a:xfrm>
            <a:off x="457200" y="1691640"/>
            <a:ext cx="5486400" cy="640080"/>
          </a:xfrm>
          <a:prstGeom prst="rect">
            <a:avLst/>
          </a:prstGeom>
          <a:noFill/>
          <a:ln/>
        </p:spPr>
        <p:txBody>
          <a:bodyPr wrap="square" lIns="0" tIns="0" rIns="0" bIns="0" rtlCol="0" anchor="t"/>
          <a:lstStyle/>
          <a:p>
            <a:pPr indent="0" marL="0">
              <a:buNone/>
            </a:pPr>
            <a:r>
              <a:rPr lang="en-US" sz="1300" dirty="0">
                <a:solidFill>
                  <a:schemeClr val="tx2"/>
                </a:solidFill>
              </a:rPr>
              <a:t>Hand-coded the team's own robot this season. Present this workshop and narrate the videos.</a:t>
            </a:r>
            <a:endParaRPr lang="en-US" sz="1300" dirty="0"/>
          </a:p>
        </p:txBody>
      </p:sp>
      <p:sp>
        <p:nvSpPr>
          <p:cNvPr id="6" name="credit head 1"/>
          <p:cNvSpPr txBox="1"/>
          <p:nvPr/>
        </p:nvSpPr>
        <p:spPr>
          <a:xfrm>
            <a:off x="457200" y="2377440"/>
            <a:ext cx="5486400" cy="347472"/>
          </a:xfrm>
          <a:prstGeom prst="rect">
            <a:avLst/>
          </a:prstGeom>
          <a:noFill/>
          <a:ln/>
        </p:spPr>
        <p:txBody>
          <a:bodyPr wrap="square" lIns="0" tIns="0" rIns="0" bIns="0" rtlCol="0" anchor="t"/>
          <a:lstStyle/>
          <a:p>
            <a:pPr indent="0" marL="0">
              <a:buNone/>
            </a:pPr>
            <a:r>
              <a:rPr lang="en-US" sz="1700" b="1" dirty="0">
                <a:solidFill>
                  <a:schemeClr val="accent1"/>
                </a:solidFill>
              </a:rPr>
              <a:t>Ben, coordinator</a:t>
            </a:r>
            <a:endParaRPr lang="en-US" sz="1700" dirty="0"/>
          </a:p>
        </p:txBody>
      </p:sp>
      <p:sp>
        <p:nvSpPr>
          <p:cNvPr id="7" name="credit text 1"/>
          <p:cNvSpPr txBox="1"/>
          <p:nvPr/>
        </p:nvSpPr>
        <p:spPr>
          <a:xfrm>
            <a:off x="457200" y="2743200"/>
            <a:ext cx="5486400" cy="640080"/>
          </a:xfrm>
          <a:prstGeom prst="rect">
            <a:avLst/>
          </a:prstGeom>
          <a:noFill/>
          <a:ln/>
        </p:spPr>
        <p:txBody>
          <a:bodyPr wrap="square" lIns="0" tIns="0" rIns="0" bIns="0" rtlCol="0" anchor="t"/>
          <a:lstStyle/>
          <a:p>
            <a:pPr indent="0" marL="0">
              <a:buNone/>
            </a:pPr>
            <a:r>
              <a:rPr lang="en-US" sz="1300" dirty="0">
                <a:solidFill>
                  <a:schemeClr val="tx2"/>
                </a:solidFill>
              </a:rPr>
              <a:t>Described the mentor robot's architecture to Gemini on night one. Typed no Java.</a:t>
            </a:r>
            <a:endParaRPr lang="en-US" sz="1300" dirty="0"/>
          </a:p>
        </p:txBody>
      </p:sp>
      <p:sp>
        <p:nvSpPr>
          <p:cNvPr id="8" name="credit head 2"/>
          <p:cNvSpPr txBox="1"/>
          <p:nvPr/>
        </p:nvSpPr>
        <p:spPr>
          <a:xfrm>
            <a:off x="457200" y="3429000"/>
            <a:ext cx="5486400" cy="347472"/>
          </a:xfrm>
          <a:prstGeom prst="rect">
            <a:avLst/>
          </a:prstGeom>
          <a:noFill/>
          <a:ln/>
        </p:spPr>
        <p:txBody>
          <a:bodyPr wrap="square" lIns="0" tIns="0" rIns="0" bIns="0" rtlCol="0" anchor="t"/>
          <a:lstStyle/>
          <a:p>
            <a:pPr indent="0" marL="0">
              <a:buNone/>
            </a:pPr>
            <a:r>
              <a:rPr lang="en-US" sz="1700" b="1" dirty="0">
                <a:solidFill>
                  <a:schemeClr val="accent1"/>
                </a:solidFill>
              </a:rPr>
              <a:t>Annie, head coach</a:t>
            </a:r>
            <a:endParaRPr lang="en-US" sz="1700" dirty="0"/>
          </a:p>
        </p:txBody>
      </p:sp>
      <p:sp>
        <p:nvSpPr>
          <p:cNvPr id="9" name="credit text 2"/>
          <p:cNvSpPr txBox="1"/>
          <p:nvPr/>
        </p:nvSpPr>
        <p:spPr>
          <a:xfrm>
            <a:off x="457200" y="3794760"/>
            <a:ext cx="5486400" cy="640080"/>
          </a:xfrm>
          <a:prstGeom prst="rect">
            <a:avLst/>
          </a:prstGeom>
          <a:noFill/>
          <a:ln/>
        </p:spPr>
        <p:txBody>
          <a:bodyPr wrap="square" lIns="0" tIns="0" rIns="0" bIns="0" rtlCol="0" anchor="t"/>
          <a:lstStyle/>
          <a:p>
            <a:pPr indent="0" marL="0">
              <a:buNone/>
            </a:pPr>
            <a:endParaRPr lang="en-US" sz="1300" dirty="0"/>
          </a:p>
        </p:txBody>
      </p:sp>
      <p:sp>
        <p:nvSpPr>
          <p:cNvPr id="10" name="credit head 3"/>
          <p:cNvSpPr txBox="1"/>
          <p:nvPr/>
        </p:nvSpPr>
        <p:spPr>
          <a:xfrm>
            <a:off x="457200" y="4480560"/>
            <a:ext cx="5486400" cy="347472"/>
          </a:xfrm>
          <a:prstGeom prst="rect">
            <a:avLst/>
          </a:prstGeom>
          <a:noFill/>
          <a:ln/>
        </p:spPr>
        <p:txBody>
          <a:bodyPr wrap="square" lIns="0" tIns="0" rIns="0" bIns="0" rtlCol="0" anchor="t"/>
          <a:lstStyle/>
          <a:p>
            <a:pPr indent="0" marL="0">
              <a:buNone/>
            </a:pPr>
            <a:r>
              <a:rPr lang="en-US" sz="1700" b="1" dirty="0">
                <a:solidFill>
                  <a:schemeClr val="accent1"/>
                </a:solidFill>
              </a:rPr>
              <a:t>Asim, mechanical mentor</a:t>
            </a:r>
            <a:endParaRPr lang="en-US" sz="1700" dirty="0"/>
          </a:p>
        </p:txBody>
      </p:sp>
      <p:sp>
        <p:nvSpPr>
          <p:cNvPr id="11" name="credit text 3"/>
          <p:cNvSpPr txBox="1"/>
          <p:nvPr/>
        </p:nvSpPr>
        <p:spPr>
          <a:xfrm>
            <a:off x="457200" y="4846320"/>
            <a:ext cx="5486400" cy="640080"/>
          </a:xfrm>
          <a:prstGeom prst="rect">
            <a:avLst/>
          </a:prstGeom>
          <a:noFill/>
          <a:ln/>
        </p:spPr>
        <p:txBody>
          <a:bodyPr wrap="square" lIns="0" tIns="0" rIns="0" bIns="0" rtlCol="0" anchor="t"/>
          <a:lstStyle/>
          <a:p>
            <a:pPr indent="0" marL="0">
              <a:buNone/>
            </a:pPr>
            <a:r>
              <a:rPr lang="en-US" sz="1300" dirty="0">
                <a:solidFill>
                  <a:schemeClr val="tx2"/>
                </a:solidFill>
              </a:rPr>
              <a:t>Built the mentor robot and authored most of the later changes in plain English, eight of them at the keyboard.</a:t>
            </a:r>
            <a:endParaRPr lang="en-US" sz="1300" dirty="0"/>
          </a:p>
        </p:txBody>
      </p:sp>
      <p:sp>
        <p:nvSpPr>
          <p:cNvPr id="12" name="credit head 4"/>
          <p:cNvSpPr txBox="1"/>
          <p:nvPr/>
        </p:nvSpPr>
        <p:spPr>
          <a:xfrm>
            <a:off x="6217920" y="1325880"/>
            <a:ext cx="5486400" cy="347472"/>
          </a:xfrm>
          <a:prstGeom prst="rect">
            <a:avLst/>
          </a:prstGeom>
          <a:noFill/>
          <a:ln/>
        </p:spPr>
        <p:txBody>
          <a:bodyPr wrap="square" lIns="0" tIns="0" rIns="0" bIns="0" rtlCol="0" anchor="t"/>
          <a:lstStyle/>
          <a:p>
            <a:pPr indent="0" marL="0">
              <a:buNone/>
            </a:pPr>
            <a:r>
              <a:rPr lang="en-US" sz="1700" b="1" dirty="0">
                <a:solidFill>
                  <a:schemeClr val="accent1"/>
                </a:solidFill>
              </a:rPr>
              <a:t>Royd, coach and mechanical engineer</a:t>
            </a:r>
            <a:endParaRPr lang="en-US" sz="1700" dirty="0"/>
          </a:p>
        </p:txBody>
      </p:sp>
      <p:sp>
        <p:nvSpPr>
          <p:cNvPr id="13" name="credit text 4"/>
          <p:cNvSpPr txBox="1"/>
          <p:nvPr/>
        </p:nvSpPr>
        <p:spPr>
          <a:xfrm>
            <a:off x="6217920" y="1691640"/>
            <a:ext cx="5486400" cy="640080"/>
          </a:xfrm>
          <a:prstGeom prst="rect">
            <a:avLst/>
          </a:prstGeom>
          <a:noFill/>
          <a:ln/>
        </p:spPr>
        <p:txBody>
          <a:bodyPr wrap="square" lIns="0" tIns="0" rIns="0" bIns="0" rtlCol="0" anchor="t"/>
          <a:lstStyle/>
          <a:p>
            <a:pPr indent="0" marL="0">
              <a:buNone/>
            </a:pPr>
            <a:r>
              <a:rPr lang="en-US" sz="1300" dirty="0">
                <a:solidFill>
                  <a:schemeClr val="tx2"/>
                </a:solidFill>
              </a:rPr>
              <a:t>Second coach on The Hive.</a:t>
            </a:r>
            <a:endParaRPr lang="en-US" sz="1300" dirty="0"/>
          </a:p>
        </p:txBody>
      </p:sp>
      <p:sp>
        <p:nvSpPr>
          <p:cNvPr id="14" name="credit head 5"/>
          <p:cNvSpPr txBox="1"/>
          <p:nvPr/>
        </p:nvSpPr>
        <p:spPr>
          <a:xfrm>
            <a:off x="6217920" y="2377440"/>
            <a:ext cx="5486400" cy="347472"/>
          </a:xfrm>
          <a:prstGeom prst="rect">
            <a:avLst/>
          </a:prstGeom>
          <a:noFill/>
          <a:ln/>
        </p:spPr>
        <p:txBody>
          <a:bodyPr wrap="square" lIns="0" tIns="0" rIns="0" bIns="0" rtlCol="0" anchor="t"/>
          <a:lstStyle/>
          <a:p>
            <a:pPr indent="0" marL="0">
              <a:buNone/>
            </a:pPr>
            <a:r>
              <a:rPr lang="en-US" sz="1700" b="1" dirty="0">
                <a:solidFill>
                  <a:schemeClr val="accent1"/>
                </a:solidFill>
              </a:rPr>
              <a:t>Claude (Anthropic)</a:t>
            </a:r>
            <a:endParaRPr lang="en-US" sz="1700" dirty="0"/>
          </a:p>
        </p:txBody>
      </p:sp>
      <p:sp>
        <p:nvSpPr>
          <p:cNvPr id="15" name="credit text 5"/>
          <p:cNvSpPr txBox="1"/>
          <p:nvPr/>
        </p:nvSpPr>
        <p:spPr>
          <a:xfrm>
            <a:off x="6217920" y="2743200"/>
            <a:ext cx="5486400" cy="640080"/>
          </a:xfrm>
          <a:prstGeom prst="rect">
            <a:avLst/>
          </a:prstGeom>
          <a:noFill/>
          <a:ln/>
        </p:spPr>
        <p:txBody>
          <a:bodyPr wrap="square" lIns="0" tIns="0" rIns="0" bIns="0" rtlCol="0" anchor="t"/>
          <a:lstStyle/>
          <a:p>
            <a:pPr indent="0" marL="0">
              <a:buNone/>
            </a:pPr>
            <a:r>
              <a:rPr lang="en-US" sz="1300" dirty="0">
                <a:solidFill>
                  <a:schemeClr val="tx2"/>
                </a:solidFill>
              </a:rPr>
              <a:t>Compiled the transcript, guide and slides from the team's material.</a:t>
            </a:r>
            <a:endParaRPr lang="en-US" sz="1300" dirty="0"/>
          </a:p>
        </p:txBody>
      </p:sp>
      <p:sp>
        <p:nvSpPr>
          <p:cNvPr id="16" name="credit head 6"/>
          <p:cNvSpPr txBox="1"/>
          <p:nvPr/>
        </p:nvSpPr>
        <p:spPr>
          <a:xfrm>
            <a:off x="6217920" y="3429000"/>
            <a:ext cx="5486400" cy="347472"/>
          </a:xfrm>
          <a:prstGeom prst="rect">
            <a:avLst/>
          </a:prstGeom>
          <a:noFill/>
          <a:ln/>
        </p:spPr>
        <p:txBody>
          <a:bodyPr wrap="square" lIns="0" tIns="0" rIns="0" bIns="0" rtlCol="0" anchor="t"/>
          <a:lstStyle/>
          <a:p>
            <a:pPr indent="0" marL="0">
              <a:buNone/>
            </a:pPr>
            <a:r>
              <a:rPr lang="en-US" sz="1700" b="1" dirty="0">
                <a:solidFill>
                  <a:schemeClr val="accent1"/>
                </a:solidFill>
              </a:rPr>
              <a:t>Gemini in Android Studio (Google)</a:t>
            </a:r>
            <a:endParaRPr lang="en-US" sz="1700" dirty="0"/>
          </a:p>
        </p:txBody>
      </p:sp>
      <p:sp>
        <p:nvSpPr>
          <p:cNvPr id="17" name="credit text 6"/>
          <p:cNvSpPr txBox="1"/>
          <p:nvPr/>
        </p:nvSpPr>
        <p:spPr>
          <a:xfrm>
            <a:off x="6217920" y="3794760"/>
            <a:ext cx="5486400" cy="640080"/>
          </a:xfrm>
          <a:prstGeom prst="rect">
            <a:avLst/>
          </a:prstGeom>
          <a:noFill/>
          <a:ln/>
        </p:spPr>
        <p:txBody>
          <a:bodyPr wrap="square" lIns="0" tIns="0" rIns="0" bIns="0" rtlCol="0" anchor="t"/>
          <a:lstStyle/>
          <a:p>
            <a:pPr indent="0" marL="0">
              <a:buNone/>
            </a:pPr>
            <a:r>
              <a:rPr lang="en-US" sz="1300" dirty="0">
                <a:solidFill>
                  <a:schemeClr val="tx2"/>
                </a:solidFill>
              </a:rPr>
              <a:t>Wrote every line of the mentor robot's code from the mentors' descriptions.</a:t>
            </a:r>
            <a:endParaRPr lang="en-US" sz="1300" dirty="0"/>
          </a:p>
        </p:txBody>
      </p:sp>
      <p:sp>
        <p:nvSpPr>
          <p:cNvPr id="18" name="credits takeaway"/>
          <p:cNvSpPr txBox="1"/>
          <p:nvPr/>
        </p:nvSpPr>
        <p:spPr>
          <a:xfrm>
            <a:off x="457200" y="5577840"/>
            <a:ext cx="11247120" cy="457200"/>
          </a:xfrm>
          <a:prstGeom prst="rect">
            <a:avLst/>
          </a:prstGeom>
          <a:noFill/>
          <a:ln/>
        </p:spPr>
        <p:txBody>
          <a:bodyPr wrap="square" lIns="0" tIns="0" rIns="0" bIns="0" rtlCol="0" anchor="t"/>
          <a:lstStyle/>
          <a:p>
            <a:pPr indent="0" marL="0">
              <a:buNone/>
            </a:pPr>
            <a:r>
              <a:rPr lang="en-US" sz="1500" b="1" dirty="0">
                <a:solidFill>
                  <a:schemeClr val="accent1"/>
                </a:solidFill>
              </a:rPr>
              <a:t>Made the way it teaches: described by the team, generated, tested, refined.</a:t>
            </a:r>
            <a:endParaRPr lang="en-US" sz="1500" dirty="0"/>
          </a:p>
        </p:txBody>
      </p:sp>
      <p:sp>
        <p:nvSpPr>
          <p:cNvPr id="25" name="Slide Number Placeholder 0"/>
          <p:cNvSpPr>
            <a:spLocks noGrp="1"/>
          </p:cNvSpPr>
          <p:nvPr>
            <p:ph type="sldNum" sz="quarter" idx="4294967295"/>
          </p:nvPr>
        </p:nvSpPr>
        <p:spPr>
          <a:xfrm>
            <a:off x="11247120" y="6263640"/>
            <a:ext cx="548640" cy="39319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logo" descr="/home/claude/teaching-ai-coding/docs/images/hive-logo.png">    </p:cNvPr>
          <p:cNvPicPr>
            <a:picLocks noChangeAspect="1"/>
          </p:cNvPicPr>
          <p:nvPr/>
        </p:nvPicPr>
        <p:blipFill>
          <a:blip r:embed="rId1"/>
          <a:stretch>
            <a:fillRect/>
          </a:stretch>
        </p:blipFill>
        <p:spPr>
          <a:xfrm>
            <a:off x="7498080" y="3931920"/>
            <a:ext cx="4389120" cy="2468880"/>
          </a:xfrm>
          <a:prstGeom prst="rect">
            <a:avLst/>
          </a:prstGeom>
        </p:spPr>
      </p:pic>
      <p:sp>
        <p:nvSpPr>
          <p:cNvPr id="3" name="close"/>
          <p:cNvSpPr txBox="1"/>
          <p:nvPr/>
        </p:nvSpPr>
        <p:spPr>
          <a:xfrm>
            <a:off x="640080" y="1097280"/>
            <a:ext cx="10515600" cy="3291840"/>
          </a:xfrm>
          <a:prstGeom prst="rect">
            <a:avLst/>
          </a:prstGeom>
          <a:noFill/>
          <a:ln/>
        </p:spPr>
        <p:txBody>
          <a:bodyPr wrap="square" lIns="0" tIns="0" rIns="0" bIns="0" rtlCol="0" anchor="ctr"/>
          <a:lstStyle/>
          <a:p>
            <a:pPr indent="0" marL="0">
              <a:buNone/>
            </a:pPr>
            <a:r>
              <a:rPr lang="en-US" sz="4000" b="1" dirty="0">
                <a:solidFill>
                  <a:schemeClr val="accent1"/>
                </a:solidFill>
              </a:rPr>
              <a:t>Start small.</a:t>
            </a:r>
            <a:endParaRPr lang="en-US" sz="4000" dirty="0"/>
          </a:p>
          <a:p>
            <a:pPr indent="0" marL="0">
              <a:buNone/>
            </a:pPr>
            <a:r>
              <a:rPr lang="en-US" sz="4000" b="1" dirty="0">
                <a:solidFill>
                  <a:schemeClr val="accent1"/>
                </a:solidFill>
              </a:rPr>
              <a:t>Test every step.</a:t>
            </a:r>
            <a:endParaRPr lang="en-US" sz="4000" dirty="0"/>
          </a:p>
          <a:p>
            <a:pPr indent="0" marL="0">
              <a:buNone/>
            </a:pPr>
            <a:r>
              <a:rPr lang="en-US" sz="4000" b="1" dirty="0">
                <a:solidFill>
                  <a:schemeClr val="accent1"/>
                </a:solidFill>
              </a:rPr>
              <a:t>When it's wrong, describe what was missing.</a:t>
            </a:r>
            <a:endParaRPr lang="en-US" sz="4000" dirty="0"/>
          </a:p>
        </p:txBody>
      </p:sp>
      <p:sp>
        <p:nvSpPr>
          <p:cNvPr id="4" name="repo"/>
          <p:cNvSpPr txBox="1"/>
          <p:nvPr/>
        </p:nvSpPr>
        <p:spPr>
          <a:xfrm>
            <a:off x="640080" y="4663440"/>
            <a:ext cx="6858000" cy="457200"/>
          </a:xfrm>
          <a:prstGeom prst="rect">
            <a:avLst/>
          </a:prstGeom>
          <a:noFill/>
          <a:ln/>
        </p:spPr>
        <p:txBody>
          <a:bodyPr wrap="square" lIns="0" tIns="0" rIns="0" bIns="0" rtlCol="0" anchor="ctr"/>
          <a:lstStyle/>
          <a:p>
            <a:pPr indent="0" marL="0">
              <a:buNone/>
            </a:pPr>
            <a:r>
              <a:rPr lang="en-US" sz="2000" dirty="0">
                <a:solidFill>
                  <a:schemeClr val="tx1"/>
                </a:solidFill>
              </a:rPr>
              <a:t>github.com/The-Hive-3747/Teaching-AI-Coding</a:t>
            </a:r>
            <a:endParaRPr lang="en-US" sz="2000" dirty="0"/>
          </a:p>
        </p:txBody>
      </p:sp>
      <p:sp>
        <p:nvSpPr>
          <p:cNvPr id="5" name="find us"/>
          <p:cNvSpPr txBox="1"/>
          <p:nvPr/>
        </p:nvSpPr>
        <p:spPr>
          <a:xfrm>
            <a:off x="640080" y="5212080"/>
            <a:ext cx="6858000" cy="1097280"/>
          </a:xfrm>
          <a:prstGeom prst="rect">
            <a:avLst/>
          </a:prstGeom>
          <a:noFill/>
          <a:ln/>
        </p:spPr>
        <p:txBody>
          <a:bodyPr wrap="square" lIns="0" tIns="0" rIns="0" bIns="0" rtlCol="0" anchor="ctr"/>
          <a:lstStyle/>
          <a:p>
            <a:pPr indent="0" marL="0">
              <a:buNone/>
            </a:pPr>
            <a:r>
              <a:rPr lang="en-US" sz="1600" dirty="0">
                <a:solidFill>
                  <a:schemeClr val="tx2"/>
                </a:solidFill>
              </a:rPr>
              <a:t>Guide, videos, every real prompt, and the code. All of it.</a:t>
            </a:r>
            <a:endParaRPr lang="en-US" sz="1600" dirty="0"/>
          </a:p>
          <a:p>
            <a:pPr indent="0" marL="0">
              <a:buNone/>
            </a:pPr>
            <a:r>
              <a:rPr lang="en-US" sz="1600" dirty="0">
                <a:solidFill>
                  <a:schemeClr val="tx2"/>
                </a:solidFill>
              </a:rPr>
              <a:t>Training sessions: bring your robot, leave with it driving. Find us at the pits: The Hive, FTC 3747.</a:t>
            </a:r>
            <a:endParaRPr lang="en-US" sz="16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p:nvPr>
            <p:ph idx="102" type="title" hasCustomPrompt="1"/>
          </p:nvPr>
        </p:nvSpPr>
        <p:spPr>
          <a:xfrm>
            <a:off x="457200" y="365760"/>
            <a:ext cx="11274552" cy="822960"/>
          </a:xfrm>
          <a:prstGeom prst="rect">
            <a:avLst/>
          </a:prstGeom>
          <a:noFill/>
          <a:ln/>
        </p:spPr>
        <p:txBody>
          <a:bodyPr wrap="square" lIns="0" tIns="0" rIns="0" bIns="0" rtlCol="0" anchor="ctr"/>
          <a:lstStyle/>
          <a:p>
            <a:pPr algn="l" indent="0" marL="0">
              <a:buNone/>
            </a:pPr>
            <a:r>
              <a:rPr lang="en-US" sz="3200" b="1" dirty="0">
                <a:solidFill>
                  <a:schemeClr val="accent1"/>
                </a:solidFill>
              </a:rPr>
              <a:t>Sources: studies, rules, history</a:t>
            </a:r>
            <a:endParaRPr lang="en-US" sz="3200" dirty="0"/>
          </a:p>
        </p:txBody>
      </p:sp>
      <p:sp>
        <p:nvSpPr>
          <p:cNvPr id="4" name="source 0"/>
          <p:cNvSpPr txBox="1"/>
          <p:nvPr/>
        </p:nvSpPr>
        <p:spPr>
          <a:xfrm>
            <a:off x="457200" y="1280160"/>
            <a:ext cx="5486400" cy="548640"/>
          </a:xfrm>
          <a:prstGeom prst="rect">
            <a:avLst/>
          </a:prstGeom>
          <a:noFill/>
          <a:ln/>
        </p:spPr>
        <p:txBody>
          <a:bodyPr wrap="square" lIns="0" tIns="0" rIns="0" bIns="0" rtlCol="0" anchor="t"/>
          <a:lstStyle/>
          <a:p>
            <a:pPr indent="0" marL="0">
              <a:buNone/>
            </a:pPr>
            <a:r>
              <a:rPr lang="en-US" sz="1100" b="1" u="sng" dirty="0">
                <a:solidFill>
                  <a:schemeClr val="accent1"/>
                </a:solidFill>
                <a:hlinkClick r:id="rId1" invalidUrl="" action="" tgtFrame="" tooltip="" history="1" highlightClick="0" endSnd="0">
                  <a:extLst>
                    <a:ext uri="{A12FA001-AC4F-418D-AE19-62706E023703}">
                      <ahyp:hlinkClr xmlns:ahyp="http://schemas.microsoft.com/office/drawing/2018/hyperlinkcolor" val="tx"/>
                    </a:ext>
                  </a:extLst>
                </a:hlinkClick>
              </a:rPr>
              <a:t>Bastani et al., PNAS 2025</a:t>
            </a:r>
            <a:endParaRPr lang="en-US" sz="1100" dirty="0"/>
          </a:p>
          <a:p>
            <a:pPr indent="0" marL="0">
              <a:buNone/>
            </a:pPr>
            <a:r>
              <a:rPr lang="en-US" sz="1100" dirty="0">
                <a:solidFill>
                  <a:schemeClr val="tx2"/>
                </a:solidFill>
              </a:rPr>
              <a:t>Generative AI can harm learning (~1,000 HS students)  ·  scale.stanford.edu/publications/generative-ai-can-harm-learning</a:t>
            </a:r>
            <a:endParaRPr lang="en-US" sz="1100" dirty="0"/>
          </a:p>
        </p:txBody>
      </p:sp>
      <p:sp>
        <p:nvSpPr>
          <p:cNvPr id="5" name="source 1"/>
          <p:cNvSpPr txBox="1"/>
          <p:nvPr/>
        </p:nvSpPr>
        <p:spPr>
          <a:xfrm>
            <a:off x="457200" y="1883664"/>
            <a:ext cx="5486400" cy="548640"/>
          </a:xfrm>
          <a:prstGeom prst="rect">
            <a:avLst/>
          </a:prstGeom>
          <a:noFill/>
          <a:ln/>
        </p:spPr>
        <p:txBody>
          <a:bodyPr wrap="square" lIns="0" tIns="0" rIns="0" bIns="0" rtlCol="0" anchor="t"/>
          <a:lstStyle/>
          <a:p>
            <a:pPr indent="0" marL="0">
              <a:buNone/>
            </a:pPr>
            <a:r>
              <a:rPr lang="en-US" sz="1100" b="1" u="sng" dirty="0">
                <a:solidFill>
                  <a:schemeClr val="accent1"/>
                </a:solidFill>
                <a:hlinkClick r:id="rId2" invalidUrl="" action="" tgtFrame="" tooltip="" history="1" highlightClick="0" endSnd="0">
                  <a:extLst>
                    <a:ext uri="{A12FA001-AC4F-418D-AE19-62706E023703}">
                      <ahyp:hlinkClr xmlns:ahyp="http://schemas.microsoft.com/office/drawing/2018/hyperlinkcolor" val="tx"/>
                    </a:ext>
                  </a:extLst>
                </a:hlinkClick>
              </a:rPr>
              <a:t>Becker et al., METR, Jul 2025</a:t>
            </a:r>
            <a:endParaRPr lang="en-US" sz="1100" dirty="0"/>
          </a:p>
          <a:p>
            <a:pPr indent="0" marL="0">
              <a:buNone/>
            </a:pPr>
            <a:r>
              <a:rPr lang="en-US" sz="1100" dirty="0">
                <a:solidFill>
                  <a:schemeClr val="tx2"/>
                </a:solidFill>
              </a:rPr>
              <a:t>16 expert developers 19% slower with AI  ·  arxiv.org/abs/2507.09089</a:t>
            </a:r>
            <a:endParaRPr lang="en-US" sz="1100" dirty="0"/>
          </a:p>
        </p:txBody>
      </p:sp>
      <p:sp>
        <p:nvSpPr>
          <p:cNvPr id="6" name="source 2"/>
          <p:cNvSpPr txBox="1"/>
          <p:nvPr/>
        </p:nvSpPr>
        <p:spPr>
          <a:xfrm>
            <a:off x="457200" y="2487168"/>
            <a:ext cx="5486400" cy="548640"/>
          </a:xfrm>
          <a:prstGeom prst="rect">
            <a:avLst/>
          </a:prstGeom>
          <a:noFill/>
          <a:ln/>
        </p:spPr>
        <p:txBody>
          <a:bodyPr wrap="square" lIns="0" tIns="0" rIns="0" bIns="0" rtlCol="0" anchor="t"/>
          <a:lstStyle/>
          <a:p>
            <a:pPr indent="0" marL="0">
              <a:buNone/>
            </a:pPr>
            <a:r>
              <a:rPr lang="en-US" sz="1100" b="1" u="sng" dirty="0">
                <a:solidFill>
                  <a:schemeClr val="accent1"/>
                </a:solidFill>
                <a:hlinkClick r:id="rId3" invalidUrl="" action="" tgtFrame="" tooltip="" history="1" highlightClick="0" endSnd="0">
                  <a:extLst>
                    <a:ext uri="{A12FA001-AC4F-418D-AE19-62706E023703}">
                      <ahyp:hlinkClr xmlns:ahyp="http://schemas.microsoft.com/office/drawing/2018/hyperlinkcolor" val="tx"/>
                    </a:ext>
                  </a:extLst>
                </a:hlinkClick>
              </a:rPr>
              <a:t>Anthropic, Jan 2026</a:t>
            </a:r>
            <a:endParaRPr lang="en-US" sz="1100" dirty="0"/>
          </a:p>
          <a:p>
            <a:pPr indent="0" marL="0">
              <a:buNone/>
            </a:pPr>
            <a:r>
              <a:rPr lang="en-US" sz="1100" dirty="0">
                <a:solidFill>
                  <a:schemeClr val="tx2"/>
                </a:solidFill>
              </a:rPr>
              <a:t>AI assistance and coding skill formation (vendor study)  ·  anthropic.com/news/AI-assistance-coding-skills</a:t>
            </a:r>
            <a:endParaRPr lang="en-US" sz="1100" dirty="0"/>
          </a:p>
        </p:txBody>
      </p:sp>
      <p:sp>
        <p:nvSpPr>
          <p:cNvPr id="7" name="source 3"/>
          <p:cNvSpPr txBox="1"/>
          <p:nvPr/>
        </p:nvSpPr>
        <p:spPr>
          <a:xfrm>
            <a:off x="457200" y="3090672"/>
            <a:ext cx="5486400" cy="548640"/>
          </a:xfrm>
          <a:prstGeom prst="rect">
            <a:avLst/>
          </a:prstGeom>
          <a:noFill/>
          <a:ln/>
        </p:spPr>
        <p:txBody>
          <a:bodyPr wrap="square" lIns="0" tIns="0" rIns="0" bIns="0" rtlCol="0" anchor="t"/>
          <a:lstStyle/>
          <a:p>
            <a:pPr indent="0" marL="0">
              <a:buNone/>
            </a:pPr>
            <a:r>
              <a:rPr lang="en-US" sz="1100" b="1" u="sng" dirty="0">
                <a:solidFill>
                  <a:schemeClr val="accent1"/>
                </a:solidFill>
                <a:hlinkClick r:id="rId4" invalidUrl="" action="" tgtFrame="" tooltip="" history="1" highlightClick="0" endSnd="0">
                  <a:extLst>
                    <a:ext uri="{A12FA001-AC4F-418D-AE19-62706E023703}">
                      <ahyp:hlinkClr xmlns:ahyp="http://schemas.microsoft.com/office/drawing/2018/hyperlinkcolor" val="tx"/>
                    </a:ext>
                  </a:extLst>
                </a:hlinkClick>
              </a:rPr>
              <a:t>FTC Utah: Team A.I. Use</a:t>
            </a:r>
            <a:endParaRPr lang="en-US" sz="1100" dirty="0"/>
          </a:p>
          <a:p>
            <a:pPr indent="0" marL="0">
              <a:buNone/>
            </a:pPr>
            <a:r>
              <a:rPr lang="en-US" sz="1100" dirty="0">
                <a:solidFill>
                  <a:schemeClr val="tx2"/>
                </a:solidFill>
              </a:rPr>
              <a:t>PDP email, Oct 2026: no effect on judging; explain, check, credit  ·  firstinspires.org/robotics/ftc</a:t>
            </a:r>
            <a:endParaRPr lang="en-US" sz="1100" dirty="0"/>
          </a:p>
        </p:txBody>
      </p:sp>
      <p:sp>
        <p:nvSpPr>
          <p:cNvPr id="8" name="source 4"/>
          <p:cNvSpPr txBox="1"/>
          <p:nvPr/>
        </p:nvSpPr>
        <p:spPr>
          <a:xfrm>
            <a:off x="457200" y="3694176"/>
            <a:ext cx="5486400" cy="548640"/>
          </a:xfrm>
          <a:prstGeom prst="rect">
            <a:avLst/>
          </a:prstGeom>
          <a:noFill/>
          <a:ln/>
        </p:spPr>
        <p:txBody>
          <a:bodyPr wrap="square" lIns="0" tIns="0" rIns="0" bIns="0" rtlCol="0" anchor="t"/>
          <a:lstStyle/>
          <a:p>
            <a:pPr indent="0" marL="0">
              <a:buNone/>
            </a:pPr>
            <a:r>
              <a:rPr lang="en-US" sz="1100" b="1" u="sng" dirty="0">
                <a:solidFill>
                  <a:schemeClr val="accent1"/>
                </a:solidFill>
                <a:hlinkClick r:id="rId5" invalidUrl="" action="" tgtFrame="" tooltip="" history="1" highlightClick="0" endSnd="0">
                  <a:extLst>
                    <a:ext uri="{A12FA001-AC4F-418D-AE19-62706E023703}">
                      <ahyp:hlinkClr xmlns:ahyp="http://schemas.microsoft.com/office/drawing/2018/hyperlinkcolor" val="tx"/>
                    </a:ext>
                  </a:extLst>
                </a:hlinkClick>
              </a:rPr>
              <a:t>FTC AI Innovation Corner</a:t>
            </a:r>
            <a:endParaRPr lang="en-US" sz="1100" dirty="0"/>
          </a:p>
          <a:p>
            <a:pPr indent="0" marL="0">
              <a:buNone/>
            </a:pPr>
            <a:r>
              <a:rPr lang="en-US" sz="1100" dirty="0">
                <a:solidFill>
                  <a:schemeClr val="tx2"/>
                </a:solidFill>
              </a:rPr>
              <a:t>FIRST Tech Challenge Docs  ·  ftc-docs.firstinspires.org/en/latest/ai/innovation_corner/innovation-c</a:t>
            </a:r>
            <a:endParaRPr lang="en-US" sz="1100" dirty="0"/>
          </a:p>
        </p:txBody>
      </p:sp>
      <p:sp>
        <p:nvSpPr>
          <p:cNvPr id="9" name="source 5"/>
          <p:cNvSpPr txBox="1"/>
          <p:nvPr/>
        </p:nvSpPr>
        <p:spPr>
          <a:xfrm>
            <a:off x="457200" y="4297680"/>
            <a:ext cx="5486400" cy="548640"/>
          </a:xfrm>
          <a:prstGeom prst="rect">
            <a:avLst/>
          </a:prstGeom>
          <a:noFill/>
          <a:ln/>
        </p:spPr>
        <p:txBody>
          <a:bodyPr wrap="square" lIns="0" tIns="0" rIns="0" bIns="0" rtlCol="0" anchor="t"/>
          <a:lstStyle/>
          <a:p>
            <a:pPr indent="0" marL="0">
              <a:buNone/>
            </a:pPr>
            <a:r>
              <a:rPr lang="en-US" sz="1100" b="1" u="sng" dirty="0">
                <a:solidFill>
                  <a:schemeClr val="accent1"/>
                </a:solidFill>
                <a:hlinkClick r:id="rId6" invalidUrl="" action="" tgtFrame="" tooltip="" history="1" highlightClick="0" endSnd="0">
                  <a:extLst>
                    <a:ext uri="{A12FA001-AC4F-418D-AE19-62706E023703}">
                      <ahyp:hlinkClr xmlns:ahyp="http://schemas.microsoft.com/office/drawing/2018/hyperlinkcolor" val="tx"/>
                    </a:ext>
                  </a:extLst>
                </a:hlinkClick>
              </a:rPr>
              <a:t>College Board, AP CS Principles</a:t>
            </a:r>
            <a:endParaRPr lang="en-US" sz="1100" dirty="0"/>
          </a:p>
          <a:p>
            <a:pPr indent="0" marL="0">
              <a:buNone/>
            </a:pPr>
            <a:r>
              <a:rPr lang="en-US" sz="1100" dirty="0">
                <a:solidFill>
                  <a:schemeClr val="tx2"/>
                </a:solidFill>
              </a:rPr>
              <a:t>Create task directions: AI use and attribution  ·  apcentral.collegeboard.org/media/pdf/ap-csp-student-task-directions.pd</a:t>
            </a:r>
            <a:endParaRPr lang="en-US" sz="1100" dirty="0"/>
          </a:p>
        </p:txBody>
      </p:sp>
      <p:sp>
        <p:nvSpPr>
          <p:cNvPr id="10" name="source 6"/>
          <p:cNvSpPr txBox="1"/>
          <p:nvPr/>
        </p:nvSpPr>
        <p:spPr>
          <a:xfrm>
            <a:off x="457200" y="4901184"/>
            <a:ext cx="5486400" cy="548640"/>
          </a:xfrm>
          <a:prstGeom prst="rect">
            <a:avLst/>
          </a:prstGeom>
          <a:noFill/>
          <a:ln/>
        </p:spPr>
        <p:txBody>
          <a:bodyPr wrap="square" lIns="0" tIns="0" rIns="0" bIns="0" rtlCol="0" anchor="t"/>
          <a:lstStyle/>
          <a:p>
            <a:pPr indent="0" marL="0">
              <a:buNone/>
            </a:pPr>
            <a:r>
              <a:rPr lang="en-US" sz="1100" b="1" u="sng" dirty="0">
                <a:solidFill>
                  <a:schemeClr val="accent1"/>
                </a:solidFill>
                <a:hlinkClick r:id="rId7" invalidUrl="" action="" tgtFrame="" tooltip="" history="1" highlightClick="0" endSnd="0">
                  <a:extLst>
                    <a:ext uri="{A12FA001-AC4F-418D-AE19-62706E023703}">
                      <ahyp:hlinkClr xmlns:ahyp="http://schemas.microsoft.com/office/drawing/2018/hyperlinkcolor" val="tx"/>
                    </a:ext>
                  </a:extLst>
                </a:hlinkClick>
              </a:rPr>
              <a:t>FTC Competition Manual 2026-27</a:t>
            </a:r>
            <a:endParaRPr lang="en-US" sz="1100" dirty="0"/>
          </a:p>
          <a:p>
            <a:pPr indent="0" marL="0">
              <a:buNone/>
            </a:pPr>
            <a:r>
              <a:rPr lang="en-US" sz="1100" dirty="0">
                <a:solidFill>
                  <a:schemeClr val="tx2"/>
                </a:solidFill>
              </a:rPr>
              <a:t>Awards section: A201, A204, A208  ·  ftc-resources.firstinspires.org/ftc/game/manual-06</a:t>
            </a:r>
            <a:endParaRPr lang="en-US" sz="1100" dirty="0"/>
          </a:p>
        </p:txBody>
      </p:sp>
      <p:sp>
        <p:nvSpPr>
          <p:cNvPr id="11" name="source 7"/>
          <p:cNvSpPr txBox="1"/>
          <p:nvPr/>
        </p:nvSpPr>
        <p:spPr>
          <a:xfrm>
            <a:off x="457200" y="5504688"/>
            <a:ext cx="5486400" cy="548640"/>
          </a:xfrm>
          <a:prstGeom prst="rect">
            <a:avLst/>
          </a:prstGeom>
          <a:noFill/>
          <a:ln/>
        </p:spPr>
        <p:txBody>
          <a:bodyPr wrap="square" lIns="0" tIns="0" rIns="0" bIns="0" rtlCol="0" anchor="t"/>
          <a:lstStyle/>
          <a:p>
            <a:pPr indent="0" marL="0">
              <a:buNone/>
            </a:pPr>
            <a:r>
              <a:rPr lang="en-US" sz="1100" b="1" u="sng" dirty="0">
                <a:solidFill>
                  <a:schemeClr val="accent1"/>
                </a:solidFill>
                <a:hlinkClick r:id="rId8" invalidUrl="" action="" tgtFrame="" tooltip="" history="1" highlightClick="0" endSnd="0">
                  <a:extLst>
                    <a:ext uri="{A12FA001-AC4F-418D-AE19-62706E023703}">
                      <ahyp:hlinkClr xmlns:ahyp="http://schemas.microsoft.com/office/drawing/2018/hyperlinkcolor" val="tx"/>
                    </a:ext>
                  </a:extLst>
                </a:hlinkClick>
              </a:rPr>
              <a:t>FIRST blog: Expanding the toolbox with AI</a:t>
            </a:r>
            <a:endParaRPr lang="en-US" sz="1100" dirty="0"/>
          </a:p>
          <a:p>
            <a:pPr indent="0" marL="0">
              <a:buNone/>
            </a:pPr>
            <a:r>
              <a:rPr lang="en-US" sz="1100" dirty="0">
                <a:solidFill>
                  <a:schemeClr val="tx2"/>
                </a:solidFill>
              </a:rPr>
              <a:t>Chris Rake, COO: “AI is just one more exciting addition to the toolbox”  ·  community.firstinspires.org/expanding-the-first-toolbox-with-artificia</a:t>
            </a:r>
            <a:endParaRPr lang="en-US" sz="1100" dirty="0"/>
          </a:p>
        </p:txBody>
      </p:sp>
      <p:sp>
        <p:nvSpPr>
          <p:cNvPr id="12" name="source 8"/>
          <p:cNvSpPr txBox="1"/>
          <p:nvPr/>
        </p:nvSpPr>
        <p:spPr>
          <a:xfrm>
            <a:off x="6217920" y="1280160"/>
            <a:ext cx="5486400" cy="548640"/>
          </a:xfrm>
          <a:prstGeom prst="rect">
            <a:avLst/>
          </a:prstGeom>
          <a:noFill/>
          <a:ln/>
        </p:spPr>
        <p:txBody>
          <a:bodyPr wrap="square" lIns="0" tIns="0" rIns="0" bIns="0" rtlCol="0" anchor="t"/>
          <a:lstStyle/>
          <a:p>
            <a:pPr indent="0" marL="0">
              <a:buNone/>
            </a:pPr>
            <a:r>
              <a:rPr lang="en-US" sz="1100" b="1" u="sng" dirty="0">
                <a:solidFill>
                  <a:schemeClr val="accent1"/>
                </a:solidFill>
                <a:hlinkClick r:id="rId9" invalidUrl="" action="" tgtFrame="" tooltip="" history="1" highlightClick="0" endSnd="0">
                  <a:extLst>
                    <a:ext uri="{A12FA001-AC4F-418D-AE19-62706E023703}">
                      <ahyp:hlinkClr xmlns:ahyp="http://schemas.microsoft.com/office/drawing/2018/hyperlinkcolor" val="tx"/>
                    </a:ext>
                  </a:extLst>
                </a:hlinkClick>
              </a:rPr>
              <a:t>Learn Java for FTC (Alan Smith)</a:t>
            </a:r>
            <a:endParaRPr lang="en-US" sz="1100" dirty="0"/>
          </a:p>
          <a:p>
            <a:pPr indent="0" marL="0">
              <a:buNone/>
            </a:pPr>
            <a:r>
              <a:rPr lang="en-US" sz="1100" dirty="0">
                <a:solidFill>
                  <a:schemeClr val="tx2"/>
                </a:solidFill>
              </a:rPr>
              <a:t>The textbook in The Hive's checklist  ·  raw.githubusercontent.com/alan412/LearnJavaForFTC/master/LearnJavaForF</a:t>
            </a:r>
            <a:endParaRPr lang="en-US" sz="1100" dirty="0"/>
          </a:p>
        </p:txBody>
      </p:sp>
      <p:sp>
        <p:nvSpPr>
          <p:cNvPr id="13" name="source 9"/>
          <p:cNvSpPr txBox="1"/>
          <p:nvPr/>
        </p:nvSpPr>
        <p:spPr>
          <a:xfrm>
            <a:off x="6217920" y="1883664"/>
            <a:ext cx="5486400" cy="548640"/>
          </a:xfrm>
          <a:prstGeom prst="rect">
            <a:avLst/>
          </a:prstGeom>
          <a:noFill/>
          <a:ln/>
        </p:spPr>
        <p:txBody>
          <a:bodyPr wrap="square" lIns="0" tIns="0" rIns="0" bIns="0" rtlCol="0" anchor="t"/>
          <a:lstStyle/>
          <a:p>
            <a:pPr indent="0" marL="0">
              <a:buNone/>
            </a:pPr>
            <a:r>
              <a:rPr lang="en-US" sz="1100" b="1" u="sng" dirty="0">
                <a:solidFill>
                  <a:schemeClr val="accent1"/>
                </a:solidFill>
                <a:hlinkClick r:id="rId10" invalidUrl="" action="" tgtFrame="" tooltip="" history="1" highlightClick="0" endSnd="0">
                  <a:extLst>
                    <a:ext uri="{A12FA001-AC4F-418D-AE19-62706E023703}">
                      <ahyp:hlinkClr xmlns:ahyp="http://schemas.microsoft.com/office/drawing/2018/hyperlinkcolor" val="tx"/>
                    </a:ext>
                  </a:extLst>
                </a:hlinkClick>
              </a:rPr>
              <a:t>Backus, 1978</a:t>
            </a:r>
            <a:endParaRPr lang="en-US" sz="1100" dirty="0"/>
          </a:p>
          <a:p>
            <a:pPr indent="0" marL="0">
              <a:buNone/>
            </a:pPr>
            <a:r>
              <a:rPr lang="en-US" sz="1100" dirty="0">
                <a:solidFill>
                  <a:schemeClr val="tx2"/>
                </a:solidFill>
              </a:rPr>
              <a:t>The History of FORTRAN I, II, and III (HOPL)  ·  softwarepreservation.computerhistory.org/FORTRAN/paper/p165-backus.pdf</a:t>
            </a:r>
            <a:endParaRPr lang="en-US" sz="1100" dirty="0"/>
          </a:p>
        </p:txBody>
      </p:sp>
      <p:sp>
        <p:nvSpPr>
          <p:cNvPr id="14" name="source 10"/>
          <p:cNvSpPr txBox="1"/>
          <p:nvPr/>
        </p:nvSpPr>
        <p:spPr>
          <a:xfrm>
            <a:off x="6217920" y="2487168"/>
            <a:ext cx="5486400" cy="548640"/>
          </a:xfrm>
          <a:prstGeom prst="rect">
            <a:avLst/>
          </a:prstGeom>
          <a:noFill/>
          <a:ln/>
        </p:spPr>
        <p:txBody>
          <a:bodyPr wrap="square" lIns="0" tIns="0" rIns="0" bIns="0" rtlCol="0" anchor="t"/>
          <a:lstStyle/>
          <a:p>
            <a:pPr indent="0" marL="0">
              <a:buNone/>
            </a:pPr>
            <a:r>
              <a:rPr lang="en-US" sz="1100" b="1" u="sng" dirty="0">
                <a:solidFill>
                  <a:schemeClr val="accent1"/>
                </a:solidFill>
                <a:hlinkClick r:id="rId11" invalidUrl="" action="" tgtFrame="" tooltip="" history="1" highlightClick="0" endSnd="0">
                  <a:extLst>
                    <a:ext uri="{A12FA001-AC4F-418D-AE19-62706E023703}">
                      <ahyp:hlinkClr xmlns:ahyp="http://schemas.microsoft.com/office/drawing/2018/hyperlinkcolor" val="tx"/>
                    </a:ext>
                  </a:extLst>
                </a:hlinkClick>
              </a:rPr>
              <a:t>Post, 1983</a:t>
            </a:r>
            <a:endParaRPr lang="en-US" sz="1100" dirty="0"/>
          </a:p>
          <a:p>
            <a:pPr indent="0" marL="0">
              <a:buNone/>
            </a:pPr>
            <a:r>
              <a:rPr lang="en-US" sz="1100" dirty="0">
                <a:solidFill>
                  <a:schemeClr val="tx2"/>
                </a:solidFill>
              </a:rPr>
              <a:t>Real Programmers Don't Use Pascal  ·  ee.torontomu.ca/~elf/hack/realmen.html</a:t>
            </a:r>
            <a:endParaRPr lang="en-US" sz="1100" dirty="0"/>
          </a:p>
        </p:txBody>
      </p:sp>
      <p:sp>
        <p:nvSpPr>
          <p:cNvPr id="15" name="source 11"/>
          <p:cNvSpPr txBox="1"/>
          <p:nvPr/>
        </p:nvSpPr>
        <p:spPr>
          <a:xfrm>
            <a:off x="6217920" y="3090672"/>
            <a:ext cx="5486400" cy="548640"/>
          </a:xfrm>
          <a:prstGeom prst="rect">
            <a:avLst/>
          </a:prstGeom>
          <a:noFill/>
          <a:ln/>
        </p:spPr>
        <p:txBody>
          <a:bodyPr wrap="square" lIns="0" tIns="0" rIns="0" bIns="0" rtlCol="0" anchor="t"/>
          <a:lstStyle/>
          <a:p>
            <a:pPr indent="0" marL="0">
              <a:buNone/>
            </a:pPr>
            <a:r>
              <a:rPr lang="en-US" sz="1100" b="1" u="sng" dirty="0">
                <a:solidFill>
                  <a:schemeClr val="accent1"/>
                </a:solidFill>
                <a:hlinkClick r:id="rId12" invalidUrl="" action="" tgtFrame="" tooltip="" history="1" highlightClick="0" endSnd="0">
                  <a:extLst>
                    <a:ext uri="{A12FA001-AC4F-418D-AE19-62706E023703}">
                      <ahyp:hlinkClr xmlns:ahyp="http://schemas.microsoft.com/office/drawing/2018/hyperlinkcolor" val="tx"/>
                    </a:ext>
                  </a:extLst>
                </a:hlinkClick>
              </a:rPr>
              <a:t>Petzold, 2005</a:t>
            </a:r>
            <a:endParaRPr lang="en-US" sz="1100" dirty="0"/>
          </a:p>
          <a:p>
            <a:pPr indent="0" marL="0">
              <a:buNone/>
            </a:pPr>
            <a:r>
              <a:rPr lang="en-US" sz="1100" dirty="0">
                <a:solidFill>
                  <a:schemeClr val="tx2"/>
                </a:solidFill>
              </a:rPr>
              <a:t>Does Visual Studio Rot the Mind?  ·  charlespetzold.com/etc/DoesVisualStudioRotTheMind.html</a:t>
            </a:r>
            <a:endParaRPr lang="en-US" sz="1100" dirty="0"/>
          </a:p>
        </p:txBody>
      </p:sp>
      <p:sp>
        <p:nvSpPr>
          <p:cNvPr id="16" name="source 12"/>
          <p:cNvSpPr txBox="1"/>
          <p:nvPr/>
        </p:nvSpPr>
        <p:spPr>
          <a:xfrm>
            <a:off x="6217920" y="3694176"/>
            <a:ext cx="5486400" cy="548640"/>
          </a:xfrm>
          <a:prstGeom prst="rect">
            <a:avLst/>
          </a:prstGeom>
          <a:noFill/>
          <a:ln/>
        </p:spPr>
        <p:txBody>
          <a:bodyPr wrap="square" lIns="0" tIns="0" rIns="0" bIns="0" rtlCol="0" anchor="t"/>
          <a:lstStyle/>
          <a:p>
            <a:pPr indent="0" marL="0">
              <a:buNone/>
            </a:pPr>
            <a:r>
              <a:rPr lang="en-US" sz="1100" b="1" u="sng" dirty="0">
                <a:solidFill>
                  <a:schemeClr val="accent1"/>
                </a:solidFill>
                <a:hlinkClick r:id="rId13" invalidUrl="" action="" tgtFrame="" tooltip="" history="1" highlightClick="0" endSnd="0">
                  <a:extLst>
                    <a:ext uri="{A12FA001-AC4F-418D-AE19-62706E023703}">
                      <ahyp:hlinkClr xmlns:ahyp="http://schemas.microsoft.com/office/drawing/2018/hyperlinkcolor" val="tx"/>
                    </a:ext>
                  </a:extLst>
                </a:hlinkClick>
              </a:rPr>
              <a:t>Fischer et al., IEEE S&amp;P 2017</a:t>
            </a:r>
            <a:endParaRPr lang="en-US" sz="1100" dirty="0"/>
          </a:p>
          <a:p>
            <a:pPr indent="0" marL="0">
              <a:buNone/>
            </a:pPr>
            <a:r>
              <a:rPr lang="en-US" sz="1100" dirty="0">
                <a:solidFill>
                  <a:schemeClr val="tx2"/>
                </a:solidFill>
              </a:rPr>
              <a:t>Stack Overflow Considered Harmful?  ·  arxiv.org/abs/1710.03135</a:t>
            </a:r>
            <a:endParaRPr lang="en-US" sz="1100" dirty="0"/>
          </a:p>
        </p:txBody>
      </p:sp>
      <p:sp>
        <p:nvSpPr>
          <p:cNvPr id="17" name="source 13"/>
          <p:cNvSpPr txBox="1"/>
          <p:nvPr/>
        </p:nvSpPr>
        <p:spPr>
          <a:xfrm>
            <a:off x="6217920" y="4297680"/>
            <a:ext cx="5486400" cy="548640"/>
          </a:xfrm>
          <a:prstGeom prst="rect">
            <a:avLst/>
          </a:prstGeom>
          <a:noFill/>
          <a:ln/>
        </p:spPr>
        <p:txBody>
          <a:bodyPr wrap="square" lIns="0" tIns="0" rIns="0" bIns="0" rtlCol="0" anchor="t"/>
          <a:lstStyle/>
          <a:p>
            <a:pPr indent="0" marL="0">
              <a:buNone/>
            </a:pPr>
            <a:r>
              <a:rPr lang="en-US" sz="1100" b="1" u="sng" dirty="0">
                <a:solidFill>
                  <a:schemeClr val="accent1"/>
                </a:solidFill>
                <a:hlinkClick r:id="rId14" invalidUrl="" action="" tgtFrame="" tooltip="" history="1" highlightClick="0" endSnd="0">
                  <a:extLst>
                    <a:ext uri="{A12FA001-AC4F-418D-AE19-62706E023703}">
                      <ahyp:hlinkClr xmlns:ahyp="http://schemas.microsoft.com/office/drawing/2018/hyperlinkcolor" val="tx"/>
                    </a:ext>
                  </a:extLst>
                </a:hlinkClick>
              </a:rPr>
              <a:t>Brooks, 1987</a:t>
            </a:r>
            <a:endParaRPr lang="en-US" sz="1100" dirty="0"/>
          </a:p>
          <a:p>
            <a:pPr indent="0" marL="0">
              <a:buNone/>
            </a:pPr>
            <a:r>
              <a:rPr lang="en-US" sz="1100" dirty="0">
                <a:solidFill>
                  <a:schemeClr val="tx2"/>
                </a:solidFill>
              </a:rPr>
              <a:t>No Silver Bullet  ·  worrydream.com/refs/Brooks-NoSilverBullet.pdf</a:t>
            </a:r>
            <a:endParaRPr lang="en-US" sz="1100" dirty="0"/>
          </a:p>
        </p:txBody>
      </p:sp>
      <p:sp>
        <p:nvSpPr>
          <p:cNvPr id="18" name="source 14"/>
          <p:cNvSpPr txBox="1"/>
          <p:nvPr/>
        </p:nvSpPr>
        <p:spPr>
          <a:xfrm>
            <a:off x="6217920" y="4901184"/>
            <a:ext cx="5486400" cy="548640"/>
          </a:xfrm>
          <a:prstGeom prst="rect">
            <a:avLst/>
          </a:prstGeom>
          <a:noFill/>
          <a:ln/>
        </p:spPr>
        <p:txBody>
          <a:bodyPr wrap="square" lIns="0" tIns="0" rIns="0" bIns="0" rtlCol="0" anchor="t"/>
          <a:lstStyle/>
          <a:p>
            <a:pPr indent="0" marL="0">
              <a:buNone/>
            </a:pPr>
            <a:r>
              <a:rPr lang="en-US" sz="1100" b="1" u="sng" dirty="0">
                <a:solidFill>
                  <a:schemeClr val="accent1"/>
                </a:solidFill>
                <a:hlinkClick r:id="rId15" invalidUrl="" action="" tgtFrame="" tooltip="" history="1" highlightClick="0" endSnd="0">
                  <a:extLst>
                    <a:ext uri="{A12FA001-AC4F-418D-AE19-62706E023703}">
                      <ahyp:hlinkClr xmlns:ahyp="http://schemas.microsoft.com/office/drawing/2018/hyperlinkcolor" val="tx"/>
                    </a:ext>
                  </a:extLst>
                </a:hlinkClick>
              </a:rPr>
              <a:t>Fowler, 2025</a:t>
            </a:r>
            <a:endParaRPr lang="en-US" sz="1100" dirty="0"/>
          </a:p>
          <a:p>
            <a:pPr indent="0" marL="0">
              <a:buNone/>
            </a:pPr>
            <a:r>
              <a:rPr lang="en-US" sz="1100" dirty="0">
                <a:solidFill>
                  <a:schemeClr val="tx2"/>
                </a:solidFill>
              </a:rPr>
              <a:t>LLMs bring new nature of abstraction  ·  martinfowler.com/articles/2025-nature-abstraction.html</a:t>
            </a:r>
            <a:endParaRPr lang="en-US" sz="1100" dirty="0"/>
          </a:p>
        </p:txBody>
      </p:sp>
      <p:sp>
        <p:nvSpPr>
          <p:cNvPr id="25" name="Slide Number Placeholder 0"/>
          <p:cNvSpPr>
            <a:spLocks noGrp="1"/>
          </p:cNvSpPr>
          <p:nvPr>
            <p:ph type="sldNum" sz="quarter" idx="4294967295"/>
          </p:nvPr>
        </p:nvSpPr>
        <p:spPr>
          <a:xfrm>
            <a:off x="11247120" y="6263640"/>
            <a:ext cx="548640" cy="39319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1"/>
          <p:cNvSpPr/>
          <p:nvPr>
            <p:ph idx="102" type="title" hasCustomPrompt="1"/>
          </p:nvPr>
        </p:nvSpPr>
        <p:spPr>
          <a:xfrm>
            <a:off x="457200" y="365760"/>
            <a:ext cx="11274552" cy="822960"/>
          </a:xfrm>
          <a:prstGeom prst="rect">
            <a:avLst/>
          </a:prstGeom>
          <a:noFill/>
          <a:ln/>
        </p:spPr>
        <p:txBody>
          <a:bodyPr wrap="square" lIns="0" tIns="0" rIns="0" bIns="0" rtlCol="0" anchor="ctr"/>
          <a:lstStyle/>
          <a:p>
            <a:pPr algn="l" indent="0" marL="0">
              <a:buNone/>
            </a:pPr>
            <a:r>
              <a:rPr lang="en-US" sz="3200" b="1" dirty="0">
                <a:solidFill>
                  <a:schemeClr val="accent1"/>
                </a:solidFill>
              </a:rPr>
              <a:t>Sources: employers and the market</a:t>
            </a:r>
            <a:endParaRPr lang="en-US" sz="3200" dirty="0"/>
          </a:p>
        </p:txBody>
      </p:sp>
      <p:sp>
        <p:nvSpPr>
          <p:cNvPr id="4" name="source 0"/>
          <p:cNvSpPr txBox="1"/>
          <p:nvPr/>
        </p:nvSpPr>
        <p:spPr>
          <a:xfrm>
            <a:off x="457200" y="1280160"/>
            <a:ext cx="5486400" cy="548640"/>
          </a:xfrm>
          <a:prstGeom prst="rect">
            <a:avLst/>
          </a:prstGeom>
          <a:noFill/>
          <a:ln/>
        </p:spPr>
        <p:txBody>
          <a:bodyPr wrap="square" lIns="0" tIns="0" rIns="0" bIns="0" rtlCol="0" anchor="t"/>
          <a:lstStyle/>
          <a:p>
            <a:pPr indent="0" marL="0">
              <a:buNone/>
            </a:pPr>
            <a:r>
              <a:rPr lang="en-US" sz="1100" b="1" u="sng" dirty="0">
                <a:solidFill>
                  <a:schemeClr val="accent1"/>
                </a:solidFill>
                <a:hlinkClick r:id="rId1" invalidUrl="" action="" tgtFrame="" tooltip="" history="1" highlightClick="0" endSnd="0">
                  <a:extLst>
                    <a:ext uri="{A12FA001-AC4F-418D-AE19-62706E023703}">
                      <ahyp:hlinkClr xmlns:ahyp="http://schemas.microsoft.com/office/drawing/2018/hyperlinkcolor" val="tx"/>
                    </a:ext>
                  </a:extLst>
                </a:hlinkClick>
              </a:rPr>
              <a:t>Podium: Software Engineering Intern (Lehi)</a:t>
            </a:r>
            <a:endParaRPr lang="en-US" sz="1100" dirty="0"/>
          </a:p>
          <a:p>
            <a:pPr indent="0" marL="0">
              <a:buNone/>
            </a:pPr>
            <a:r>
              <a:rPr lang="en-US" sz="1100" dirty="0">
                <a:solidFill>
                  <a:schemeClr val="tx2"/>
                </a:solidFill>
              </a:rPr>
              <a:t>verified Oct 3, 2026  ·  job-boards.greenhouse.io/podium81/jobs/7939921</a:t>
            </a:r>
            <a:endParaRPr lang="en-US" sz="1100" dirty="0"/>
          </a:p>
        </p:txBody>
      </p:sp>
      <p:sp>
        <p:nvSpPr>
          <p:cNvPr id="5" name="source 1"/>
          <p:cNvSpPr txBox="1"/>
          <p:nvPr/>
        </p:nvSpPr>
        <p:spPr>
          <a:xfrm>
            <a:off x="457200" y="1883664"/>
            <a:ext cx="5486400" cy="548640"/>
          </a:xfrm>
          <a:prstGeom prst="rect">
            <a:avLst/>
          </a:prstGeom>
          <a:noFill/>
          <a:ln/>
        </p:spPr>
        <p:txBody>
          <a:bodyPr wrap="square" lIns="0" tIns="0" rIns="0" bIns="0" rtlCol="0" anchor="t"/>
          <a:lstStyle/>
          <a:p>
            <a:pPr indent="0" marL="0">
              <a:buNone/>
            </a:pPr>
            <a:r>
              <a:rPr lang="en-US" sz="1100" b="1" u="sng" dirty="0">
                <a:solidFill>
                  <a:schemeClr val="accent1"/>
                </a:solidFill>
                <a:hlinkClick r:id="rId2" invalidUrl="" action="" tgtFrame="" tooltip="" history="1" highlightClick="0" endSnd="0">
                  <a:extLst>
                    <a:ext uri="{A12FA001-AC4F-418D-AE19-62706E023703}">
                      <ahyp:hlinkClr xmlns:ahyp="http://schemas.microsoft.com/office/drawing/2018/hyperlinkcolor" val="tx"/>
                    </a:ext>
                  </a:extLst>
                </a:hlinkClick>
              </a:rPr>
              <a:t>Podium: Senior Software Engineer (Lehi)</a:t>
            </a:r>
            <a:endParaRPr lang="en-US" sz="1100" dirty="0"/>
          </a:p>
          <a:p>
            <a:pPr indent="0" marL="0">
              <a:buNone/>
            </a:pPr>
            <a:r>
              <a:rPr lang="en-US" sz="1100" dirty="0">
                <a:solidFill>
                  <a:schemeClr val="tx2"/>
                </a:solidFill>
              </a:rPr>
              <a:t>verified Oct 3, 2026  ·  job-boards.greenhouse.io/podium81/jobs/6637207</a:t>
            </a:r>
            <a:endParaRPr lang="en-US" sz="1100" dirty="0"/>
          </a:p>
        </p:txBody>
      </p:sp>
      <p:sp>
        <p:nvSpPr>
          <p:cNvPr id="6" name="source 2"/>
          <p:cNvSpPr txBox="1"/>
          <p:nvPr/>
        </p:nvSpPr>
        <p:spPr>
          <a:xfrm>
            <a:off x="457200" y="2487168"/>
            <a:ext cx="5486400" cy="548640"/>
          </a:xfrm>
          <a:prstGeom prst="rect">
            <a:avLst/>
          </a:prstGeom>
          <a:noFill/>
          <a:ln/>
        </p:spPr>
        <p:txBody>
          <a:bodyPr wrap="square" lIns="0" tIns="0" rIns="0" bIns="0" rtlCol="0" anchor="t"/>
          <a:lstStyle/>
          <a:p>
            <a:pPr indent="0" marL="0">
              <a:buNone/>
            </a:pPr>
            <a:r>
              <a:rPr lang="en-US" sz="1100" b="1" u="sng" dirty="0">
                <a:solidFill>
                  <a:schemeClr val="accent1"/>
                </a:solidFill>
                <a:hlinkClick r:id="rId3" invalidUrl="" action="" tgtFrame="" tooltip="" history="1" highlightClick="0" endSnd="0">
                  <a:extLst>
                    <a:ext uri="{A12FA001-AC4F-418D-AE19-62706E023703}">
                      <ahyp:hlinkClr xmlns:ahyp="http://schemas.microsoft.com/office/drawing/2018/hyperlinkcolor" val="tx"/>
                    </a:ext>
                  </a:extLst>
                </a:hlinkClick>
              </a:rPr>
              <a:t>Affirm: Senior Software Engineer</a:t>
            </a:r>
            <a:endParaRPr lang="en-US" sz="1100" dirty="0"/>
          </a:p>
          <a:p>
            <a:pPr indent="0" marL="0">
              <a:buNone/>
            </a:pPr>
            <a:r>
              <a:rPr lang="en-US" sz="1100" dirty="0">
                <a:solidFill>
                  <a:schemeClr val="tx2"/>
                </a:solidFill>
              </a:rPr>
              <a:t>remote, Poland; verified Oct 3, 2026  ·  job-boards.greenhouse.io/affirm/jobs/7806681003</a:t>
            </a:r>
            <a:endParaRPr lang="en-US" sz="1100" dirty="0"/>
          </a:p>
        </p:txBody>
      </p:sp>
      <p:sp>
        <p:nvSpPr>
          <p:cNvPr id="7" name="source 3"/>
          <p:cNvSpPr txBox="1"/>
          <p:nvPr/>
        </p:nvSpPr>
        <p:spPr>
          <a:xfrm>
            <a:off x="457200" y="3090672"/>
            <a:ext cx="5486400" cy="548640"/>
          </a:xfrm>
          <a:prstGeom prst="rect">
            <a:avLst/>
          </a:prstGeom>
          <a:noFill/>
          <a:ln/>
        </p:spPr>
        <p:txBody>
          <a:bodyPr wrap="square" lIns="0" tIns="0" rIns="0" bIns="0" rtlCol="0" anchor="t"/>
          <a:lstStyle/>
          <a:p>
            <a:pPr indent="0" marL="0">
              <a:buNone/>
            </a:pPr>
            <a:r>
              <a:rPr lang="en-US" sz="1100" b="1" u="sng" dirty="0">
                <a:solidFill>
                  <a:schemeClr val="accent1"/>
                </a:solidFill>
                <a:hlinkClick r:id="rId4" invalidUrl="" action="" tgtFrame="" tooltip="" history="1" highlightClick="0" endSnd="0">
                  <a:extLst>
                    <a:ext uri="{A12FA001-AC4F-418D-AE19-62706E023703}">
                      <ahyp:hlinkClr xmlns:ahyp="http://schemas.microsoft.com/office/drawing/2018/hyperlinkcolor" val="tx"/>
                    </a:ext>
                  </a:extLst>
                </a:hlinkClick>
              </a:rPr>
              <a:t>1Password: Rust Developer</a:t>
            </a:r>
            <a:endParaRPr lang="en-US" sz="1100" dirty="0"/>
          </a:p>
          <a:p>
            <a:pPr indent="0" marL="0">
              <a:buNone/>
            </a:pPr>
            <a:r>
              <a:rPr lang="en-US" sz="1100" dirty="0">
                <a:solidFill>
                  <a:schemeClr val="tx2"/>
                </a:solidFill>
              </a:rPr>
              <a:t>verified Oct 3, 2026  ·  jobs.ashbyhq.com/1password/c247ea98-bf31-45f0-a38b-1fe255909538</a:t>
            </a:r>
            <a:endParaRPr lang="en-US" sz="1100" dirty="0"/>
          </a:p>
        </p:txBody>
      </p:sp>
      <p:sp>
        <p:nvSpPr>
          <p:cNvPr id="8" name="source 4"/>
          <p:cNvSpPr txBox="1"/>
          <p:nvPr/>
        </p:nvSpPr>
        <p:spPr>
          <a:xfrm>
            <a:off x="457200" y="3694176"/>
            <a:ext cx="5486400" cy="548640"/>
          </a:xfrm>
          <a:prstGeom prst="rect">
            <a:avLst/>
          </a:prstGeom>
          <a:noFill/>
          <a:ln/>
        </p:spPr>
        <p:txBody>
          <a:bodyPr wrap="square" lIns="0" tIns="0" rIns="0" bIns="0" rtlCol="0" anchor="t"/>
          <a:lstStyle/>
          <a:p>
            <a:pPr indent="0" marL="0">
              <a:buNone/>
            </a:pPr>
            <a:r>
              <a:rPr lang="en-US" sz="1100" b="1" u="sng" dirty="0">
                <a:solidFill>
                  <a:schemeClr val="accent1"/>
                </a:solidFill>
                <a:hlinkClick r:id="rId5" invalidUrl="" action="" tgtFrame="" tooltip="" history="1" highlightClick="0" endSnd="0">
                  <a:extLst>
                    <a:ext uri="{A12FA001-AC4F-418D-AE19-62706E023703}">
                      <ahyp:hlinkClr xmlns:ahyp="http://schemas.microsoft.com/office/drawing/2018/hyperlinkcolor" val="tx"/>
                    </a:ext>
                  </a:extLst>
                </a:hlinkClick>
              </a:rPr>
              <a:t>Shopify memo, as quoted in Business Today</a:t>
            </a:r>
            <a:endParaRPr lang="en-US" sz="1100" dirty="0"/>
          </a:p>
          <a:p>
            <a:pPr indent="0" marL="0">
              <a:buNone/>
            </a:pPr>
            <a:r>
              <a:rPr lang="en-US" sz="1100" dirty="0">
                <a:solidFill>
                  <a:schemeClr val="tx2"/>
                </a:solidFill>
              </a:rPr>
              <a:t>Apr 2025 (secondary)  ·  businesstoday.in/technology/news/story/ai-use-is-no-longer-optional-at</a:t>
            </a:r>
            <a:endParaRPr lang="en-US" sz="1100" dirty="0"/>
          </a:p>
        </p:txBody>
      </p:sp>
      <p:sp>
        <p:nvSpPr>
          <p:cNvPr id="9" name="source 5"/>
          <p:cNvSpPr txBox="1"/>
          <p:nvPr/>
        </p:nvSpPr>
        <p:spPr>
          <a:xfrm>
            <a:off x="457200" y="4297680"/>
            <a:ext cx="5486400" cy="548640"/>
          </a:xfrm>
          <a:prstGeom prst="rect">
            <a:avLst/>
          </a:prstGeom>
          <a:noFill/>
          <a:ln/>
        </p:spPr>
        <p:txBody>
          <a:bodyPr wrap="square" lIns="0" tIns="0" rIns="0" bIns="0" rtlCol="0" anchor="t"/>
          <a:lstStyle/>
          <a:p>
            <a:pPr indent="0" marL="0">
              <a:buNone/>
            </a:pPr>
            <a:r>
              <a:rPr lang="en-US" sz="1100" b="1" u="sng" dirty="0">
                <a:solidFill>
                  <a:schemeClr val="accent1"/>
                </a:solidFill>
                <a:hlinkClick r:id="rId6" invalidUrl="" action="" tgtFrame="" tooltip="" history="1" highlightClick="0" endSnd="0">
                  <a:extLst>
                    <a:ext uri="{A12FA001-AC4F-418D-AE19-62706E023703}">
                      <ahyp:hlinkClr xmlns:ahyp="http://schemas.microsoft.com/office/drawing/2018/hyperlinkcolor" val="tx"/>
                    </a:ext>
                  </a:extLst>
                </a:hlinkClick>
              </a:rPr>
              <a:t>Stanford AI Index 2026 / Lightcast</a:t>
            </a:r>
            <a:endParaRPr lang="en-US" sz="1100" dirty="0"/>
          </a:p>
          <a:p>
            <a:pPr indent="0" marL="0">
              <a:buNone/>
            </a:pPr>
            <a:r>
              <a:rPr lang="en-US" sz="1100" dirty="0">
                <a:solidFill>
                  <a:schemeClr val="tx2"/>
                </a:solidFill>
              </a:rPr>
              <a:t>2.5% of US postings, +55%  ·  lightcast.io/resources/research/stanford-ai-index-2026</a:t>
            </a:r>
            <a:endParaRPr lang="en-US" sz="1100" dirty="0"/>
          </a:p>
        </p:txBody>
      </p:sp>
      <p:sp>
        <p:nvSpPr>
          <p:cNvPr id="10" name="source 6"/>
          <p:cNvSpPr txBox="1"/>
          <p:nvPr/>
        </p:nvSpPr>
        <p:spPr>
          <a:xfrm>
            <a:off x="457200" y="4901184"/>
            <a:ext cx="5486400" cy="548640"/>
          </a:xfrm>
          <a:prstGeom prst="rect">
            <a:avLst/>
          </a:prstGeom>
          <a:noFill/>
          <a:ln/>
        </p:spPr>
        <p:txBody>
          <a:bodyPr wrap="square" lIns="0" tIns="0" rIns="0" bIns="0" rtlCol="0" anchor="t"/>
          <a:lstStyle/>
          <a:p>
            <a:pPr indent="0" marL="0">
              <a:buNone/>
            </a:pPr>
            <a:r>
              <a:rPr lang="en-US" sz="1100" b="1" u="sng" dirty="0">
                <a:solidFill>
                  <a:schemeClr val="accent1"/>
                </a:solidFill>
                <a:hlinkClick r:id="rId7" invalidUrl="" action="" tgtFrame="" tooltip="" history="1" highlightClick="0" endSnd="0">
                  <a:extLst>
                    <a:ext uri="{A12FA001-AC4F-418D-AE19-62706E023703}">
                      <ahyp:hlinkClr xmlns:ahyp="http://schemas.microsoft.com/office/drawing/2018/hyperlinkcolor" val="tx"/>
                    </a:ext>
                  </a:extLst>
                </a:hlinkClick>
              </a:rPr>
              <a:t>match.dev, Sep 2026</a:t>
            </a:r>
            <a:endParaRPr lang="en-US" sz="1100" dirty="0"/>
          </a:p>
          <a:p>
            <a:pPr indent="0" marL="0">
              <a:buNone/>
            </a:pPr>
            <a:r>
              <a:rPr lang="en-US" sz="1100" dirty="0">
                <a:solidFill>
                  <a:schemeClr val="tx2"/>
                </a:solidFill>
              </a:rPr>
              <a:t>AI coding tools in 4,820 SWE postings (one scan)  ·  match.dev/post/ai-coding-tools-in-job-postings/data/</a:t>
            </a:r>
            <a:endParaRPr lang="en-US" sz="1100" dirty="0"/>
          </a:p>
        </p:txBody>
      </p:sp>
      <p:sp>
        <p:nvSpPr>
          <p:cNvPr id="11" name="source 7"/>
          <p:cNvSpPr txBox="1"/>
          <p:nvPr/>
        </p:nvSpPr>
        <p:spPr>
          <a:xfrm>
            <a:off x="457200" y="5504688"/>
            <a:ext cx="5486400" cy="548640"/>
          </a:xfrm>
          <a:prstGeom prst="rect">
            <a:avLst/>
          </a:prstGeom>
          <a:noFill/>
          <a:ln/>
        </p:spPr>
        <p:txBody>
          <a:bodyPr wrap="square" lIns="0" tIns="0" rIns="0" bIns="0" rtlCol="0" anchor="t"/>
          <a:lstStyle/>
          <a:p>
            <a:pPr indent="0" marL="0">
              <a:buNone/>
            </a:pPr>
            <a:r>
              <a:rPr lang="en-US" sz="1100" b="1" u="sng" dirty="0">
                <a:solidFill>
                  <a:schemeClr val="accent1"/>
                </a:solidFill>
                <a:hlinkClick r:id="rId8" invalidUrl="" action="" tgtFrame="" tooltip="" history="1" highlightClick="0" endSnd="0">
                  <a:extLst>
                    <a:ext uri="{A12FA001-AC4F-418D-AE19-62706E023703}">
                      <ahyp:hlinkClr xmlns:ahyp="http://schemas.microsoft.com/office/drawing/2018/hyperlinkcolor" val="tx"/>
                    </a:ext>
                  </a:extLst>
                </a:hlinkClick>
              </a:rPr>
              <a:t>PwC Global AI Jobs Barometer 2026</a:t>
            </a:r>
            <a:endParaRPr lang="en-US" sz="1100" dirty="0"/>
          </a:p>
          <a:p>
            <a:pPr indent="0" marL="0">
              <a:buNone/>
            </a:pPr>
            <a:r>
              <a:rPr lang="en-US" sz="1100" dirty="0">
                <a:solidFill>
                  <a:schemeClr val="tx2"/>
                </a:solidFill>
              </a:rPr>
              <a:t>62% wage premium (vendor, uncontrolled)  ·  pwc.com/gx/en/issues/artificial-intelligence/job-barometer/2026/2026-g</a:t>
            </a:r>
            <a:endParaRPr lang="en-US" sz="1100" dirty="0"/>
          </a:p>
        </p:txBody>
      </p:sp>
      <p:sp>
        <p:nvSpPr>
          <p:cNvPr id="12" name="source 8"/>
          <p:cNvSpPr txBox="1"/>
          <p:nvPr/>
        </p:nvSpPr>
        <p:spPr>
          <a:xfrm>
            <a:off x="6217920" y="1280160"/>
            <a:ext cx="5486400" cy="548640"/>
          </a:xfrm>
          <a:prstGeom prst="rect">
            <a:avLst/>
          </a:prstGeom>
          <a:noFill/>
          <a:ln/>
        </p:spPr>
        <p:txBody>
          <a:bodyPr wrap="square" lIns="0" tIns="0" rIns="0" bIns="0" rtlCol="0" anchor="t"/>
          <a:lstStyle/>
          <a:p>
            <a:pPr indent="0" marL="0">
              <a:buNone/>
            </a:pPr>
            <a:r>
              <a:rPr lang="en-US" sz="1100" b="1" u="sng" dirty="0">
                <a:solidFill>
                  <a:schemeClr val="accent1"/>
                </a:solidFill>
                <a:hlinkClick r:id="rId9" invalidUrl="" action="" tgtFrame="" tooltip="" history="1" highlightClick="0" endSnd="0">
                  <a:extLst>
                    <a:ext uri="{A12FA001-AC4F-418D-AE19-62706E023703}">
                      <ahyp:hlinkClr xmlns:ahyp="http://schemas.microsoft.com/office/drawing/2018/hyperlinkcolor" val="tx"/>
                    </a:ext>
                  </a:extLst>
                </a:hlinkClick>
              </a:rPr>
              <a:t>Lightcast, Jul 2025</a:t>
            </a:r>
            <a:endParaRPr lang="en-US" sz="1100" dirty="0"/>
          </a:p>
          <a:p>
            <a:pPr indent="0" marL="0">
              <a:buNone/>
            </a:pPr>
            <a:r>
              <a:rPr lang="en-US" sz="1100" dirty="0">
                <a:solidFill>
                  <a:schemeClr val="tx2"/>
                </a:solidFill>
              </a:rPr>
              <a:t>28% premium; 51% of AI postings outside IT (2024 data)  ·  lightcast.io/resources/blog/beyond-the-buzz-press-release-2025-07-23</a:t>
            </a:r>
            <a:endParaRPr lang="en-US" sz="1100" dirty="0"/>
          </a:p>
        </p:txBody>
      </p:sp>
      <p:sp>
        <p:nvSpPr>
          <p:cNvPr id="13" name="source 9"/>
          <p:cNvSpPr txBox="1"/>
          <p:nvPr/>
        </p:nvSpPr>
        <p:spPr>
          <a:xfrm>
            <a:off x="6217920" y="1883664"/>
            <a:ext cx="5486400" cy="548640"/>
          </a:xfrm>
          <a:prstGeom prst="rect">
            <a:avLst/>
          </a:prstGeom>
          <a:noFill/>
          <a:ln/>
        </p:spPr>
        <p:txBody>
          <a:bodyPr wrap="square" lIns="0" tIns="0" rIns="0" bIns="0" rtlCol="0" anchor="t"/>
          <a:lstStyle/>
          <a:p>
            <a:pPr indent="0" marL="0">
              <a:buNone/>
            </a:pPr>
            <a:r>
              <a:rPr lang="en-US" sz="1100" b="1" u="sng" dirty="0">
                <a:solidFill>
                  <a:schemeClr val="accent1"/>
                </a:solidFill>
                <a:hlinkClick r:id="rId10" invalidUrl="" action="" tgtFrame="" tooltip="" history="1" highlightClick="0" endSnd="0">
                  <a:extLst>
                    <a:ext uri="{A12FA001-AC4F-418D-AE19-62706E023703}">
                      <ahyp:hlinkClr xmlns:ahyp="http://schemas.microsoft.com/office/drawing/2018/hyperlinkcolor" val="tx"/>
                    </a:ext>
                  </a:extLst>
                </a:hlinkClick>
              </a:rPr>
              <a:t>Brynjolfsson, Chandar &amp; Chen, Nov 2025</a:t>
            </a:r>
            <a:endParaRPr lang="en-US" sz="1100" dirty="0"/>
          </a:p>
          <a:p>
            <a:pPr indent="0" marL="0">
              <a:buNone/>
            </a:pPr>
            <a:r>
              <a:rPr lang="en-US" sz="1100" dirty="0">
                <a:solidFill>
                  <a:schemeClr val="tx2"/>
                </a:solidFill>
              </a:rPr>
              <a:t>Canaries in the Coal Mine (payroll data)  ·  digitaleconomy.stanford.edu/app/uploads/2025/11/CanariesintheCoalMine_</a:t>
            </a:r>
            <a:endParaRPr lang="en-US" sz="1100" dirty="0"/>
          </a:p>
        </p:txBody>
      </p:sp>
      <p:sp>
        <p:nvSpPr>
          <p:cNvPr id="14" name="source 10"/>
          <p:cNvSpPr txBox="1"/>
          <p:nvPr/>
        </p:nvSpPr>
        <p:spPr>
          <a:xfrm>
            <a:off x="6217920" y="2487168"/>
            <a:ext cx="5486400" cy="548640"/>
          </a:xfrm>
          <a:prstGeom prst="rect">
            <a:avLst/>
          </a:prstGeom>
          <a:noFill/>
          <a:ln/>
        </p:spPr>
        <p:txBody>
          <a:bodyPr wrap="square" lIns="0" tIns="0" rIns="0" bIns="0" rtlCol="0" anchor="t"/>
          <a:lstStyle/>
          <a:p>
            <a:pPr indent="0" marL="0">
              <a:buNone/>
            </a:pPr>
            <a:r>
              <a:rPr lang="en-US" sz="1100" b="1" u="sng" dirty="0">
                <a:solidFill>
                  <a:schemeClr val="accent1"/>
                </a:solidFill>
                <a:hlinkClick r:id="rId11" invalidUrl="" action="" tgtFrame="" tooltip="" history="1" highlightClick="0" endSnd="0">
                  <a:extLst>
                    <a:ext uri="{A12FA001-AC4F-418D-AE19-62706E023703}">
                      <ahyp:hlinkClr xmlns:ahyp="http://schemas.microsoft.com/office/drawing/2018/hyperlinkcolor" val="tx"/>
                    </a:ext>
                  </a:extLst>
                </a:hlinkClick>
              </a:rPr>
              <a:t>Canaries dashboard</a:t>
            </a:r>
            <a:endParaRPr lang="en-US" sz="1100" dirty="0"/>
          </a:p>
          <a:p>
            <a:pPr indent="0" marL="0">
              <a:buNone/>
            </a:pPr>
            <a:r>
              <a:rPr lang="en-US" sz="1100" dirty="0">
                <a:solidFill>
                  <a:schemeClr val="tx2"/>
                </a:solidFill>
              </a:rPr>
              <a:t>gap widened to 19%, Aug 2026  ·  digitaleconomy.stanford.edu/project/indicators/canaries-dashboard/</a:t>
            </a:r>
            <a:endParaRPr lang="en-US" sz="1100" dirty="0"/>
          </a:p>
        </p:txBody>
      </p:sp>
      <p:sp>
        <p:nvSpPr>
          <p:cNvPr id="15" name="source 11"/>
          <p:cNvSpPr txBox="1"/>
          <p:nvPr/>
        </p:nvSpPr>
        <p:spPr>
          <a:xfrm>
            <a:off x="6217920" y="3090672"/>
            <a:ext cx="5486400" cy="548640"/>
          </a:xfrm>
          <a:prstGeom prst="rect">
            <a:avLst/>
          </a:prstGeom>
          <a:noFill/>
          <a:ln/>
        </p:spPr>
        <p:txBody>
          <a:bodyPr wrap="square" lIns="0" tIns="0" rIns="0" bIns="0" rtlCol="0" anchor="t"/>
          <a:lstStyle/>
          <a:p>
            <a:pPr indent="0" marL="0">
              <a:buNone/>
            </a:pPr>
            <a:r>
              <a:rPr lang="en-US" sz="1100" b="1" u="sng" dirty="0">
                <a:solidFill>
                  <a:schemeClr val="accent1"/>
                </a:solidFill>
                <a:hlinkClick r:id="rId12" invalidUrl="" action="" tgtFrame="" tooltip="" history="1" highlightClick="0" endSnd="0">
                  <a:extLst>
                    <a:ext uri="{A12FA001-AC4F-418D-AE19-62706E023703}">
                      <ahyp:hlinkClr xmlns:ahyp="http://schemas.microsoft.com/office/drawing/2018/hyperlinkcolor" val="tx"/>
                    </a:ext>
                  </a:extLst>
                </a:hlinkClick>
              </a:rPr>
              <a:t>NACE, spring 2026</a:t>
            </a:r>
            <a:endParaRPr lang="en-US" sz="1100" dirty="0"/>
          </a:p>
          <a:p>
            <a:pPr indent="0" marL="0">
              <a:buNone/>
            </a:pPr>
            <a:r>
              <a:rPr lang="en-US" sz="1100" dirty="0">
                <a:solidFill>
                  <a:schemeClr val="tx2"/>
                </a:solidFill>
              </a:rPr>
              <a:t>AI skills in entry-level jobs (185 employers)  ·  naceweb.org/job-market/trends-and-predictions/demand-for-ai-skills-in-</a:t>
            </a:r>
            <a:endParaRPr lang="en-US" sz="1100" dirty="0"/>
          </a:p>
        </p:txBody>
      </p:sp>
      <p:sp>
        <p:nvSpPr>
          <p:cNvPr id="16" name="source 12"/>
          <p:cNvSpPr txBox="1"/>
          <p:nvPr/>
        </p:nvSpPr>
        <p:spPr>
          <a:xfrm>
            <a:off x="6217920" y="3694176"/>
            <a:ext cx="5486400" cy="548640"/>
          </a:xfrm>
          <a:prstGeom prst="rect">
            <a:avLst/>
          </a:prstGeom>
          <a:noFill/>
          <a:ln/>
        </p:spPr>
        <p:txBody>
          <a:bodyPr wrap="square" lIns="0" tIns="0" rIns="0" bIns="0" rtlCol="0" anchor="t"/>
          <a:lstStyle/>
          <a:p>
            <a:pPr indent="0" marL="0">
              <a:buNone/>
            </a:pPr>
            <a:r>
              <a:rPr lang="en-US" sz="1100" b="1" u="sng" dirty="0">
                <a:solidFill>
                  <a:schemeClr val="accent1"/>
                </a:solidFill>
                <a:hlinkClick r:id="rId13" invalidUrl="" action="" tgtFrame="" tooltip="" history="1" highlightClick="0" endSnd="0">
                  <a:extLst>
                    <a:ext uri="{A12FA001-AC4F-418D-AE19-62706E023703}">
                      <ahyp:hlinkClr xmlns:ahyp="http://schemas.microsoft.com/office/drawing/2018/hyperlinkcolor" val="tx"/>
                    </a:ext>
                  </a:extLst>
                </a:hlinkClick>
              </a:rPr>
              <a:t>NACE student survey, 2026</a:t>
            </a:r>
            <a:endParaRPr lang="en-US" sz="1100" dirty="0"/>
          </a:p>
          <a:p>
            <a:pPr indent="0" marL="0">
              <a:buNone/>
            </a:pPr>
            <a:r>
              <a:rPr lang="en-US" sz="1100" dirty="0">
                <a:solidFill>
                  <a:schemeClr val="tx2"/>
                </a:solidFill>
              </a:rPr>
              <a:t>50.5% not building AI skills  ·  naceweb.org/about-us/press/2026/ready-or-reluctant-employer-expectatio</a:t>
            </a:r>
            <a:endParaRPr lang="en-US" sz="1100" dirty="0"/>
          </a:p>
        </p:txBody>
      </p:sp>
      <p:sp>
        <p:nvSpPr>
          <p:cNvPr id="17" name="source 13"/>
          <p:cNvSpPr txBox="1"/>
          <p:nvPr/>
        </p:nvSpPr>
        <p:spPr>
          <a:xfrm>
            <a:off x="6217920" y="4297680"/>
            <a:ext cx="5486400" cy="548640"/>
          </a:xfrm>
          <a:prstGeom prst="rect">
            <a:avLst/>
          </a:prstGeom>
          <a:noFill/>
          <a:ln/>
        </p:spPr>
        <p:txBody>
          <a:bodyPr wrap="square" lIns="0" tIns="0" rIns="0" bIns="0" rtlCol="0" anchor="t"/>
          <a:lstStyle/>
          <a:p>
            <a:pPr indent="0" marL="0">
              <a:buNone/>
            </a:pPr>
            <a:r>
              <a:rPr lang="en-US" sz="1100" b="1" u="sng" dirty="0">
                <a:solidFill>
                  <a:schemeClr val="accent1"/>
                </a:solidFill>
                <a:hlinkClick r:id="rId14" invalidUrl="" action="" tgtFrame="" tooltip="" history="1" highlightClick="0" endSnd="0">
                  <a:extLst>
                    <a:ext uri="{A12FA001-AC4F-418D-AE19-62706E023703}">
                      <ahyp:hlinkClr xmlns:ahyp="http://schemas.microsoft.com/office/drawing/2018/hyperlinkcolor" val="tx"/>
                    </a:ext>
                  </a:extLst>
                </a:hlinkClick>
              </a:rPr>
              <a:t>Kent Beck, Apr 2023</a:t>
            </a:r>
            <a:endParaRPr lang="en-US" sz="1100" dirty="0"/>
          </a:p>
          <a:p>
            <a:pPr indent="0" marL="0">
              <a:buNone/>
            </a:pPr>
            <a:r>
              <a:rPr lang="en-US" sz="1100" dirty="0">
                <a:solidFill>
                  <a:schemeClr val="tx2"/>
                </a:solidFill>
              </a:rPr>
              <a:t>90% of my skills are now worth $0  ·  tidyfirst.substack.com/p/90-of-my-skills-are-now-worth-0</a:t>
            </a:r>
            <a:endParaRPr lang="en-US" sz="1100" dirty="0"/>
          </a:p>
        </p:txBody>
      </p:sp>
      <p:sp>
        <p:nvSpPr>
          <p:cNvPr id="18" name="source 14"/>
          <p:cNvSpPr txBox="1"/>
          <p:nvPr/>
        </p:nvSpPr>
        <p:spPr>
          <a:xfrm>
            <a:off x="6217920" y="4901184"/>
            <a:ext cx="5486400" cy="548640"/>
          </a:xfrm>
          <a:prstGeom prst="rect">
            <a:avLst/>
          </a:prstGeom>
          <a:noFill/>
          <a:ln/>
        </p:spPr>
        <p:txBody>
          <a:bodyPr wrap="square" lIns="0" tIns="0" rIns="0" bIns="0" rtlCol="0" anchor="t"/>
          <a:lstStyle/>
          <a:p>
            <a:pPr indent="0" marL="0">
              <a:buNone/>
            </a:pPr>
            <a:r>
              <a:rPr lang="en-US" sz="1100" b="1" u="sng" dirty="0">
                <a:solidFill>
                  <a:schemeClr val="accent1"/>
                </a:solidFill>
                <a:hlinkClick r:id="rId15" invalidUrl="" action="" tgtFrame="" tooltip="" history="1" highlightClick="0" endSnd="0">
                  <a:extLst>
                    <a:ext uri="{A12FA001-AC4F-418D-AE19-62706E023703}">
                      <ahyp:hlinkClr xmlns:ahyp="http://schemas.microsoft.com/office/drawing/2018/hyperlinkcolor" val="tx"/>
                    </a:ext>
                  </a:extLst>
                </a:hlinkClick>
              </a:rPr>
              <a:t>The Hive: verbatim transcript and research report</a:t>
            </a:r>
            <a:endParaRPr lang="en-US" sz="1100" dirty="0"/>
          </a:p>
          <a:p>
            <a:pPr indent="0" marL="0">
              <a:buNone/>
            </a:pPr>
            <a:r>
              <a:rPr lang="en-US" sz="1100" dirty="0">
                <a:solidFill>
                  <a:schemeClr val="tx2"/>
                </a:solidFill>
              </a:rPr>
              <a:t>every prompt, every number, with its caveats  ·  github.com/The-Hive-3747/Teaching-AI-Coding</a:t>
            </a:r>
            <a:endParaRPr lang="en-US" sz="1100" dirty="0"/>
          </a:p>
        </p:txBody>
      </p:sp>
      <p:sp>
        <p:nvSpPr>
          <p:cNvPr id="25" name="Slide Number Placeholder 0"/>
          <p:cNvSpPr>
            <a:spLocks noGrp="1"/>
          </p:cNvSpPr>
          <p:nvPr>
            <p:ph type="sldNum" sz="quarter" idx="4294967295"/>
          </p:nvPr>
        </p:nvSpPr>
        <p:spPr>
          <a:xfrm>
            <a:off x="11247120" y="6263640"/>
            <a:ext cx="548640" cy="39319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24</a:t>
            </a:fld>
            <a:endParaRPr lang="en-US"/>
          </a:p>
        </p:txBody>
      </p:sp>
    </p:spTree>
  </p:cSld>
  <p:clrMapOvr>
    <a:masterClrMapping/>
  </p:clrMapOvr>
</p:sld>
</file>

<file path=ppt/theme/theme1.xml><?xml version="1.0" encoding="utf-8"?>
<a:theme xmlns:a="http://schemas.openxmlformats.org/drawingml/2006/main" name="The Hive">
  <a:themeElements>
    <a:clrScheme name="The Hive">
      <a:dk1>
        <a:srgbClr val="FFFFFF"/>
      </a:dk1>
      <a:lt1>
        <a:srgbClr val="000000"/>
      </a:lt1>
      <a:dk2>
        <a:srgbClr val="C8C8C8"/>
      </a:dk2>
      <a:lt2>
        <a:srgbClr val="161616"/>
      </a:lt2>
      <a:accent1>
        <a:srgbClr val="F9BE14"/>
      </a:accent1>
      <a:accent2>
        <a:srgbClr val="FFD75E"/>
      </a:accent2>
      <a:accent3>
        <a:srgbClr val="3DDC84"/>
      </a:accent3>
      <a:accent4>
        <a:srgbClr val="FF5C5C"/>
      </a:accent4>
      <a:accent5>
        <a:srgbClr val="8AB4F8"/>
      </a:accent5>
      <a:accent6>
        <a:srgbClr val="9E9E9E"/>
      </a:accent6>
      <a:hlink>
        <a:srgbClr val="F9BE14"/>
      </a:hlink>
      <a:folHlink>
        <a:srgbClr val="C8C8C8"/>
      </a:folHlink>
    </a:clrScheme>
    <a:fontScheme name="The Hiv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Describe your robot. Let AI write the code. Test. Repeat.</dc:title>
  <dc:subject>PptxGenJS Presentation</dc:subject>
  <dc:creator>The Hive, FTC 3747</dc:creator>
  <cp:lastModifiedBy>The Hive, FTC 3747</cp:lastModifiedBy>
  <cp:revision>1</cp:revision>
  <dcterms:created xsi:type="dcterms:W3CDTF">2026-10-13T05:58:47Z</dcterms:created>
  <dcterms:modified xsi:type="dcterms:W3CDTF">2026-10-13T05:58:47Z</dcterms:modified>
</cp:coreProperties>
</file>