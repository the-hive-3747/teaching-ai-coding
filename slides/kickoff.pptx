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'AI replaces the programmer' — it doesn't; it moves them up. The programmer does the prep that makes the mechanical teammate's English land: the description, the architecture, the process. Then they review every change for drift — the two real examples are on the slide, both from the mentor robot, both verbatim in the transcript: the autonomous that drove the intake through a simulated gamepad because nobody said an autonomous was coming, and the D-pad that was doing slow mode and flywheel tuning at once ('I thought gamepad 1 dpad was slow mode, not tuning the flywheel'). What the programmer gets back is the big picture: on our robot, adding one autonomous state was 10–20 minutes of copying boilerplate. That time becomes 'what do I want vision to do,' not 'how do I parse the Limelight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and the left column is our real week. Four days of coding, three of us who could code the robot, and we were siloed: Tom wrote TeleOp, Sophi wrote autonomous. The bug: an autonomous borrowed from the FtcRobotController samples only powered two wheels, and the other two were set to brake at zero power — so the robot crawled. Tom saw it in testing the morning of the competition, then had to read Sophi's code cold, without knowing what she had done, to find why. Say the thing we'd do differently: AI could have given Tom a summary of the autonomous and he could have questioned it to find the bug. The grunt work: adding one state to the autonomous meant copying the same surrounding code again — 10 to 20 minutes for a new programmer, every time. Our process: the programmer works while a mechanical teammate waits, then sets up the robot and both watch the test; mechanical problems get fixed if quick or go on the to-do list; often it's one programmer doing all of it and kludging around mechanical problems in code. The honest comparison is not 'AI was faster': it's where the bottleneck was. On our robot every change went through whoever could type Java. On the mentor robot the bottleneck moved to describing precisely — and that's a skill the mechanical people already had. The right column is from the mentor transcript: the Sep 17 session was 25 minutes and 5 prompts, then the 18th and the 19th.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programmer doesn't go away. The job changes.</a:t>
            </a:r>
            <a:endParaRPr lang="en-US" sz="3200" dirty="0"/>
          </a:p>
        </p:txBody>
      </p:sp>
      <p:sp>
        <p:nvSpPr>
          <p:cNvPr id="4" name="before card"/>
          <p:cNvSpPr/>
          <p:nvPr/>
        </p:nvSpPr>
        <p:spPr>
          <a:xfrm>
            <a:off x="457200" y="1325880"/>
            <a:ext cx="5486400" cy="3566160"/>
          </a:xfrm>
          <a:prstGeom prst="roundRect">
            <a:avLst>
              <a:gd name="adj" fmla="val 3077"/>
            </a:avLst>
          </a:prstGeom>
          <a:solidFill>
            <a:schemeClr val="bg2"/>
          </a:solidFill>
          <a:ln w="12700">
            <a:solidFill>
              <a:schemeClr val="bg2"/>
            </a:solidFill>
            <a:prstDash val="solid"/>
          </a:ln>
        </p:spPr>
      </p:sp>
      <p:sp>
        <p:nvSpPr>
          <p:cNvPr id="5" name="before head"/>
          <p:cNvSpPr txBox="1"/>
          <p:nvPr/>
        </p:nvSpPr>
        <p:spPr>
          <a:xfrm>
            <a:off x="731520"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Before anyone else touches it</a:t>
            </a:r>
            <a:endParaRPr lang="en-US" sz="2000" dirty="0"/>
          </a:p>
        </p:txBody>
      </p:sp>
      <p:sp>
        <p:nvSpPr>
          <p:cNvPr id="6" name="before text"/>
          <p:cNvSpPr txBox="1"/>
          <p:nvPr/>
        </p:nvSpPr>
        <p:spPr>
          <a:xfrm>
            <a:off x="731520"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Describe</a:t>
            </a:r>
            <a:pPr indent="0" marL="0">
              <a:spcAft>
                <a:spcPts val="1000"/>
              </a:spcAft>
              <a:buNone/>
            </a:pPr>
            <a:r>
              <a:rPr lang="en-US" sz="1600" dirty="0">
                <a:solidFill>
                  <a:schemeClr val="tx1"/>
                </a:solidFill>
              </a:rPr>
              <a:t> the robot — every motor and servo, name, port, direction.</a:t>
            </a:r>
            <a:endParaRPr lang="en-US" sz="1600" dirty="0"/>
          </a:p>
          <a:p>
            <a:pPr indent="0" marL="0">
              <a:buNone/>
            </a:pPr>
            <a:r>
              <a:rPr lang="en-US" sz="1600" b="1" dirty="0">
                <a:solidFill>
                  <a:schemeClr val="tx1"/>
                </a:solidFill>
              </a:rPr>
              <a:t>Architect</a:t>
            </a:r>
            <a:pPr indent="0" marL="0">
              <a:spcAft>
                <a:spcPts val="1000"/>
              </a:spcAft>
              <a:buNone/>
            </a:pPr>
            <a:r>
              <a:rPr lang="en-US" sz="1600" dirty="0">
                <a:solidFill>
                  <a:schemeClr val="tx1"/>
                </a:solidFill>
              </a:rPr>
              <a:t> it — subsystems, state machines, what the autonomous will need later.</a:t>
            </a:r>
            <a:endParaRPr lang="en-US" sz="1600" dirty="0"/>
          </a:p>
          <a:p>
            <a:pPr indent="0" marL="0">
              <a:buNone/>
            </a:pPr>
            <a:r>
              <a:rPr lang="en-US" sz="1600" b="1" dirty="0">
                <a:solidFill>
                  <a:schemeClr val="tx1"/>
                </a:solidFill>
              </a:rPr>
              <a:t>Set the process</a:t>
            </a:r>
            <a:pPr indent="0" marL="0">
              <a:spcAft>
                <a:spcPts val="1400"/>
              </a:spcAft>
              <a:buNone/>
            </a:pPr>
            <a:r>
              <a:rPr lang="en-US" sz="1600" dirty="0">
                <a:solidFill>
                  <a:schemeClr val="tx1"/>
                </a:solidFill>
              </a:rPr>
              <a:t> — one change per prompt, test, commit.</a:t>
            </a:r>
            <a:endParaRPr lang="en-US" sz="1600" dirty="0"/>
          </a:p>
          <a:p>
            <a:pPr indent="0" marL="0">
              <a:buNone/>
            </a:pPr>
            <a:r>
              <a:rPr lang="en-US" sz="1600" dirty="0">
                <a:solidFill>
                  <a:schemeClr val="tx2"/>
                </a:solidFill>
              </a:rPr>
              <a:t>That groundwork is what lets a mechanical teammate make a change in English and have it land in the right place.</a:t>
            </a:r>
            <a:endParaRPr lang="en-US" sz="1600" dirty="0"/>
          </a:p>
        </p:txBody>
      </p:sp>
      <p:sp>
        <p:nvSpPr>
          <p:cNvPr id="7" name="after card"/>
          <p:cNvSpPr/>
          <p:nvPr/>
        </p:nvSpPr>
        <p:spPr>
          <a:xfrm>
            <a:off x="6245352" y="1325880"/>
            <a:ext cx="5486400" cy="3566160"/>
          </a:xfrm>
          <a:prstGeom prst="roundRect">
            <a:avLst>
              <a:gd name="adj" fmla="val 3077"/>
            </a:avLst>
          </a:prstGeom>
          <a:solidFill>
            <a:schemeClr val="bg2"/>
          </a:solidFill>
          <a:ln w="12700">
            <a:solidFill>
              <a:schemeClr val="bg2"/>
            </a:solidFill>
            <a:prstDash val="solid"/>
          </a:ln>
        </p:spPr>
      </p:sp>
      <p:sp>
        <p:nvSpPr>
          <p:cNvPr id="8" name="after head"/>
          <p:cNvSpPr txBox="1"/>
          <p:nvPr/>
        </p:nvSpPr>
        <p:spPr>
          <a:xfrm>
            <a:off x="6519672"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After every change</a:t>
            </a:r>
            <a:endParaRPr lang="en-US" sz="2000" dirty="0"/>
          </a:p>
        </p:txBody>
      </p:sp>
      <p:sp>
        <p:nvSpPr>
          <p:cNvPr id="9" name="after text"/>
          <p:cNvSpPr txBox="1"/>
          <p:nvPr/>
        </p:nvSpPr>
        <p:spPr>
          <a:xfrm>
            <a:off x="6519672"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Review</a:t>
            </a:r>
            <a:pPr indent="0" marL="0">
              <a:spcAft>
                <a:spcPts val="1400"/>
              </a:spcAft>
              <a:buNone/>
            </a:pPr>
            <a:r>
              <a:rPr lang="en-US" sz="1600" dirty="0">
                <a:solidFill>
                  <a:schemeClr val="tx1"/>
                </a:solidFill>
              </a:rPr>
              <a:t> what the AI did — and catch drift.</a:t>
            </a:r>
            <a:endParaRPr lang="en-US" sz="1600" dirty="0"/>
          </a:p>
          <a:p>
            <a:pPr indent="0" marL="0">
              <a:spcAft>
                <a:spcPts val="1400"/>
              </a:spcAft>
              <a:buNone/>
            </a:pPr>
            <a:r>
              <a:rPr lang="en-US" sz="1600" dirty="0">
                <a:solidFill>
                  <a:schemeClr val="tx2"/>
                </a:solidFill>
              </a:rPr>
              <a:t>On the mentor robot: the autonomous that drove the intake through a fake gamepad. The D-pad that ended up doing two things — slow mode and flywheel tuning — instead of one.</a:t>
            </a:r>
            <a:endParaRPr lang="en-US" sz="1600" dirty="0"/>
          </a:p>
          <a:p>
            <a:pPr indent="0" marL="0">
              <a:buNone/>
            </a:pPr>
            <a:r>
              <a:rPr lang="en-US" sz="1600" dirty="0">
                <a:solidFill>
                  <a:schemeClr val="tx2"/>
                </a:solidFill>
              </a:rPr>
              <a:t>Both worked. Both were wrong. Only a programmer reading the code saw it.</a:t>
            </a:r>
            <a:endParaRPr lang="en-US" sz="1600" dirty="0"/>
          </a:p>
        </p:txBody>
      </p:sp>
      <p:sp>
        <p:nvSpPr>
          <p:cNvPr id="10" name="takeaway"/>
          <p:cNvSpPr txBox="1"/>
          <p:nvPr/>
        </p:nvSpPr>
        <p:spPr>
          <a:xfrm>
            <a:off x="457200" y="5120640"/>
            <a:ext cx="11247120" cy="822960"/>
          </a:xfrm>
          <a:prstGeom prst="rect">
            <a:avLst/>
          </a:prstGeom>
          <a:noFill/>
          <a:ln/>
        </p:spPr>
        <p:txBody>
          <a:bodyPr wrap="square" lIns="0" tIns="0" rIns="0" bIns="0" rtlCol="0" anchor="t"/>
          <a:lstStyle/>
          <a:p>
            <a:pPr indent="0" marL="0">
              <a:buNone/>
            </a:pPr>
            <a:r>
              <a:rPr lang="en-US" sz="1800" b="1" dirty="0">
                <a:solidFill>
                  <a:schemeClr val="accent1"/>
                </a:solidFill>
              </a:rPr>
              <a:t>The programmer gets the big picture back: “What do I want vision to do?” instead of “How do I parse the Limelight result?”</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 (25 minutes, 5 prompts)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two days and an evening.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3 of us could code it: Tom, Sophi, Sadiqah. Siloed — Tom wrote TeleOp, Sophi wrote autonomous</a:t>
            </a:r>
            <a:endParaRPr lang="en-US" sz="115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2 people wrote prompts — one writes Java, one doesn't</a:t>
            </a:r>
            <a:endParaRPr lang="en-US" sz="115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4 days of coding</a:t>
            </a:r>
            <a:endParaRPr lang="en-US" sz="115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67 prompts over two days and an evening; working TeleOp the first night</a:t>
            </a:r>
            <a:endParaRPr lang="en-US" sz="115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A borrowed sample autonomous only powered two wheels — the other two were braking. Tom saw the robot crawl in morning testing, then had to read Sophi's code cold to find why</a:t>
            </a:r>
            <a:endParaRPr lang="en-US" sz="115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Mechanical mentor fixed strafe, flywheel bump and controls — in English, no Java</a:t>
            </a:r>
            <a:endParaRPr lang="en-US" sz="115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Programmer codes while the mechanical teammate waits; often one programmer does it all and kludges around mechanical problems. One new autonomous state: 10–20 minutes of boilerplate</a:t>
            </a:r>
            <a:endParaRPr lang="en-US" sz="115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Firewheel transfer servos came out Sep 18 (reported 7:50 PM); code reworked that night by describing the new design</a:t>
            </a:r>
            <a:endParaRPr lang="en-US" sz="115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Each of us understood our own file. Nobody could summarize the other's</a:t>
            </a:r>
            <a:endParaRPr lang="en-US" sz="115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Someone still has to read what Gemini wrote — the Reader role</a:t>
            </a:r>
            <a:endParaRPr lang="en-US" sz="115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7"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Tom, Sophi and Sadiqah — The Hive's programmers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Drafted the guide, deck, scripts and research from the real transcript; every claim refuter-checked against sources.</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This workshop was made the way it teaches: described, generated, tested, refined — with the prompts kept.</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2026-10-03T18:22:15Z</dcterms:created>
  <dcterms:modified xsi:type="dcterms:W3CDTF">2026-10-03T18:22:15Z</dcterms:modified>
</cp:coreProperties>
</file>